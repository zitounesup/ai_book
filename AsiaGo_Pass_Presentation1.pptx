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68" r:id="rId3"/>
    <p:sldId id="270" r:id="rId4"/>
    <p:sldId id="257" r:id="rId5"/>
    <p:sldId id="272" r:id="rId6"/>
    <p:sldId id="266" r:id="rId7"/>
    <p:sldId id="269" r:id="rId8"/>
    <p:sldId id="278" r:id="rId9"/>
    <p:sldId id="274" r:id="rId10"/>
    <p:sldId id="275" r:id="rId11"/>
    <p:sldId id="258" r:id="rId12"/>
    <p:sldId id="273" r:id="rId13"/>
    <p:sldId id="276" r:id="rId14"/>
    <p:sldId id="261" r:id="rId15"/>
    <p:sldId id="263" r:id="rId16"/>
    <p:sldId id="262" r:id="rId17"/>
    <p:sldId id="260" r:id="rId18"/>
    <p:sldId id="265" r:id="rId19"/>
    <p:sldId id="259" r:id="rId20"/>
    <p:sldId id="277" r:id="rId21"/>
    <p:sldId id="267"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29"/>
    <p:restoredTop sz="94610"/>
  </p:normalViewPr>
  <p:slideViewPr>
    <p:cSldViewPr snapToGrid="0" snapToObjects="1">
      <p:cViewPr varScale="1">
        <p:scale>
          <a:sx n="102" d="100"/>
          <a:sy n="102" d="100"/>
        </p:scale>
        <p:origin x="216" y="33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567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23.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7.jpg"/><Relationship Id="rId7" Type="http://schemas.openxmlformats.org/officeDocument/2006/relationships/image" Target="../media/image41.jpg"/><Relationship Id="rId12"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4.jpg"/><Relationship Id="rId5" Type="http://schemas.openxmlformats.org/officeDocument/2006/relationships/image" Target="../media/image39.jpg"/><Relationship Id="rId10" Type="http://schemas.openxmlformats.org/officeDocument/2006/relationships/image" Target="../media/image43.png"/><Relationship Id="rId4" Type="http://schemas.openxmlformats.org/officeDocument/2006/relationships/image" Target="../media/image38.png"/><Relationship Id="rId9" Type="http://schemas.openxmlformats.org/officeDocument/2006/relationships/image" Target="../media/image42.jp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46.jp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47.png"/><Relationship Id="rId4" Type="http://schemas.openxmlformats.org/officeDocument/2006/relationships/image" Target="../media/image21.pn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8.jpg"/></Relationships>
</file>

<file path=ppt/slides/_rels/slide1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0.jp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6"/>
        </a:solidFill>
        <a:effectLst/>
      </p:bgPr>
    </p:bg>
    <p:spTree>
      <p:nvGrpSpPr>
        <p:cNvPr id="1" name=""/>
        <p:cNvGrpSpPr/>
        <p:nvPr/>
      </p:nvGrpSpPr>
      <p:grpSpPr>
        <a:xfrm>
          <a:off x="0" y="0"/>
          <a:ext cx="0" cy="0"/>
          <a:chOff x="0" y="0"/>
          <a:chExt cx="0" cy="0"/>
        </a:xfrm>
      </p:grpSpPr>
      <p:pic>
        <p:nvPicPr>
          <p:cNvPr id="2" name="Image 0" descr="/home/claude/deck/img/cover.jpg"/>
          <p:cNvPicPr>
            <a:picLocks noChangeAspect="1"/>
          </p:cNvPicPr>
          <p:nvPr/>
        </p:nvPicPr>
        <p:blipFill>
          <a:blip r:embed="rId3"/>
          <a:srcRect/>
          <a:stretch/>
        </p:blipFill>
        <p:spPr>
          <a:xfrm>
            <a:off x="0" y="150312"/>
            <a:ext cx="12191695" cy="6858000"/>
          </a:xfrm>
          <a:prstGeom prst="rect">
            <a:avLst/>
          </a:prstGeom>
        </p:spPr>
      </p:pic>
      <p:sp>
        <p:nvSpPr>
          <p:cNvPr id="3" name="Text 0"/>
          <p:cNvSpPr/>
          <p:nvPr/>
        </p:nvSpPr>
        <p:spPr>
          <a:xfrm>
            <a:off x="822960" y="960120"/>
            <a:ext cx="54864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PARTNER PRESENTATION</a:t>
            </a:r>
            <a:endParaRPr lang="en-US" sz="1150" dirty="0"/>
          </a:p>
        </p:txBody>
      </p:sp>
      <p:sp>
        <p:nvSpPr>
          <p:cNvPr id="4" name="Shape 1"/>
          <p:cNvSpPr/>
          <p:nvPr/>
        </p:nvSpPr>
        <p:spPr>
          <a:xfrm>
            <a:off x="841248" y="1325880"/>
            <a:ext cx="822960" cy="0"/>
          </a:xfrm>
          <a:prstGeom prst="line">
            <a:avLst/>
          </a:prstGeom>
          <a:noFill/>
          <a:ln w="19050">
            <a:solidFill>
              <a:srgbClr val="C8A24A"/>
            </a:solidFill>
            <a:prstDash val="solid"/>
          </a:ln>
        </p:spPr>
        <p:txBody>
          <a:bodyPr/>
          <a:lstStyle/>
          <a:p>
            <a:endParaRPr lang="en-SG"/>
          </a:p>
        </p:txBody>
      </p:sp>
      <p:sp>
        <p:nvSpPr>
          <p:cNvPr id="5" name="Text 2"/>
          <p:cNvSpPr/>
          <p:nvPr/>
        </p:nvSpPr>
        <p:spPr>
          <a:xfrm>
            <a:off x="463462" y="1868073"/>
            <a:ext cx="9503497" cy="2127728"/>
          </a:xfrm>
          <a:prstGeom prst="rect">
            <a:avLst/>
          </a:prstGeom>
          <a:noFill/>
          <a:ln/>
        </p:spPr>
        <p:txBody>
          <a:bodyPr wrap="square" lIns="0" tIns="0" rIns="0" bIns="0" rtlCol="0" anchor="ctr"/>
          <a:lstStyle/>
          <a:p>
            <a:pPr marL="0" indent="0">
              <a:buNone/>
            </a:pPr>
            <a:r>
              <a:rPr lang="th-TH" sz="9600" b="1" dirty="0" err="1">
                <a:solidFill>
                  <a:srgbClr val="F2EEE6"/>
                </a:solidFill>
                <a:latin typeface="Georgia" pitchFamily="34" charset="0"/>
                <a:ea typeface="Georgia" pitchFamily="34" charset="-122"/>
                <a:cs typeface="Georgia" pitchFamily="34" charset="-120"/>
              </a:rPr>
              <a:t>AsiaGO</a:t>
            </a:r>
            <a:r>
              <a:rPr lang="th-TH" sz="9600" b="1" dirty="0">
                <a:solidFill>
                  <a:srgbClr val="F2EEE6"/>
                </a:solidFill>
                <a:latin typeface="Georgia" pitchFamily="34" charset="0"/>
                <a:ea typeface="Georgia" pitchFamily="34" charset="-122"/>
                <a:cs typeface="Georgia" pitchFamily="34" charset="-120"/>
              </a:rPr>
              <a:t> </a:t>
            </a:r>
            <a:r>
              <a:rPr lang="th-TH" sz="9600" b="1" dirty="0" err="1">
                <a:solidFill>
                  <a:srgbClr val="F2EEE6"/>
                </a:solidFill>
                <a:latin typeface="Georgia" pitchFamily="34" charset="0"/>
                <a:ea typeface="Georgia" pitchFamily="34" charset="-122"/>
                <a:cs typeface="Georgia" pitchFamily="34" charset="-120"/>
              </a:rPr>
              <a:t>Pass</a:t>
            </a:r>
            <a:r>
              <a:rPr lang="en-US" sz="9600" b="1" dirty="0">
                <a:solidFill>
                  <a:srgbClr val="F2EEE6"/>
                </a:solidFill>
                <a:latin typeface="Georgia" pitchFamily="34" charset="0"/>
                <a:ea typeface="Georgia" pitchFamily="34" charset="-122"/>
                <a:cs typeface="Georgia" pitchFamily="34" charset="-120"/>
              </a:rPr>
              <a:t>!</a:t>
            </a:r>
            <a:endParaRPr lang="en-US" sz="9600" dirty="0"/>
          </a:p>
        </p:txBody>
      </p:sp>
      <p:sp>
        <p:nvSpPr>
          <p:cNvPr id="6" name="Text 3"/>
          <p:cNvSpPr/>
          <p:nvPr/>
        </p:nvSpPr>
        <p:spPr>
          <a:xfrm>
            <a:off x="822960" y="4872624"/>
            <a:ext cx="9144000" cy="110855"/>
          </a:xfrm>
          <a:prstGeom prst="rect">
            <a:avLst/>
          </a:prstGeom>
          <a:noFill/>
          <a:ln/>
        </p:spPr>
        <p:txBody>
          <a:bodyPr wrap="square" lIns="0" tIns="0" rIns="0" bIns="0" rtlCol="0" anchor="ctr"/>
          <a:lstStyle/>
          <a:p>
            <a:pPr marL="0" indent="0">
              <a:buNone/>
            </a:pPr>
            <a:r>
              <a:rPr lang="en-US" sz="3000" i="1" dirty="0">
                <a:solidFill>
                  <a:srgbClr val="E6CE8F"/>
                </a:solidFill>
                <a:latin typeface="Georgia" pitchFamily="34" charset="0"/>
                <a:ea typeface="Georgia" pitchFamily="34" charset="-122"/>
                <a:cs typeface="Georgia" pitchFamily="34" charset="-120"/>
              </a:rPr>
              <a:t>Taste the City. Live the Story.</a:t>
            </a:r>
            <a:endParaRPr lang="en-US" sz="3000" dirty="0"/>
          </a:p>
        </p:txBody>
      </p:sp>
      <p:sp>
        <p:nvSpPr>
          <p:cNvPr id="7" name="Text 4"/>
          <p:cNvSpPr/>
          <p:nvPr/>
        </p:nvSpPr>
        <p:spPr>
          <a:xfrm>
            <a:off x="841248" y="5235878"/>
            <a:ext cx="7863840" cy="296241"/>
          </a:xfrm>
          <a:prstGeom prst="rect">
            <a:avLst/>
          </a:prstGeom>
          <a:noFill/>
          <a:ln/>
        </p:spPr>
        <p:txBody>
          <a:bodyPr wrap="square" lIns="0" tIns="0" rIns="0" bIns="0" rtlCol="0" anchor="ctr"/>
          <a:lstStyle/>
          <a:p>
            <a:pPr marL="0" indent="0">
              <a:buNone/>
            </a:pPr>
            <a:r>
              <a:rPr lang="en-US" sz="1600" dirty="0">
                <a:solidFill>
                  <a:srgbClr val="F2EEE6"/>
                </a:solidFill>
                <a:latin typeface="Calibri" pitchFamily="34" charset="0"/>
                <a:ea typeface="Calibri" pitchFamily="34" charset="-122"/>
                <a:cs typeface="Calibri" pitchFamily="34" charset="-120"/>
              </a:rPr>
              <a:t>Connecting discerning travellers with Singapore's dining experiences.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21316"/>
        </a:solidFill>
        <a:effectLst/>
      </p:bgPr>
    </p:bg>
    <p:spTree>
      <p:nvGrpSpPr>
        <p:cNvPr id="1" name=""/>
        <p:cNvGrpSpPr/>
        <p:nvPr/>
      </p:nvGrpSpPr>
      <p:grpSpPr>
        <a:xfrm>
          <a:off x="0" y="0"/>
          <a:ext cx="0" cy="0"/>
          <a:chOff x="0" y="0"/>
          <a:chExt cx="0" cy="0"/>
        </a:xfrm>
      </p:grpSpPr>
      <p:sp>
        <p:nvSpPr>
          <p:cNvPr id="2" name="Shape 0"/>
          <p:cNvSpPr/>
          <p:nvPr/>
        </p:nvSpPr>
        <p:spPr>
          <a:xfrm>
            <a:off x="9692640" y="-1371600"/>
            <a:ext cx="3840480" cy="3840480"/>
          </a:xfrm>
          <a:prstGeom prst="ellipse">
            <a:avLst/>
          </a:prstGeom>
          <a:solidFill>
            <a:srgbClr val="1A1D22"/>
          </a:solidFill>
          <a:ln/>
        </p:spPr>
        <p:txBody>
          <a:bodyPr/>
          <a:lstStyle/>
          <a:p>
            <a:endParaRPr lang="en-US"/>
          </a:p>
        </p:txBody>
      </p:sp>
      <p:sp>
        <p:nvSpPr>
          <p:cNvPr id="3" name="Shape 1"/>
          <p:cNvSpPr/>
          <p:nvPr/>
        </p:nvSpPr>
        <p:spPr>
          <a:xfrm>
            <a:off x="10561320" y="777240"/>
            <a:ext cx="914400" cy="914400"/>
          </a:xfrm>
          <a:prstGeom prst="ellipse">
            <a:avLst/>
          </a:prstGeom>
          <a:solidFill>
            <a:srgbClr val="23272E"/>
          </a:solidFill>
          <a:ln w="15875">
            <a:solidFill>
              <a:srgbClr val="C8A24A"/>
            </a:solidFill>
            <a:prstDash val="solid"/>
          </a:ln>
        </p:spPr>
        <p:txBody>
          <a:bodyPr/>
          <a:lstStyle/>
          <a:p>
            <a:endParaRPr lang="en-US"/>
          </a:p>
        </p:txBody>
      </p:sp>
      <p:pic>
        <p:nvPicPr>
          <p:cNvPr id="4" name="Image 0" descr="preencoded.png"/>
          <p:cNvPicPr>
            <a:picLocks noChangeAspect="1"/>
          </p:cNvPicPr>
          <p:nvPr/>
        </p:nvPicPr>
        <p:blipFill>
          <a:blip r:embed="rId2"/>
          <a:stretch>
            <a:fillRect/>
          </a:stretch>
        </p:blipFill>
        <p:spPr>
          <a:xfrm>
            <a:off x="10817352" y="1033272"/>
            <a:ext cx="402336" cy="402336"/>
          </a:xfrm>
          <a:prstGeom prst="rect">
            <a:avLst/>
          </a:prstGeom>
        </p:spPr>
      </p:pic>
      <p:sp>
        <p:nvSpPr>
          <p:cNvPr id="5" name="Text 2"/>
          <p:cNvSpPr/>
          <p:nvPr/>
        </p:nvSpPr>
        <p:spPr>
          <a:xfrm>
            <a:off x="822960" y="868680"/>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INVESTOR &amp; PRODUCT OVERVIEW</a:t>
            </a:r>
            <a:endParaRPr lang="en-US" sz="1150" dirty="0"/>
          </a:p>
        </p:txBody>
      </p:sp>
      <p:sp>
        <p:nvSpPr>
          <p:cNvPr id="6" name="Text 3"/>
          <p:cNvSpPr/>
          <p:nvPr/>
        </p:nvSpPr>
        <p:spPr>
          <a:xfrm>
            <a:off x="777240" y="1828800"/>
            <a:ext cx="8686800" cy="1737360"/>
          </a:xfrm>
          <a:prstGeom prst="rect">
            <a:avLst/>
          </a:prstGeom>
          <a:noFill/>
          <a:ln/>
        </p:spPr>
        <p:txBody>
          <a:bodyPr wrap="square" lIns="0" tIns="0" rIns="0" bIns="0" rtlCol="0" anchor="ctr"/>
          <a:lstStyle/>
          <a:p>
            <a:pPr marL="0" indent="0">
              <a:lnSpc>
                <a:spcPct val="104000"/>
              </a:lnSpc>
              <a:buNone/>
            </a:pPr>
            <a:r>
              <a:rPr lang="en-US" sz="4600" b="1" dirty="0">
                <a:solidFill>
                  <a:srgbClr val="F2EEE6"/>
                </a:solidFill>
                <a:latin typeface="Georgia" pitchFamily="34" charset="0"/>
                <a:ea typeface="Georgia" pitchFamily="34" charset="-122"/>
                <a:cs typeface="Georgia" pitchFamily="34" charset="-120"/>
              </a:rPr>
              <a:t>Singapore's Smart Travel</a:t>
            </a:r>
            <a:endParaRPr lang="en-US" sz="4600" dirty="0"/>
          </a:p>
          <a:p>
            <a:pPr marL="0" indent="0">
              <a:lnSpc>
                <a:spcPct val="104000"/>
              </a:lnSpc>
              <a:buNone/>
            </a:pPr>
            <a:r>
              <a:rPr lang="en-US" sz="4600" b="1" dirty="0">
                <a:solidFill>
                  <a:srgbClr val="F2EEE6"/>
                </a:solidFill>
                <a:latin typeface="Georgia" pitchFamily="34" charset="0"/>
                <a:ea typeface="Georgia" pitchFamily="34" charset="-122"/>
                <a:cs typeface="Georgia" pitchFamily="34" charset="-120"/>
              </a:rPr>
              <a:t>&amp; Lifestyle Pass</a:t>
            </a:r>
            <a:endParaRPr lang="en-US" sz="4600" dirty="0"/>
          </a:p>
        </p:txBody>
      </p:sp>
      <p:sp>
        <p:nvSpPr>
          <p:cNvPr id="7" name="Text 4"/>
          <p:cNvSpPr/>
          <p:nvPr/>
        </p:nvSpPr>
        <p:spPr>
          <a:xfrm>
            <a:off x="822960" y="3794760"/>
            <a:ext cx="7863840" cy="731520"/>
          </a:xfrm>
          <a:prstGeom prst="rect">
            <a:avLst/>
          </a:prstGeom>
          <a:noFill/>
          <a:ln/>
        </p:spPr>
        <p:txBody>
          <a:bodyPr wrap="square" lIns="0" tIns="0" rIns="0" bIns="0" rtlCol="0" anchor="ctr"/>
          <a:lstStyle/>
          <a:p>
            <a:pPr marL="0" indent="0">
              <a:lnSpc>
                <a:spcPct val="110000"/>
              </a:lnSpc>
              <a:buNone/>
            </a:pPr>
            <a:r>
              <a:rPr lang="th-TH" sz="1600" dirty="0" err="1">
                <a:solidFill>
                  <a:srgbClr val="F2EEE6"/>
                </a:solidFill>
                <a:latin typeface="Calibri" pitchFamily="34" charset="0"/>
                <a:ea typeface="Calibri" pitchFamily="34" charset="-122"/>
                <a:cs typeface="Calibri" pitchFamily="34" charset="-120"/>
              </a:rPr>
              <a:t>AsiaGO</a:t>
            </a:r>
            <a:r>
              <a:rPr lang="th-TH" sz="1600" dirty="0">
                <a:solidFill>
                  <a:srgbClr val="F2EEE6"/>
                </a:solidFill>
                <a:latin typeface="Calibri" pitchFamily="34" charset="0"/>
                <a:ea typeface="Calibri" pitchFamily="34" charset="-122"/>
                <a:cs typeface="Calibri" pitchFamily="34" charset="-120"/>
              </a:rPr>
              <a:t> </a:t>
            </a:r>
            <a:r>
              <a:rPr lang="th-TH" sz="1600" dirty="0" err="1">
                <a:solidFill>
                  <a:srgbClr val="F2EEE6"/>
                </a:solidFill>
                <a:latin typeface="Calibri" pitchFamily="34" charset="0"/>
                <a:ea typeface="Calibri" pitchFamily="34" charset="-122"/>
                <a:cs typeface="Calibri" pitchFamily="34" charset="-120"/>
              </a:rPr>
              <a:t>Pass</a:t>
            </a:r>
            <a:r>
              <a:rPr lang="en-US" sz="1600" dirty="0">
                <a:solidFill>
                  <a:srgbClr val="F2EEE6"/>
                </a:solidFill>
                <a:latin typeface="Calibri" pitchFamily="34" charset="0"/>
                <a:ea typeface="Calibri" pitchFamily="34" charset="-122"/>
                <a:cs typeface="Calibri" pitchFamily="34" charset="-120"/>
              </a:rPr>
              <a:t>! is an advanced, technology-driven platform built around convenience, personalization and customer engagement.</a:t>
            </a:r>
            <a:endParaRPr lang="en-US" sz="1600" dirty="0"/>
          </a:p>
        </p:txBody>
      </p:sp>
      <p:sp>
        <p:nvSpPr>
          <p:cNvPr id="8" name="Shape 5"/>
          <p:cNvSpPr/>
          <p:nvPr/>
        </p:nvSpPr>
        <p:spPr>
          <a:xfrm>
            <a:off x="841248" y="4892040"/>
            <a:ext cx="822960" cy="0"/>
          </a:xfrm>
          <a:prstGeom prst="line">
            <a:avLst/>
          </a:prstGeom>
          <a:noFill/>
          <a:ln w="25400">
            <a:solidFill>
              <a:srgbClr val="C8A24A"/>
            </a:solidFill>
            <a:prstDash val="solid"/>
          </a:ln>
        </p:spPr>
        <p:txBody>
          <a:bodyPr/>
          <a:lstStyle/>
          <a:p>
            <a:endParaRPr lang="en-US"/>
          </a:p>
        </p:txBody>
      </p:sp>
      <p:sp>
        <p:nvSpPr>
          <p:cNvPr id="9" name="Text 6"/>
          <p:cNvSpPr/>
          <p:nvPr/>
        </p:nvSpPr>
        <p:spPr>
          <a:xfrm>
            <a:off x="822960" y="5074920"/>
            <a:ext cx="8229600" cy="548640"/>
          </a:xfrm>
          <a:prstGeom prst="rect">
            <a:avLst/>
          </a:prstGeom>
          <a:noFill/>
          <a:ln/>
        </p:spPr>
        <p:txBody>
          <a:bodyPr wrap="square" lIns="0" tIns="0" rIns="0" bIns="0" rtlCol="0" anchor="ctr"/>
          <a:lstStyle/>
          <a:p>
            <a:pPr marL="0" indent="0">
              <a:buNone/>
            </a:pPr>
            <a:r>
              <a:rPr lang="en-US" sz="2400" i="1" dirty="0">
                <a:solidFill>
                  <a:srgbClr val="E6CE8F"/>
                </a:solidFill>
                <a:latin typeface="Georgia" pitchFamily="34" charset="0"/>
                <a:ea typeface="Georgia" pitchFamily="34" charset="-122"/>
                <a:cs typeface="Georgia" pitchFamily="34" charset="-120"/>
              </a:rPr>
              <a:t>One Pass. Unlimited Discoveries.</a:t>
            </a:r>
            <a:endParaRPr lang="en-US" sz="2400" dirty="0"/>
          </a:p>
        </p:txBody>
      </p:sp>
      <p:sp>
        <p:nvSpPr>
          <p:cNvPr id="10" name="Text 7"/>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11" name="Text 8"/>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MODEL</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th-TH" sz="3300" b="1" dirty="0" err="1">
                <a:solidFill>
                  <a:srgbClr val="F2EEE6"/>
                </a:solidFill>
                <a:latin typeface="Georgia" pitchFamily="34" charset="0"/>
                <a:ea typeface="Georgia" pitchFamily="34" charset="-122"/>
                <a:cs typeface="Georgia" pitchFamily="34" charset="-120"/>
              </a:rPr>
              <a:t>AsiaGo</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Pass</a:t>
            </a:r>
            <a:r>
              <a:rPr lang="en-US" sz="3300" b="1" dirty="0">
                <a:solidFill>
                  <a:srgbClr val="F2EEE6"/>
                </a:solidFill>
                <a:latin typeface="Georgia" pitchFamily="34" charset="0"/>
                <a:ea typeface="Georgia" pitchFamily="34" charset="-122"/>
                <a:cs typeface="Georgia" pitchFamily="34" charset="-120"/>
              </a:rPr>
              <a:t>! Digital Credit Wallet</a:t>
            </a:r>
            <a:endParaRPr lang="en-US" sz="3300" dirty="0"/>
          </a:p>
        </p:txBody>
      </p:sp>
      <p:sp>
        <p:nvSpPr>
          <p:cNvPr id="4" name="Shape 2"/>
          <p:cNvSpPr/>
          <p:nvPr/>
        </p:nvSpPr>
        <p:spPr>
          <a:xfrm>
            <a:off x="822960" y="1783080"/>
            <a:ext cx="4114800" cy="4114800"/>
          </a:xfrm>
          <a:prstGeom prst="roundRect">
            <a:avLst>
              <a:gd name="adj" fmla="val 1333"/>
            </a:avLst>
          </a:prstGeom>
          <a:solidFill>
            <a:srgbClr val="1C1F24"/>
          </a:solidFill>
          <a:ln w="12700">
            <a:solidFill>
              <a:srgbClr val="3A3E46"/>
            </a:solidFill>
            <a:prstDash val="solid"/>
          </a:ln>
        </p:spPr>
        <p:txBody>
          <a:bodyPr/>
          <a:lstStyle/>
          <a:p>
            <a:endParaRPr lang="en-US" dirty="0"/>
          </a:p>
        </p:txBody>
      </p:sp>
      <p:sp>
        <p:nvSpPr>
          <p:cNvPr id="5" name="Shape 3"/>
          <p:cNvSpPr/>
          <p:nvPr/>
        </p:nvSpPr>
        <p:spPr>
          <a:xfrm>
            <a:off x="1143000" y="2148840"/>
            <a:ext cx="777240" cy="777240"/>
          </a:xfrm>
          <a:prstGeom prst="ellipse">
            <a:avLst/>
          </a:prstGeom>
          <a:solidFill>
            <a:srgbClr val="23272E"/>
          </a:solidFill>
          <a:ln w="15875">
            <a:solidFill>
              <a:srgbClr val="C8A24A"/>
            </a:solidFill>
            <a:prstDash val="solid"/>
          </a:ln>
        </p:spPr>
        <p:txBody>
          <a:bodyPr/>
          <a:lstStyle/>
          <a:p>
            <a:endParaRPr lang="en-US"/>
          </a:p>
        </p:txBody>
      </p:sp>
      <p:pic>
        <p:nvPicPr>
          <p:cNvPr id="6" name="Image 0" descr="preencoded.png"/>
          <p:cNvPicPr>
            <a:picLocks noChangeAspect="1"/>
          </p:cNvPicPr>
          <p:nvPr/>
        </p:nvPicPr>
        <p:blipFill>
          <a:blip r:embed="rId2"/>
          <a:stretch>
            <a:fillRect/>
          </a:stretch>
        </p:blipFill>
        <p:spPr>
          <a:xfrm>
            <a:off x="1360627" y="2366467"/>
            <a:ext cx="341986" cy="341986"/>
          </a:xfrm>
          <a:prstGeom prst="rect">
            <a:avLst/>
          </a:prstGeom>
        </p:spPr>
      </p:pic>
      <p:sp>
        <p:nvSpPr>
          <p:cNvPr id="7" name="Text 4"/>
          <p:cNvSpPr/>
          <p:nvPr/>
        </p:nvSpPr>
        <p:spPr>
          <a:xfrm>
            <a:off x="1143000" y="3154680"/>
            <a:ext cx="3474720" cy="457200"/>
          </a:xfrm>
          <a:prstGeom prst="rect">
            <a:avLst/>
          </a:prstGeom>
          <a:noFill/>
          <a:ln/>
        </p:spPr>
        <p:txBody>
          <a:bodyPr wrap="square" lIns="0" tIns="0" rIns="0" bIns="0" rtlCol="0" anchor="ctr"/>
          <a:lstStyle/>
          <a:p>
            <a:pPr marL="0" indent="0">
              <a:buNone/>
            </a:pPr>
            <a:r>
              <a:rPr lang="en-US" sz="1800" b="1" dirty="0">
                <a:solidFill>
                  <a:srgbClr val="F2EEE6"/>
                </a:solidFill>
                <a:latin typeface="Calibri" pitchFamily="34" charset="0"/>
                <a:ea typeface="Calibri" pitchFamily="34" charset="-122"/>
                <a:cs typeface="Calibri" pitchFamily="34" charset="-120"/>
              </a:rPr>
              <a:t>A Credit Wallet System</a:t>
            </a:r>
            <a:endParaRPr lang="en-US" sz="1800" dirty="0"/>
          </a:p>
        </p:txBody>
      </p:sp>
      <p:sp>
        <p:nvSpPr>
          <p:cNvPr id="8" name="Text 5"/>
          <p:cNvSpPr/>
          <p:nvPr/>
        </p:nvSpPr>
        <p:spPr>
          <a:xfrm>
            <a:off x="1143000" y="3657600"/>
            <a:ext cx="3520440" cy="2011680"/>
          </a:xfrm>
          <a:prstGeom prst="rect">
            <a:avLst/>
          </a:prstGeom>
          <a:noFill/>
          <a:ln/>
        </p:spPr>
        <p:txBody>
          <a:bodyPr wrap="square" lIns="0" tIns="0" rIns="0" bIns="0" rtlCol="0" anchor="t"/>
          <a:lstStyle/>
          <a:p>
            <a:pPr marL="0" indent="0">
              <a:lnSpc>
                <a:spcPct val="112000"/>
              </a:lnSpc>
              <a:buNone/>
            </a:pPr>
            <a:r>
              <a:rPr lang="en-US" sz="1350" dirty="0">
                <a:solidFill>
                  <a:srgbClr val="A7A296"/>
                </a:solidFill>
                <a:latin typeface="Calibri" pitchFamily="34" charset="0"/>
                <a:ea typeface="Calibri" pitchFamily="34" charset="-122"/>
                <a:cs typeface="Calibri" pitchFamily="34" charset="-120"/>
              </a:rPr>
              <a:t>Customers purchase Asia GO! Pass credits and spend them across participating attractions, restaurants, hotel Packages,  transport services and retail partners.</a:t>
            </a:r>
            <a:endParaRPr lang="en-US" sz="1350" dirty="0"/>
          </a:p>
        </p:txBody>
      </p:sp>
      <p:sp>
        <p:nvSpPr>
          <p:cNvPr id="9" name="Shape 6"/>
          <p:cNvSpPr/>
          <p:nvPr/>
        </p:nvSpPr>
        <p:spPr>
          <a:xfrm>
            <a:off x="5152580" y="1783080"/>
            <a:ext cx="6277419" cy="2008656"/>
          </a:xfrm>
          <a:prstGeom prst="roundRect">
            <a:avLst>
              <a:gd name="adj" fmla="val 2857"/>
            </a:avLst>
          </a:prstGeom>
          <a:solidFill>
            <a:srgbClr val="1C1F24"/>
          </a:solidFill>
          <a:ln w="12700">
            <a:solidFill>
              <a:srgbClr val="3A3E46"/>
            </a:solidFill>
            <a:prstDash val="solid"/>
          </a:ln>
        </p:spPr>
        <p:txBody>
          <a:bodyPr/>
          <a:lstStyle/>
          <a:p>
            <a:endParaRPr lang="en-US" dirty="0"/>
          </a:p>
        </p:txBody>
      </p:sp>
      <p:sp>
        <p:nvSpPr>
          <p:cNvPr id="10" name="Shape 7"/>
          <p:cNvSpPr/>
          <p:nvPr/>
        </p:nvSpPr>
        <p:spPr>
          <a:xfrm>
            <a:off x="5486400" y="2331720"/>
            <a:ext cx="512064" cy="512064"/>
          </a:xfrm>
          <a:prstGeom prst="ellipse">
            <a:avLst/>
          </a:prstGeom>
          <a:solidFill>
            <a:srgbClr val="23272E"/>
          </a:solidFill>
          <a:ln w="15875">
            <a:solidFill>
              <a:srgbClr val="C8A24A"/>
            </a:solidFill>
            <a:prstDash val="solid"/>
          </a:ln>
        </p:spPr>
        <p:txBody>
          <a:bodyPr/>
          <a:lstStyle/>
          <a:p>
            <a:endParaRPr lang="en-US"/>
          </a:p>
        </p:txBody>
      </p:sp>
      <p:pic>
        <p:nvPicPr>
          <p:cNvPr id="11" name="Image 1" descr="preencoded.png"/>
          <p:cNvPicPr>
            <a:picLocks noChangeAspect="1"/>
          </p:cNvPicPr>
          <p:nvPr/>
        </p:nvPicPr>
        <p:blipFill>
          <a:blip r:embed="rId3"/>
          <a:stretch>
            <a:fillRect/>
          </a:stretch>
        </p:blipFill>
        <p:spPr>
          <a:xfrm>
            <a:off x="5629778" y="2475098"/>
            <a:ext cx="225308" cy="225308"/>
          </a:xfrm>
          <a:prstGeom prst="rect">
            <a:avLst/>
          </a:prstGeom>
        </p:spPr>
      </p:pic>
      <p:sp>
        <p:nvSpPr>
          <p:cNvPr id="12" name="Text 8"/>
          <p:cNvSpPr/>
          <p:nvPr/>
        </p:nvSpPr>
        <p:spPr>
          <a:xfrm>
            <a:off x="6181344" y="1831824"/>
            <a:ext cx="5157216" cy="454274"/>
          </a:xfrm>
          <a:prstGeom prst="rect">
            <a:avLst/>
          </a:prstGeom>
          <a:noFill/>
          <a:ln/>
        </p:spPr>
        <p:txBody>
          <a:bodyPr wrap="square" lIns="0" tIns="0" rIns="0" bIns="0" rtlCol="0" anchor="ctr"/>
          <a:lstStyle/>
          <a:p>
            <a:pPr marL="0" indent="0">
              <a:buNone/>
            </a:pPr>
            <a:r>
              <a:rPr lang="en-US" sz="1600" b="1" dirty="0">
                <a:solidFill>
                  <a:srgbClr val="F2EEE6"/>
                </a:solidFill>
                <a:latin typeface="Calibri" pitchFamily="34" charset="0"/>
                <a:ea typeface="Calibri" pitchFamily="34" charset="-122"/>
                <a:cs typeface="Calibri" pitchFamily="34" charset="-120"/>
              </a:rPr>
              <a:t>Build Your Own Itinerary</a:t>
            </a:r>
            <a:endParaRPr lang="en-US" sz="1600" dirty="0"/>
          </a:p>
        </p:txBody>
      </p:sp>
      <p:sp>
        <p:nvSpPr>
          <p:cNvPr id="13" name="Text 9"/>
          <p:cNvSpPr/>
          <p:nvPr/>
        </p:nvSpPr>
        <p:spPr>
          <a:xfrm>
            <a:off x="6227064" y="2148840"/>
            <a:ext cx="5111496" cy="1661184"/>
          </a:xfrm>
          <a:prstGeom prst="rect">
            <a:avLst/>
          </a:prstGeom>
          <a:noFill/>
          <a:ln/>
        </p:spPr>
        <p:txBody>
          <a:bodyPr wrap="square" lIns="0" tIns="0" rIns="0" bIns="0" rtlCol="0" anchor="ctr"/>
          <a:lstStyle/>
          <a:p>
            <a:pPr marL="0" indent="0">
              <a:lnSpc>
                <a:spcPct val="104000"/>
              </a:lnSpc>
              <a:buNone/>
            </a:pPr>
            <a:r>
              <a:rPr lang="en-US" sz="1400" dirty="0">
                <a:solidFill>
                  <a:srgbClr val="92D050"/>
                </a:solidFill>
                <a:latin typeface="Calibri" pitchFamily="34" charset="0"/>
                <a:ea typeface="Calibri" pitchFamily="34" charset="-122"/>
                <a:cs typeface="Calibri" pitchFamily="34" charset="-120"/>
              </a:rPr>
              <a:t>Flexible travel your way : </a:t>
            </a:r>
            <a:r>
              <a:rPr lang="en-US" sz="1150" dirty="0">
                <a:solidFill>
                  <a:srgbClr val="A7A296"/>
                </a:solidFill>
                <a:latin typeface="Calibri" pitchFamily="34" charset="0"/>
                <a:ea typeface="Calibri" pitchFamily="34" charset="-122"/>
                <a:cs typeface="Calibri" pitchFamily="34" charset="-120"/>
              </a:rPr>
              <a:t>Design your own itinerary and choose the experiences that matter most to you. </a:t>
            </a:r>
            <a:r>
              <a:rPr lang="en-US" sz="1150" dirty="0" err="1">
                <a:solidFill>
                  <a:srgbClr val="A7A296"/>
                </a:solidFill>
                <a:latin typeface="Calibri" pitchFamily="34" charset="0"/>
                <a:ea typeface="Calibri" pitchFamily="34" charset="-122"/>
                <a:cs typeface="Calibri" pitchFamily="34" charset="-120"/>
              </a:rPr>
              <a:t>AsiaGO</a:t>
            </a:r>
            <a:r>
              <a:rPr lang="en-US" sz="1150" dirty="0">
                <a:solidFill>
                  <a:srgbClr val="A7A296"/>
                </a:solidFill>
                <a:latin typeface="Calibri" pitchFamily="34" charset="0"/>
                <a:ea typeface="Calibri" pitchFamily="34" charset="-122"/>
                <a:cs typeface="Calibri" pitchFamily="34" charset="-120"/>
              </a:rPr>
              <a:t> Pass gives you the freedom to travel according to your interests and budget –without being tied to fixed package   </a:t>
            </a:r>
          </a:p>
          <a:p>
            <a:pPr marL="0" indent="0">
              <a:lnSpc>
                <a:spcPct val="104000"/>
              </a:lnSpc>
              <a:buNone/>
            </a:pPr>
            <a:endParaRPr lang="en-US" sz="1200" dirty="0">
              <a:solidFill>
                <a:schemeClr val="accent6"/>
              </a:solidFill>
              <a:latin typeface="Calibri" pitchFamily="34" charset="0"/>
              <a:ea typeface="Calibri" pitchFamily="34" charset="-122"/>
              <a:cs typeface="Calibri" pitchFamily="34" charset="-120"/>
            </a:endParaRPr>
          </a:p>
          <a:p>
            <a:pPr>
              <a:lnSpc>
                <a:spcPct val="104000"/>
              </a:lnSpc>
            </a:pPr>
            <a:r>
              <a:rPr lang="en-US" sz="1400" dirty="0">
                <a:solidFill>
                  <a:schemeClr val="accent6"/>
                </a:solidFill>
                <a:latin typeface="Calibri" pitchFamily="34" charset="0"/>
                <a:ea typeface="Calibri" pitchFamily="34" charset="-122"/>
                <a:cs typeface="Calibri" pitchFamily="34" charset="-120"/>
              </a:rPr>
              <a:t>Save More with Curated Package </a:t>
            </a:r>
            <a:r>
              <a:rPr lang="en-US" sz="1200" dirty="0">
                <a:solidFill>
                  <a:schemeClr val="accent6"/>
                </a:solidFill>
                <a:latin typeface="Calibri" pitchFamily="34" charset="0"/>
                <a:ea typeface="Calibri" pitchFamily="34" charset="-122"/>
                <a:cs typeface="Calibri" pitchFamily="34" charset="-120"/>
              </a:rPr>
              <a:t>:  </a:t>
            </a:r>
            <a:r>
              <a:rPr lang="en-US" sz="1150" dirty="0">
                <a:solidFill>
                  <a:srgbClr val="A7A296"/>
                </a:solidFill>
                <a:latin typeface="Calibri" pitchFamily="34" charset="0"/>
                <a:ea typeface="Calibri" pitchFamily="34" charset="-122"/>
                <a:cs typeface="Calibri" pitchFamily="34" charset="-120"/>
              </a:rPr>
              <a:t>Take advantage of our specially curated packages and enjoy saving of up to 50% on more, helping you experience</a:t>
            </a:r>
            <a:r>
              <a:rPr lang="en-SG" sz="1150" dirty="0">
                <a:solidFill>
                  <a:srgbClr val="A7A296"/>
                </a:solidFill>
                <a:latin typeface="Calibri" pitchFamily="34" charset="0"/>
                <a:ea typeface="Calibri" pitchFamily="34" charset="-122"/>
                <a:cs typeface="Calibri" pitchFamily="34" charset="-120"/>
              </a:rPr>
              <a:t> more while spending less on your trip. </a:t>
            </a:r>
            <a:endParaRPr lang="en-US" sz="1150" dirty="0"/>
          </a:p>
        </p:txBody>
      </p:sp>
      <p:sp>
        <p:nvSpPr>
          <p:cNvPr id="14" name="Shape 10"/>
          <p:cNvSpPr/>
          <p:nvPr/>
        </p:nvSpPr>
        <p:spPr>
          <a:xfrm>
            <a:off x="5134794" y="3931920"/>
            <a:ext cx="6217920" cy="1920240"/>
          </a:xfrm>
          <a:prstGeom prst="roundRect">
            <a:avLst>
              <a:gd name="adj" fmla="val 2857"/>
            </a:avLst>
          </a:prstGeom>
          <a:solidFill>
            <a:srgbClr val="1C1F24"/>
          </a:solidFill>
          <a:ln w="12700">
            <a:solidFill>
              <a:srgbClr val="3A3E46"/>
            </a:solidFill>
            <a:prstDash val="solid"/>
          </a:ln>
        </p:spPr>
        <p:txBody>
          <a:bodyPr/>
          <a:lstStyle/>
          <a:p>
            <a:endParaRPr lang="en-US"/>
          </a:p>
        </p:txBody>
      </p:sp>
      <p:sp>
        <p:nvSpPr>
          <p:cNvPr id="15" name="Shape 11"/>
          <p:cNvSpPr/>
          <p:nvPr/>
        </p:nvSpPr>
        <p:spPr>
          <a:xfrm>
            <a:off x="5486400" y="4526280"/>
            <a:ext cx="512064" cy="512064"/>
          </a:xfrm>
          <a:prstGeom prst="ellipse">
            <a:avLst/>
          </a:prstGeom>
          <a:solidFill>
            <a:srgbClr val="23272E"/>
          </a:solidFill>
          <a:ln w="15875">
            <a:solidFill>
              <a:srgbClr val="C8A24A"/>
            </a:solidFill>
            <a:prstDash val="solid"/>
          </a:ln>
        </p:spPr>
        <p:txBody>
          <a:bodyPr/>
          <a:lstStyle/>
          <a:p>
            <a:endParaRPr lang="en-US"/>
          </a:p>
        </p:txBody>
      </p:sp>
      <p:pic>
        <p:nvPicPr>
          <p:cNvPr id="16" name="Image 2" descr="preencoded.png"/>
          <p:cNvPicPr>
            <a:picLocks noChangeAspect="1"/>
          </p:cNvPicPr>
          <p:nvPr/>
        </p:nvPicPr>
        <p:blipFill>
          <a:blip r:embed="rId4"/>
          <a:stretch>
            <a:fillRect/>
          </a:stretch>
        </p:blipFill>
        <p:spPr>
          <a:xfrm>
            <a:off x="5629778" y="4669658"/>
            <a:ext cx="225308" cy="225308"/>
          </a:xfrm>
          <a:prstGeom prst="rect">
            <a:avLst/>
          </a:prstGeom>
        </p:spPr>
      </p:pic>
      <p:sp>
        <p:nvSpPr>
          <p:cNvPr id="17" name="Text 12"/>
          <p:cNvSpPr/>
          <p:nvPr/>
        </p:nvSpPr>
        <p:spPr>
          <a:xfrm>
            <a:off x="6181344" y="4489704"/>
            <a:ext cx="51572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Loyalty &amp; Rewards</a:t>
            </a:r>
            <a:endParaRPr lang="en-US" sz="1400" dirty="0"/>
          </a:p>
        </p:txBody>
      </p:sp>
      <p:sp>
        <p:nvSpPr>
          <p:cNvPr id="18" name="Text 13"/>
          <p:cNvSpPr/>
          <p:nvPr/>
        </p:nvSpPr>
        <p:spPr>
          <a:xfrm>
            <a:off x="6181344" y="4800600"/>
            <a:ext cx="5157216" cy="548640"/>
          </a:xfrm>
          <a:prstGeom prst="rect">
            <a:avLst/>
          </a:prstGeom>
          <a:noFill/>
          <a:ln/>
        </p:spPr>
        <p:txBody>
          <a:bodyPr wrap="square" lIns="0" tIns="0" rIns="0" bIns="0" rtlCol="0" anchor="ctr"/>
          <a:lstStyle/>
          <a:p>
            <a:pPr marL="0" indent="0">
              <a:lnSpc>
                <a:spcPct val="104000"/>
              </a:lnSpc>
              <a:buNone/>
            </a:pPr>
            <a:r>
              <a:rPr lang="en-US" sz="1150" dirty="0">
                <a:solidFill>
                  <a:srgbClr val="A7A296"/>
                </a:solidFill>
                <a:latin typeface="Calibri" pitchFamily="34" charset="0"/>
                <a:ea typeface="Calibri" pitchFamily="34" charset="-122"/>
                <a:cs typeface="Calibri" pitchFamily="34" charset="-120"/>
              </a:rPr>
              <a:t>Bonus credits, exclusive privileges and VIP benefits on top-ups or spend above set thresholds drive repeat engagement.</a:t>
            </a:r>
            <a:endParaRPr lang="en-US" sz="1150" dirty="0"/>
          </a:p>
        </p:txBody>
      </p:sp>
      <p:sp>
        <p:nvSpPr>
          <p:cNvPr id="19" name="Text 14"/>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20" name="Text 15"/>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OPPORTUNITY</a:t>
            </a:r>
            <a:endParaRPr lang="en-US" sz="1150" dirty="0"/>
          </a:p>
        </p:txBody>
      </p:sp>
      <p:sp>
        <p:nvSpPr>
          <p:cNvPr id="3" name="Text 1"/>
          <p:cNvSpPr/>
          <p:nvPr/>
        </p:nvSpPr>
        <p:spPr>
          <a:xfrm>
            <a:off x="777240" y="868680"/>
            <a:ext cx="7223760" cy="1188720"/>
          </a:xfrm>
          <a:prstGeom prst="rect">
            <a:avLst/>
          </a:prstGeom>
          <a:noFill/>
          <a:ln/>
        </p:spPr>
        <p:txBody>
          <a:bodyPr wrap="square" lIns="0" tIns="0" rIns="0" bIns="0" rtlCol="0" anchor="ctr"/>
          <a:lstStyle/>
          <a:p>
            <a:pPr marL="0" indent="0">
              <a:lnSpc>
                <a:spcPct val="100000"/>
              </a:lnSpc>
              <a:buNone/>
            </a:pPr>
            <a:r>
              <a:rPr lang="en-US" sz="3200" b="1" dirty="0">
                <a:solidFill>
                  <a:srgbClr val="F2EEE6"/>
                </a:solidFill>
                <a:latin typeface="Georgia" pitchFamily="34" charset="0"/>
                <a:ea typeface="Georgia" pitchFamily="34" charset="-122"/>
                <a:cs typeface="Georgia" pitchFamily="34" charset="-120"/>
              </a:rPr>
              <a:t>Singapore welcomes millions</a:t>
            </a:r>
            <a:endParaRPr lang="en-US" sz="3200" dirty="0"/>
          </a:p>
          <a:p>
            <a:pPr marL="0" indent="0">
              <a:lnSpc>
                <a:spcPct val="100000"/>
              </a:lnSpc>
              <a:buNone/>
            </a:pPr>
            <a:r>
              <a:rPr lang="en-US" sz="3200" b="1" dirty="0">
                <a:solidFill>
                  <a:srgbClr val="F2EEE6"/>
                </a:solidFill>
                <a:latin typeface="Georgia" pitchFamily="34" charset="0"/>
                <a:ea typeface="Georgia" pitchFamily="34" charset="-122"/>
                <a:cs typeface="Georgia" pitchFamily="34" charset="-120"/>
              </a:rPr>
              <a:t>of visitors every year</a:t>
            </a:r>
            <a:endParaRPr lang="en-US" sz="3200" dirty="0"/>
          </a:p>
        </p:txBody>
      </p:sp>
      <p:sp>
        <p:nvSpPr>
          <p:cNvPr id="4" name="Text 2"/>
          <p:cNvSpPr/>
          <p:nvPr/>
        </p:nvSpPr>
        <p:spPr>
          <a:xfrm>
            <a:off x="822960" y="2148840"/>
            <a:ext cx="6766560" cy="457200"/>
          </a:xfrm>
          <a:prstGeom prst="rect">
            <a:avLst/>
          </a:prstGeom>
          <a:noFill/>
          <a:ln/>
        </p:spPr>
        <p:txBody>
          <a:bodyPr wrap="square" lIns="0" tIns="0" rIns="0" bIns="0" rtlCol="0" anchor="ctr"/>
          <a:lstStyle/>
          <a:p>
            <a:pPr marL="0" indent="0">
              <a:buNone/>
            </a:pPr>
            <a:r>
              <a:rPr lang="en-US" sz="1550" dirty="0">
                <a:solidFill>
                  <a:srgbClr val="A7A296"/>
                </a:solidFill>
                <a:latin typeface="Calibri" pitchFamily="34" charset="0"/>
                <a:ea typeface="Calibri" pitchFamily="34" charset="-122"/>
                <a:cs typeface="Calibri" pitchFamily="34" charset="-120"/>
              </a:rPr>
              <a:t>Despite strong tourism growth, many restaurants, wellness still struggle to:</a:t>
            </a:r>
            <a:endParaRPr lang="en-US" sz="1550" dirty="0"/>
          </a:p>
        </p:txBody>
      </p:sp>
      <p:sp>
        <p:nvSpPr>
          <p:cNvPr id="5" name="Shape 3"/>
          <p:cNvSpPr/>
          <p:nvPr/>
        </p:nvSpPr>
        <p:spPr>
          <a:xfrm>
            <a:off x="868680" y="2770632"/>
            <a:ext cx="274320" cy="274320"/>
          </a:xfrm>
          <a:prstGeom prst="ellipse">
            <a:avLst/>
          </a:prstGeom>
          <a:solidFill>
            <a:srgbClr val="C8A24A"/>
          </a:solidFill>
          <a:ln/>
        </p:spPr>
        <p:txBody>
          <a:bodyPr/>
          <a:lstStyle/>
          <a:p>
            <a:endParaRPr lang="en-SG"/>
          </a:p>
        </p:txBody>
      </p:sp>
      <p:pic>
        <p:nvPicPr>
          <p:cNvPr id="6" name="Image 0" descr="preencoded.png"/>
          <p:cNvPicPr>
            <a:picLocks noChangeAspect="1"/>
          </p:cNvPicPr>
          <p:nvPr/>
        </p:nvPicPr>
        <p:blipFill>
          <a:blip r:embed="rId3"/>
          <a:stretch>
            <a:fillRect/>
          </a:stretch>
        </p:blipFill>
        <p:spPr>
          <a:xfrm>
            <a:off x="942746" y="2844698"/>
            <a:ext cx="126187" cy="126187"/>
          </a:xfrm>
          <a:prstGeom prst="rect">
            <a:avLst/>
          </a:prstGeom>
        </p:spPr>
      </p:pic>
      <p:sp>
        <p:nvSpPr>
          <p:cNvPr id="7" name="Text 4"/>
          <p:cNvSpPr/>
          <p:nvPr/>
        </p:nvSpPr>
        <p:spPr>
          <a:xfrm>
            <a:off x="1298448" y="26974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Attract new international customers </a:t>
            </a:r>
            <a:endParaRPr lang="en-US" sz="1450" dirty="0"/>
          </a:p>
        </p:txBody>
      </p:sp>
      <p:sp>
        <p:nvSpPr>
          <p:cNvPr id="8" name="Shape 5"/>
          <p:cNvSpPr/>
          <p:nvPr/>
        </p:nvSpPr>
        <p:spPr>
          <a:xfrm>
            <a:off x="868680" y="3227832"/>
            <a:ext cx="274320" cy="274320"/>
          </a:xfrm>
          <a:prstGeom prst="ellipse">
            <a:avLst/>
          </a:prstGeom>
          <a:solidFill>
            <a:srgbClr val="C8A24A"/>
          </a:solidFill>
          <a:ln/>
        </p:spPr>
        <p:txBody>
          <a:bodyPr/>
          <a:lstStyle/>
          <a:p>
            <a:endParaRPr lang="en-SG"/>
          </a:p>
        </p:txBody>
      </p:sp>
      <p:pic>
        <p:nvPicPr>
          <p:cNvPr id="9" name="Image 1" descr="preencoded.png"/>
          <p:cNvPicPr>
            <a:picLocks noChangeAspect="1"/>
          </p:cNvPicPr>
          <p:nvPr/>
        </p:nvPicPr>
        <p:blipFill>
          <a:blip r:embed="rId3"/>
          <a:stretch>
            <a:fillRect/>
          </a:stretch>
        </p:blipFill>
        <p:spPr>
          <a:xfrm>
            <a:off x="942746" y="3301898"/>
            <a:ext cx="126187" cy="126187"/>
          </a:xfrm>
          <a:prstGeom prst="rect">
            <a:avLst/>
          </a:prstGeom>
        </p:spPr>
      </p:pic>
      <p:sp>
        <p:nvSpPr>
          <p:cNvPr id="10" name="Text 6"/>
          <p:cNvSpPr/>
          <p:nvPr/>
        </p:nvSpPr>
        <p:spPr>
          <a:xfrm>
            <a:off x="1298448" y="31546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Gain visibility beyond hotel concierge recommendations</a:t>
            </a:r>
            <a:endParaRPr lang="en-US" sz="1450" dirty="0"/>
          </a:p>
        </p:txBody>
      </p:sp>
      <p:sp>
        <p:nvSpPr>
          <p:cNvPr id="11" name="Shape 7"/>
          <p:cNvSpPr/>
          <p:nvPr/>
        </p:nvSpPr>
        <p:spPr>
          <a:xfrm>
            <a:off x="868680" y="3685032"/>
            <a:ext cx="274320" cy="274320"/>
          </a:xfrm>
          <a:prstGeom prst="ellipse">
            <a:avLst/>
          </a:prstGeom>
          <a:solidFill>
            <a:srgbClr val="C8A24A"/>
          </a:solidFill>
          <a:ln/>
        </p:spPr>
        <p:txBody>
          <a:bodyPr/>
          <a:lstStyle/>
          <a:p>
            <a:endParaRPr lang="en-SG"/>
          </a:p>
        </p:txBody>
      </p:sp>
      <p:pic>
        <p:nvPicPr>
          <p:cNvPr id="12" name="Image 2" descr="preencoded.png"/>
          <p:cNvPicPr>
            <a:picLocks noChangeAspect="1"/>
          </p:cNvPicPr>
          <p:nvPr/>
        </p:nvPicPr>
        <p:blipFill>
          <a:blip r:embed="rId3"/>
          <a:stretch>
            <a:fillRect/>
          </a:stretch>
        </p:blipFill>
        <p:spPr>
          <a:xfrm>
            <a:off x="942746" y="3759098"/>
            <a:ext cx="126187" cy="126187"/>
          </a:xfrm>
          <a:prstGeom prst="rect">
            <a:avLst/>
          </a:prstGeom>
        </p:spPr>
      </p:pic>
      <p:sp>
        <p:nvSpPr>
          <p:cNvPr id="13" name="Text 8"/>
          <p:cNvSpPr/>
          <p:nvPr/>
        </p:nvSpPr>
        <p:spPr>
          <a:xfrm>
            <a:off x="1298448" y="36118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Fill off-peak dining periods</a:t>
            </a:r>
            <a:endParaRPr lang="en-US" sz="1450" dirty="0"/>
          </a:p>
        </p:txBody>
      </p:sp>
      <p:sp>
        <p:nvSpPr>
          <p:cNvPr id="14" name="Shape 9"/>
          <p:cNvSpPr/>
          <p:nvPr/>
        </p:nvSpPr>
        <p:spPr>
          <a:xfrm>
            <a:off x="868680" y="4142232"/>
            <a:ext cx="274320" cy="274320"/>
          </a:xfrm>
          <a:prstGeom prst="ellipse">
            <a:avLst/>
          </a:prstGeom>
          <a:solidFill>
            <a:srgbClr val="C8A24A"/>
          </a:solidFill>
          <a:ln/>
        </p:spPr>
        <p:txBody>
          <a:bodyPr/>
          <a:lstStyle/>
          <a:p>
            <a:endParaRPr lang="en-SG"/>
          </a:p>
        </p:txBody>
      </p:sp>
      <p:pic>
        <p:nvPicPr>
          <p:cNvPr id="15" name="Image 3" descr="preencoded.png"/>
          <p:cNvPicPr>
            <a:picLocks noChangeAspect="1"/>
          </p:cNvPicPr>
          <p:nvPr/>
        </p:nvPicPr>
        <p:blipFill>
          <a:blip r:embed="rId3"/>
          <a:stretch>
            <a:fillRect/>
          </a:stretch>
        </p:blipFill>
        <p:spPr>
          <a:xfrm>
            <a:off x="942746" y="4216298"/>
            <a:ext cx="126187" cy="126187"/>
          </a:xfrm>
          <a:prstGeom prst="rect">
            <a:avLst/>
          </a:prstGeom>
        </p:spPr>
      </p:pic>
      <p:sp>
        <p:nvSpPr>
          <p:cNvPr id="16" name="Text 10"/>
          <p:cNvSpPr/>
          <p:nvPr/>
        </p:nvSpPr>
        <p:spPr>
          <a:xfrm>
            <a:off x="1298448" y="40690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Reach younger, affluent travellers</a:t>
            </a:r>
            <a:endParaRPr lang="en-US" sz="1450" dirty="0"/>
          </a:p>
        </p:txBody>
      </p:sp>
      <p:sp>
        <p:nvSpPr>
          <p:cNvPr id="17" name="Shape 11"/>
          <p:cNvSpPr/>
          <p:nvPr/>
        </p:nvSpPr>
        <p:spPr>
          <a:xfrm>
            <a:off x="868680" y="4599432"/>
            <a:ext cx="274320" cy="274320"/>
          </a:xfrm>
          <a:prstGeom prst="ellipse">
            <a:avLst/>
          </a:prstGeom>
          <a:solidFill>
            <a:srgbClr val="C8A24A"/>
          </a:solidFill>
          <a:ln/>
        </p:spPr>
        <p:txBody>
          <a:bodyPr/>
          <a:lstStyle/>
          <a:p>
            <a:endParaRPr lang="en-SG"/>
          </a:p>
        </p:txBody>
      </p:sp>
      <p:pic>
        <p:nvPicPr>
          <p:cNvPr id="18" name="Image 4" descr="preencoded.png"/>
          <p:cNvPicPr>
            <a:picLocks noChangeAspect="1"/>
          </p:cNvPicPr>
          <p:nvPr/>
        </p:nvPicPr>
        <p:blipFill>
          <a:blip r:embed="rId3"/>
          <a:stretch>
            <a:fillRect/>
          </a:stretch>
        </p:blipFill>
        <p:spPr>
          <a:xfrm>
            <a:off x="942746" y="4673498"/>
            <a:ext cx="126187" cy="126187"/>
          </a:xfrm>
          <a:prstGeom prst="rect">
            <a:avLst/>
          </a:prstGeom>
        </p:spPr>
      </p:pic>
      <p:sp>
        <p:nvSpPr>
          <p:cNvPr id="19" name="Text 12"/>
          <p:cNvSpPr/>
          <p:nvPr/>
        </p:nvSpPr>
        <p:spPr>
          <a:xfrm>
            <a:off x="1298448" y="45262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Stand out in a competitive dining landscape</a:t>
            </a:r>
            <a:endParaRPr lang="en-US" sz="1450" dirty="0"/>
          </a:p>
        </p:txBody>
      </p:sp>
      <p:sp>
        <p:nvSpPr>
          <p:cNvPr id="20" name="Shape 13"/>
          <p:cNvSpPr/>
          <p:nvPr/>
        </p:nvSpPr>
        <p:spPr>
          <a:xfrm>
            <a:off x="822960" y="5212080"/>
            <a:ext cx="3200400" cy="960120"/>
          </a:xfrm>
          <a:prstGeom prst="rect">
            <a:avLst/>
          </a:prstGeom>
          <a:solidFill>
            <a:srgbClr val="1C1F24"/>
          </a:solidFill>
          <a:ln w="12700">
            <a:solidFill>
              <a:srgbClr val="3A3E46"/>
            </a:solidFill>
            <a:prstDash val="solid"/>
          </a:ln>
        </p:spPr>
        <p:txBody>
          <a:bodyPr/>
          <a:lstStyle/>
          <a:p>
            <a:endParaRPr lang="en-SG" dirty="0"/>
          </a:p>
        </p:txBody>
      </p:sp>
      <p:sp>
        <p:nvSpPr>
          <p:cNvPr id="21" name="Shape 14"/>
          <p:cNvSpPr/>
          <p:nvPr/>
        </p:nvSpPr>
        <p:spPr>
          <a:xfrm>
            <a:off x="822960" y="5212080"/>
            <a:ext cx="54864" cy="960120"/>
          </a:xfrm>
          <a:prstGeom prst="rect">
            <a:avLst/>
          </a:prstGeom>
          <a:solidFill>
            <a:srgbClr val="C8A24A"/>
          </a:solidFill>
          <a:ln/>
        </p:spPr>
        <p:txBody>
          <a:bodyPr/>
          <a:lstStyle/>
          <a:p>
            <a:endParaRPr lang="en-SG"/>
          </a:p>
        </p:txBody>
      </p:sp>
      <p:sp>
        <p:nvSpPr>
          <p:cNvPr id="22" name="Text 15"/>
          <p:cNvSpPr/>
          <p:nvPr/>
        </p:nvSpPr>
        <p:spPr>
          <a:xfrm>
            <a:off x="1024128" y="5330952"/>
            <a:ext cx="2834640" cy="320040"/>
          </a:xfrm>
          <a:prstGeom prst="rect">
            <a:avLst/>
          </a:prstGeom>
          <a:noFill/>
          <a:ln/>
        </p:spPr>
        <p:txBody>
          <a:bodyPr wrap="square" lIns="0" tIns="0" rIns="0" bIns="0" rtlCol="0" anchor="ctr"/>
          <a:lstStyle/>
          <a:p>
            <a:pPr marL="0" indent="0">
              <a:buNone/>
            </a:pPr>
            <a:r>
              <a:rPr lang="en-US" sz="1300" b="1" dirty="0">
                <a:solidFill>
                  <a:srgbClr val="E6CE8F"/>
                </a:solidFill>
                <a:latin typeface="Calibri" pitchFamily="34" charset="0"/>
                <a:ea typeface="Calibri" pitchFamily="34" charset="-122"/>
                <a:cs typeface="Calibri" pitchFamily="34" charset="-120"/>
              </a:rPr>
              <a:t>The time-poor professional</a:t>
            </a:r>
            <a:endParaRPr lang="en-US" sz="1300" dirty="0"/>
          </a:p>
        </p:txBody>
      </p:sp>
      <p:sp>
        <p:nvSpPr>
          <p:cNvPr id="23" name="Text 16"/>
          <p:cNvSpPr/>
          <p:nvPr/>
        </p:nvSpPr>
        <p:spPr>
          <a:xfrm>
            <a:off x="1024128" y="5641848"/>
            <a:ext cx="2880360" cy="457200"/>
          </a:xfrm>
          <a:prstGeom prst="rect">
            <a:avLst/>
          </a:prstGeom>
          <a:noFill/>
          <a:ln/>
        </p:spPr>
        <p:txBody>
          <a:bodyPr wrap="square" lIns="0" tIns="0" rIns="0" bIns="0" rtlCol="0" anchor="ctr"/>
          <a:lstStyle/>
          <a:p>
            <a:pPr marL="0" indent="0">
              <a:buNone/>
            </a:pPr>
            <a:r>
              <a:rPr lang="en-US" sz="1150" dirty="0">
                <a:solidFill>
                  <a:srgbClr val="A7A296"/>
                </a:solidFill>
                <a:latin typeface="Calibri" pitchFamily="34" charset="0"/>
                <a:ea typeface="Calibri" pitchFamily="34" charset="-122"/>
                <a:cs typeface="Calibri" pitchFamily="34" charset="-120"/>
              </a:rPr>
              <a:t>Seeking premium, curated evening experiences.</a:t>
            </a:r>
            <a:endParaRPr lang="en-US" sz="1150" dirty="0"/>
          </a:p>
        </p:txBody>
      </p:sp>
      <p:sp>
        <p:nvSpPr>
          <p:cNvPr id="24" name="Shape 17"/>
          <p:cNvSpPr/>
          <p:nvPr/>
        </p:nvSpPr>
        <p:spPr>
          <a:xfrm>
            <a:off x="4206240" y="5224606"/>
            <a:ext cx="3200400" cy="960120"/>
          </a:xfrm>
          <a:prstGeom prst="rect">
            <a:avLst/>
          </a:prstGeom>
          <a:solidFill>
            <a:srgbClr val="1C1F24"/>
          </a:solidFill>
          <a:ln w="12700">
            <a:solidFill>
              <a:srgbClr val="3A3E46"/>
            </a:solidFill>
            <a:prstDash val="solid"/>
          </a:ln>
        </p:spPr>
        <p:txBody>
          <a:bodyPr/>
          <a:lstStyle/>
          <a:p>
            <a:endParaRPr lang="en-SG"/>
          </a:p>
        </p:txBody>
      </p:sp>
      <p:sp>
        <p:nvSpPr>
          <p:cNvPr id="25" name="Shape 18"/>
          <p:cNvSpPr/>
          <p:nvPr/>
        </p:nvSpPr>
        <p:spPr>
          <a:xfrm>
            <a:off x="4206240" y="5212080"/>
            <a:ext cx="54864" cy="960120"/>
          </a:xfrm>
          <a:prstGeom prst="rect">
            <a:avLst/>
          </a:prstGeom>
          <a:solidFill>
            <a:srgbClr val="C8A24A"/>
          </a:solidFill>
          <a:ln/>
        </p:spPr>
        <p:txBody>
          <a:bodyPr/>
          <a:lstStyle/>
          <a:p>
            <a:endParaRPr lang="en-SG"/>
          </a:p>
        </p:txBody>
      </p:sp>
      <p:sp>
        <p:nvSpPr>
          <p:cNvPr id="26" name="Text 19"/>
          <p:cNvSpPr/>
          <p:nvPr/>
        </p:nvSpPr>
        <p:spPr>
          <a:xfrm>
            <a:off x="4407408" y="5330952"/>
            <a:ext cx="2834640" cy="320040"/>
          </a:xfrm>
          <a:prstGeom prst="rect">
            <a:avLst/>
          </a:prstGeom>
          <a:noFill/>
          <a:ln/>
        </p:spPr>
        <p:txBody>
          <a:bodyPr wrap="square" lIns="0" tIns="0" rIns="0" bIns="0" rtlCol="0" anchor="ctr"/>
          <a:lstStyle/>
          <a:p>
            <a:pPr marL="0" indent="0">
              <a:buNone/>
            </a:pPr>
            <a:r>
              <a:rPr lang="en-US" sz="1300" b="1" dirty="0">
                <a:solidFill>
                  <a:srgbClr val="E6CE8F"/>
                </a:solidFill>
                <a:latin typeface="Calibri" pitchFamily="34" charset="0"/>
                <a:ea typeface="Calibri" pitchFamily="34" charset="-122"/>
                <a:cs typeface="Calibri" pitchFamily="34" charset="-120"/>
              </a:rPr>
              <a:t>The long-layover traveller</a:t>
            </a:r>
            <a:endParaRPr lang="en-US" sz="1300" dirty="0"/>
          </a:p>
        </p:txBody>
      </p:sp>
      <p:sp>
        <p:nvSpPr>
          <p:cNvPr id="27" name="Text 20"/>
          <p:cNvSpPr/>
          <p:nvPr/>
        </p:nvSpPr>
        <p:spPr>
          <a:xfrm>
            <a:off x="4407408" y="5641848"/>
            <a:ext cx="2880360" cy="457200"/>
          </a:xfrm>
          <a:prstGeom prst="rect">
            <a:avLst/>
          </a:prstGeom>
          <a:noFill/>
          <a:ln/>
        </p:spPr>
        <p:txBody>
          <a:bodyPr wrap="square" lIns="0" tIns="0" rIns="0" bIns="0" rtlCol="0" anchor="ctr"/>
          <a:lstStyle/>
          <a:p>
            <a:pPr marL="0" indent="0">
              <a:buNone/>
            </a:pPr>
            <a:r>
              <a:rPr lang="en-US" sz="1150" dirty="0">
                <a:solidFill>
                  <a:srgbClr val="A7A296"/>
                </a:solidFill>
                <a:latin typeface="Calibri" pitchFamily="34" charset="0"/>
                <a:ea typeface="Calibri" pitchFamily="34" charset="-122"/>
                <a:cs typeface="Calibri" pitchFamily="34" charset="-120"/>
              </a:rPr>
              <a:t>Exploring Singapore without the stress of planning.</a:t>
            </a:r>
            <a:endParaRPr lang="en-US" sz="1150" dirty="0"/>
          </a:p>
        </p:txBody>
      </p:sp>
      <p:sp>
        <p:nvSpPr>
          <p:cNvPr id="28" name="Text 21"/>
          <p:cNvSpPr/>
          <p:nvPr/>
        </p:nvSpPr>
        <p:spPr>
          <a:xfrm>
            <a:off x="822960" y="6355080"/>
            <a:ext cx="6766560" cy="365760"/>
          </a:xfrm>
          <a:prstGeom prst="rect">
            <a:avLst/>
          </a:prstGeom>
          <a:noFill/>
          <a:ln/>
        </p:spPr>
        <p:txBody>
          <a:bodyPr wrap="square" lIns="0" tIns="0" rIns="0" bIns="0" rtlCol="0" anchor="ctr"/>
          <a:lstStyle/>
          <a:p>
            <a:pPr marL="0" indent="0">
              <a:buNone/>
            </a:pPr>
            <a:r>
              <a:rPr lang="en-US" sz="1600" b="1" i="1" dirty="0" err="1">
                <a:solidFill>
                  <a:srgbClr val="C8A24A"/>
                </a:solidFill>
                <a:latin typeface="Georgia" pitchFamily="34" charset="0"/>
                <a:ea typeface="Georgia" pitchFamily="34" charset="-122"/>
                <a:cs typeface="Georgia" pitchFamily="34" charset="-120"/>
              </a:rPr>
              <a:t>AsiaGo</a:t>
            </a:r>
            <a:r>
              <a:rPr lang="en-US" sz="1600" b="1" i="1" dirty="0">
                <a:solidFill>
                  <a:srgbClr val="C8A24A"/>
                </a:solidFill>
                <a:latin typeface="Georgia" pitchFamily="34" charset="0"/>
                <a:ea typeface="Georgia" pitchFamily="34" charset="-122"/>
                <a:cs typeface="Georgia" pitchFamily="34" charset="-120"/>
              </a:rPr>
              <a:t> Pass ! </a:t>
            </a:r>
            <a:r>
              <a:rPr lang="en-US" sz="1600" i="1" dirty="0">
                <a:solidFill>
                  <a:srgbClr val="F2EEE6"/>
                </a:solidFill>
                <a:latin typeface="Georgia" pitchFamily="34" charset="0"/>
                <a:ea typeface="Georgia" pitchFamily="34" charset="-122"/>
                <a:cs typeface="Georgia" pitchFamily="34" charset="-120"/>
              </a:rPr>
              <a:t>helps bridge this gap.</a:t>
            </a:r>
            <a:endParaRPr lang="en-US" sz="1600" dirty="0"/>
          </a:p>
        </p:txBody>
      </p:sp>
      <p:pic>
        <p:nvPicPr>
          <p:cNvPr id="29" name="Image 5" descr="/home/claude/deck/img/opportunity.jpg"/>
          <p:cNvPicPr>
            <a:picLocks noChangeAspect="1"/>
          </p:cNvPicPr>
          <p:nvPr/>
        </p:nvPicPr>
        <p:blipFill>
          <a:blip r:embed="rId4"/>
          <a:srcRect/>
          <a:stretch/>
        </p:blipFill>
        <p:spPr>
          <a:xfrm>
            <a:off x="8229600" y="566928"/>
            <a:ext cx="3154680" cy="5724144"/>
          </a:xfrm>
          <a:prstGeom prst="rect">
            <a:avLst/>
          </a:prstGeom>
          <a:effectLst>
            <a:outerShdw blurRad="114300" dist="38100" dir="8100000" algn="bl" rotWithShape="0">
              <a:srgbClr val="000000">
                <a:alpha val="45000"/>
              </a:srgbClr>
            </a:outerShdw>
          </a:effectLst>
        </p:spPr>
      </p:pic>
      <p:sp>
        <p:nvSpPr>
          <p:cNvPr id="30" name="Shape 22"/>
          <p:cNvSpPr/>
          <p:nvPr/>
        </p:nvSpPr>
        <p:spPr>
          <a:xfrm>
            <a:off x="8229600" y="566928"/>
            <a:ext cx="3154680" cy="5724144"/>
          </a:xfrm>
          <a:prstGeom prst="rect">
            <a:avLst/>
          </a:prstGeom>
          <a:ln w="12700">
            <a:solidFill>
              <a:srgbClr val="C8A24A"/>
            </a:solidFill>
            <a:prstDash val="solid"/>
          </a:ln>
        </p:spPr>
        <p:txBody>
          <a:bodyPr/>
          <a:lstStyle/>
          <a:p>
            <a:endParaRPr lang="en-S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The Current Tourist Journey</a:t>
            </a:r>
            <a:endParaRPr lang="en-US" sz="3300" dirty="0"/>
          </a:p>
        </p:txBody>
      </p:sp>
      <p:sp>
        <p:nvSpPr>
          <p:cNvPr id="4" name="Shape 2"/>
          <p:cNvSpPr/>
          <p:nvPr/>
        </p:nvSpPr>
        <p:spPr>
          <a:xfrm>
            <a:off x="822960" y="1828800"/>
            <a:ext cx="5120640" cy="4023360"/>
          </a:xfrm>
          <a:prstGeom prst="roundRect">
            <a:avLst>
              <a:gd name="adj" fmla="val 1364"/>
            </a:avLst>
          </a:prstGeom>
          <a:solidFill>
            <a:srgbClr val="1C1F24"/>
          </a:solidFill>
          <a:ln w="12700">
            <a:solidFill>
              <a:srgbClr val="3A3E46"/>
            </a:solidFill>
            <a:prstDash val="solid"/>
          </a:ln>
        </p:spPr>
        <p:txBody>
          <a:bodyPr/>
          <a:lstStyle/>
          <a:p>
            <a:endParaRPr lang="en-US"/>
          </a:p>
        </p:txBody>
      </p:sp>
      <p:sp>
        <p:nvSpPr>
          <p:cNvPr id="5" name="Text 3"/>
          <p:cNvSpPr/>
          <p:nvPr/>
        </p:nvSpPr>
        <p:spPr>
          <a:xfrm>
            <a:off x="1097280" y="2057400"/>
            <a:ext cx="457200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A Fragmented Experience</a:t>
            </a:r>
            <a:endParaRPr lang="en-US" sz="1500" dirty="0"/>
          </a:p>
        </p:txBody>
      </p:sp>
      <p:sp>
        <p:nvSpPr>
          <p:cNvPr id="6" name="Shape 4"/>
          <p:cNvSpPr/>
          <p:nvPr/>
        </p:nvSpPr>
        <p:spPr>
          <a:xfrm>
            <a:off x="1097280" y="2697480"/>
            <a:ext cx="365760" cy="365760"/>
          </a:xfrm>
          <a:prstGeom prst="ellipse">
            <a:avLst/>
          </a:prstGeom>
          <a:solidFill>
            <a:srgbClr val="23272E"/>
          </a:solidFill>
          <a:ln w="15875">
            <a:solidFill>
              <a:srgbClr val="C8A24A"/>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199693" y="2799893"/>
            <a:ext cx="160934" cy="160934"/>
          </a:xfrm>
          <a:prstGeom prst="rect">
            <a:avLst/>
          </a:prstGeom>
        </p:spPr>
      </p:pic>
      <p:sp>
        <p:nvSpPr>
          <p:cNvPr id="8" name="Text 5"/>
          <p:cNvSpPr/>
          <p:nvPr/>
        </p:nvSpPr>
        <p:spPr>
          <a:xfrm>
            <a:off x="1627632" y="2697480"/>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Too many websites</a:t>
            </a:r>
            <a:endParaRPr lang="en-US" sz="1350" dirty="0"/>
          </a:p>
        </p:txBody>
      </p:sp>
      <p:sp>
        <p:nvSpPr>
          <p:cNvPr id="9" name="Shape 6"/>
          <p:cNvSpPr/>
          <p:nvPr/>
        </p:nvSpPr>
        <p:spPr>
          <a:xfrm>
            <a:off x="1097280" y="3300984"/>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0" name="Image 1" descr="preencoded.png"/>
          <p:cNvPicPr>
            <a:picLocks noChangeAspect="1"/>
          </p:cNvPicPr>
          <p:nvPr/>
        </p:nvPicPr>
        <p:blipFill>
          <a:blip r:embed="rId2"/>
          <a:stretch>
            <a:fillRect/>
          </a:stretch>
        </p:blipFill>
        <p:spPr>
          <a:xfrm>
            <a:off x="1199693" y="3403397"/>
            <a:ext cx="160934" cy="160934"/>
          </a:xfrm>
          <a:prstGeom prst="rect">
            <a:avLst/>
          </a:prstGeom>
        </p:spPr>
      </p:pic>
      <p:sp>
        <p:nvSpPr>
          <p:cNvPr id="11" name="Text 7"/>
          <p:cNvSpPr/>
          <p:nvPr/>
        </p:nvSpPr>
        <p:spPr>
          <a:xfrm>
            <a:off x="1627632" y="3300984"/>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Separate attraction tickets</a:t>
            </a:r>
            <a:endParaRPr lang="en-US" sz="1350" dirty="0"/>
          </a:p>
        </p:txBody>
      </p:sp>
      <p:sp>
        <p:nvSpPr>
          <p:cNvPr id="12" name="Shape 8"/>
          <p:cNvSpPr/>
          <p:nvPr/>
        </p:nvSpPr>
        <p:spPr>
          <a:xfrm>
            <a:off x="1097280" y="3904488"/>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3" name="Image 2" descr="preencoded.png"/>
          <p:cNvPicPr>
            <a:picLocks noChangeAspect="1"/>
          </p:cNvPicPr>
          <p:nvPr/>
        </p:nvPicPr>
        <p:blipFill>
          <a:blip r:embed="rId2"/>
          <a:stretch>
            <a:fillRect/>
          </a:stretch>
        </p:blipFill>
        <p:spPr>
          <a:xfrm>
            <a:off x="1199693" y="4006901"/>
            <a:ext cx="160934" cy="160934"/>
          </a:xfrm>
          <a:prstGeom prst="rect">
            <a:avLst/>
          </a:prstGeom>
        </p:spPr>
      </p:pic>
      <p:sp>
        <p:nvSpPr>
          <p:cNvPr id="14" name="Text 9"/>
          <p:cNvSpPr/>
          <p:nvPr/>
        </p:nvSpPr>
        <p:spPr>
          <a:xfrm>
            <a:off x="1627632" y="3904488"/>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Hard to discover hidden gems</a:t>
            </a:r>
            <a:endParaRPr lang="en-US" sz="1350" dirty="0"/>
          </a:p>
        </p:txBody>
      </p:sp>
      <p:sp>
        <p:nvSpPr>
          <p:cNvPr id="15" name="Shape 10"/>
          <p:cNvSpPr/>
          <p:nvPr/>
        </p:nvSpPr>
        <p:spPr>
          <a:xfrm>
            <a:off x="1097280" y="4507992"/>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6" name="Image 3" descr="preencoded.png"/>
          <p:cNvPicPr>
            <a:picLocks noChangeAspect="1"/>
          </p:cNvPicPr>
          <p:nvPr/>
        </p:nvPicPr>
        <p:blipFill>
          <a:blip r:embed="rId2"/>
          <a:stretch>
            <a:fillRect/>
          </a:stretch>
        </p:blipFill>
        <p:spPr>
          <a:xfrm>
            <a:off x="1199693" y="4610405"/>
            <a:ext cx="160934" cy="160934"/>
          </a:xfrm>
          <a:prstGeom prst="rect">
            <a:avLst/>
          </a:prstGeom>
        </p:spPr>
      </p:pic>
      <p:sp>
        <p:nvSpPr>
          <p:cNvPr id="17" name="Text 11"/>
          <p:cNvSpPr/>
          <p:nvPr/>
        </p:nvSpPr>
        <p:spPr>
          <a:xfrm>
            <a:off x="1627632" y="4507992"/>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Limited dining recommendations</a:t>
            </a:r>
            <a:endParaRPr lang="en-US" sz="1350" dirty="0"/>
          </a:p>
        </p:txBody>
      </p:sp>
      <p:sp>
        <p:nvSpPr>
          <p:cNvPr id="18" name="Shape 12"/>
          <p:cNvSpPr/>
          <p:nvPr/>
        </p:nvSpPr>
        <p:spPr>
          <a:xfrm>
            <a:off x="1097280" y="5111496"/>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9" name="Image 4" descr="preencoded.png"/>
          <p:cNvPicPr>
            <a:picLocks noChangeAspect="1"/>
          </p:cNvPicPr>
          <p:nvPr/>
        </p:nvPicPr>
        <p:blipFill>
          <a:blip r:embed="rId2"/>
          <a:stretch>
            <a:fillRect/>
          </a:stretch>
        </p:blipFill>
        <p:spPr>
          <a:xfrm>
            <a:off x="1199693" y="5213909"/>
            <a:ext cx="160934" cy="160934"/>
          </a:xfrm>
          <a:prstGeom prst="rect">
            <a:avLst/>
          </a:prstGeom>
        </p:spPr>
      </p:pic>
      <p:sp>
        <p:nvSpPr>
          <p:cNvPr id="20" name="Text 13"/>
          <p:cNvSpPr/>
          <p:nvPr/>
        </p:nvSpPr>
        <p:spPr>
          <a:xfrm>
            <a:off x="1627632" y="5111496"/>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No unified rewards system</a:t>
            </a:r>
            <a:endParaRPr lang="en-US" sz="1350" dirty="0"/>
          </a:p>
        </p:txBody>
      </p:sp>
      <p:sp>
        <p:nvSpPr>
          <p:cNvPr id="21" name="Text 14"/>
          <p:cNvSpPr/>
          <p:nvPr/>
        </p:nvSpPr>
        <p:spPr>
          <a:xfrm>
            <a:off x="6400800" y="1828800"/>
            <a:ext cx="493776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Four Disconnected Tools</a:t>
            </a:r>
            <a:endParaRPr lang="en-US" sz="1500" dirty="0"/>
          </a:p>
        </p:txBody>
      </p:sp>
      <p:sp>
        <p:nvSpPr>
          <p:cNvPr id="22" name="Shape 15"/>
          <p:cNvSpPr/>
          <p:nvPr/>
        </p:nvSpPr>
        <p:spPr>
          <a:xfrm>
            <a:off x="6446520" y="2194560"/>
            <a:ext cx="2377440" cy="1417320"/>
          </a:xfrm>
          <a:prstGeom prst="roundRect">
            <a:avLst>
              <a:gd name="adj" fmla="val 3871"/>
            </a:avLst>
          </a:prstGeom>
          <a:solidFill>
            <a:srgbClr val="1C1F24"/>
          </a:solidFill>
          <a:ln w="12700">
            <a:solidFill>
              <a:srgbClr val="3A3E46"/>
            </a:solidFill>
            <a:prstDash val="solid"/>
          </a:ln>
        </p:spPr>
        <p:txBody>
          <a:bodyPr/>
          <a:lstStyle/>
          <a:p>
            <a:endParaRPr lang="en-US" dirty="0"/>
          </a:p>
        </p:txBody>
      </p:sp>
      <p:sp>
        <p:nvSpPr>
          <p:cNvPr id="23" name="Shape 16"/>
          <p:cNvSpPr/>
          <p:nvPr/>
        </p:nvSpPr>
        <p:spPr>
          <a:xfrm>
            <a:off x="6629400" y="256032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24" name="Image 5" descr="preencoded.png"/>
          <p:cNvPicPr>
            <a:picLocks noChangeAspect="1"/>
          </p:cNvPicPr>
          <p:nvPr/>
        </p:nvPicPr>
        <p:blipFill>
          <a:blip r:embed="rId3"/>
          <a:stretch>
            <a:fillRect/>
          </a:stretch>
        </p:blipFill>
        <p:spPr>
          <a:xfrm>
            <a:off x="6757416" y="2688336"/>
            <a:ext cx="201168" cy="201168"/>
          </a:xfrm>
          <a:prstGeom prst="rect">
            <a:avLst/>
          </a:prstGeom>
        </p:spPr>
      </p:pic>
      <p:sp>
        <p:nvSpPr>
          <p:cNvPr id="25" name="Text 17"/>
          <p:cNvSpPr/>
          <p:nvPr/>
        </p:nvSpPr>
        <p:spPr>
          <a:xfrm>
            <a:off x="6601968" y="3172968"/>
            <a:ext cx="2011680" cy="457200"/>
          </a:xfrm>
          <a:prstGeom prst="rect">
            <a:avLst/>
          </a:prstGeom>
          <a:noFill/>
          <a:ln/>
        </p:spPr>
        <p:txBody>
          <a:bodyPr wrap="square" lIns="0" tIns="0" rIns="0" bIns="0" rtlCol="0" anchor="ctr"/>
          <a:lstStyle/>
          <a:p>
            <a:pPr marL="0" indent="0" algn="ctr">
              <a:buNone/>
            </a:pPr>
            <a:r>
              <a:rPr lang="en-US" sz="1250" b="1" dirty="0">
                <a:solidFill>
                  <a:srgbClr val="F2EEE6"/>
                </a:solidFill>
                <a:latin typeface="Calibri" pitchFamily="34" charset="0"/>
                <a:ea typeface="Calibri" pitchFamily="34" charset="-122"/>
                <a:cs typeface="Calibri" pitchFamily="34" charset="-120"/>
              </a:rPr>
              <a:t>Attraction</a:t>
            </a:r>
            <a:r>
              <a:rPr lang="th-TH" sz="1250" b="1" dirty="0" err="1">
                <a:solidFill>
                  <a:srgbClr val="F2EEE6"/>
                </a:solidFill>
                <a:latin typeface="Calibri" pitchFamily="34" charset="0"/>
                <a:ea typeface="Calibri" pitchFamily="34" charset="-122"/>
                <a:cs typeface="Calibri" pitchFamily="34" charset="-120"/>
              </a:rPr>
              <a:t>s</a:t>
            </a:r>
            <a:r>
              <a:rPr lang="th-TH" sz="1250" b="1" dirty="0">
                <a:solidFill>
                  <a:srgbClr val="F2EEE6"/>
                </a:solidFill>
                <a:latin typeface="Calibri" pitchFamily="34" charset="0"/>
                <a:ea typeface="Calibri" pitchFamily="34" charset="-122"/>
                <a:cs typeface="Calibri" pitchFamily="34" charset="-120"/>
              </a:rPr>
              <a:t> &amp; </a:t>
            </a:r>
            <a:r>
              <a:rPr lang="th-TH" sz="1250" b="1" dirty="0" err="1">
                <a:solidFill>
                  <a:srgbClr val="F2EEE6"/>
                </a:solidFill>
                <a:latin typeface="Calibri" pitchFamily="34" charset="0"/>
                <a:ea typeface="Calibri" pitchFamily="34" charset="-122"/>
                <a:cs typeface="Calibri" pitchFamily="34" charset="-120"/>
              </a:rPr>
              <a:t>Experiences</a:t>
            </a:r>
            <a:r>
              <a:rPr lang="th-TH" sz="1250" b="1" dirty="0">
                <a:solidFill>
                  <a:srgbClr val="F2EEE6"/>
                </a:solidFill>
                <a:latin typeface="Calibri" pitchFamily="34" charset="0"/>
                <a:ea typeface="Calibri" pitchFamily="34" charset="-122"/>
                <a:cs typeface="Calibri" pitchFamily="34" charset="-120"/>
              </a:rPr>
              <a:t> </a:t>
            </a:r>
            <a:endParaRPr lang="en-US" sz="1250" dirty="0"/>
          </a:p>
        </p:txBody>
      </p:sp>
      <p:sp>
        <p:nvSpPr>
          <p:cNvPr id="26" name="Shape 18"/>
          <p:cNvSpPr/>
          <p:nvPr/>
        </p:nvSpPr>
        <p:spPr>
          <a:xfrm>
            <a:off x="9052560" y="2168882"/>
            <a:ext cx="2377440" cy="1417320"/>
          </a:xfrm>
          <a:prstGeom prst="roundRect">
            <a:avLst>
              <a:gd name="adj" fmla="val 3871"/>
            </a:avLst>
          </a:prstGeom>
          <a:solidFill>
            <a:srgbClr val="1C1F24"/>
          </a:solidFill>
          <a:ln w="12700">
            <a:solidFill>
              <a:srgbClr val="3A3E46"/>
            </a:solidFill>
            <a:prstDash val="solid"/>
          </a:ln>
        </p:spPr>
        <p:txBody>
          <a:bodyPr/>
          <a:lstStyle/>
          <a:p>
            <a:endParaRPr lang="en-US" dirty="0"/>
          </a:p>
        </p:txBody>
      </p:sp>
      <p:sp>
        <p:nvSpPr>
          <p:cNvPr id="27" name="Shape 19"/>
          <p:cNvSpPr/>
          <p:nvPr/>
        </p:nvSpPr>
        <p:spPr>
          <a:xfrm>
            <a:off x="9281160" y="256032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28" name="Image 6" descr="preencoded.png"/>
          <p:cNvPicPr>
            <a:picLocks noChangeAspect="1"/>
          </p:cNvPicPr>
          <p:nvPr/>
        </p:nvPicPr>
        <p:blipFill>
          <a:blip r:embed="rId4"/>
          <a:stretch>
            <a:fillRect/>
          </a:stretch>
        </p:blipFill>
        <p:spPr>
          <a:xfrm>
            <a:off x="9409176" y="2688336"/>
            <a:ext cx="201168" cy="201168"/>
          </a:xfrm>
          <a:prstGeom prst="rect">
            <a:avLst/>
          </a:prstGeom>
        </p:spPr>
      </p:pic>
      <p:sp>
        <p:nvSpPr>
          <p:cNvPr id="29" name="Text 20"/>
          <p:cNvSpPr/>
          <p:nvPr/>
        </p:nvSpPr>
        <p:spPr>
          <a:xfrm>
            <a:off x="9253728" y="3172968"/>
            <a:ext cx="2011680" cy="457200"/>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Dinning Privilege Benefit &amp; Restaurant reservations</a:t>
            </a:r>
            <a:endParaRPr lang="en-US" sz="1250" dirty="0"/>
          </a:p>
        </p:txBody>
      </p:sp>
      <p:sp>
        <p:nvSpPr>
          <p:cNvPr id="30" name="Shape 21"/>
          <p:cNvSpPr/>
          <p:nvPr/>
        </p:nvSpPr>
        <p:spPr>
          <a:xfrm>
            <a:off x="6400800" y="4023360"/>
            <a:ext cx="2377440" cy="1417320"/>
          </a:xfrm>
          <a:prstGeom prst="roundRect">
            <a:avLst>
              <a:gd name="adj" fmla="val 3871"/>
            </a:avLst>
          </a:prstGeom>
          <a:solidFill>
            <a:srgbClr val="1C1F24"/>
          </a:solidFill>
          <a:ln w="12700">
            <a:solidFill>
              <a:srgbClr val="3A3E46"/>
            </a:solidFill>
            <a:prstDash val="solid"/>
          </a:ln>
        </p:spPr>
        <p:txBody>
          <a:bodyPr/>
          <a:lstStyle/>
          <a:p>
            <a:endParaRPr lang="en-US" dirty="0"/>
          </a:p>
        </p:txBody>
      </p:sp>
      <p:sp>
        <p:nvSpPr>
          <p:cNvPr id="31" name="Shape 22"/>
          <p:cNvSpPr/>
          <p:nvPr/>
        </p:nvSpPr>
        <p:spPr>
          <a:xfrm>
            <a:off x="6629400" y="425196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32" name="Image 7" descr="preencoded.png"/>
          <p:cNvPicPr>
            <a:picLocks noChangeAspect="1"/>
          </p:cNvPicPr>
          <p:nvPr/>
        </p:nvPicPr>
        <p:blipFill>
          <a:blip r:embed="rId5"/>
          <a:stretch>
            <a:fillRect/>
          </a:stretch>
        </p:blipFill>
        <p:spPr>
          <a:xfrm>
            <a:off x="6757416" y="4379976"/>
            <a:ext cx="201168" cy="201168"/>
          </a:xfrm>
          <a:prstGeom prst="rect">
            <a:avLst/>
          </a:prstGeom>
        </p:spPr>
      </p:pic>
      <p:sp>
        <p:nvSpPr>
          <p:cNvPr id="33" name="Text 23"/>
          <p:cNvSpPr/>
          <p:nvPr/>
        </p:nvSpPr>
        <p:spPr>
          <a:xfrm>
            <a:off x="6601968" y="4864608"/>
            <a:ext cx="2011680" cy="457200"/>
          </a:xfrm>
          <a:prstGeom prst="rect">
            <a:avLst/>
          </a:prstGeom>
          <a:noFill/>
          <a:ln/>
        </p:spPr>
        <p:txBody>
          <a:bodyPr wrap="square" lIns="0" tIns="0" rIns="0" bIns="0" rtlCol="0" anchor="ctr"/>
          <a:lstStyle/>
          <a:p>
            <a:pPr marL="0" indent="0">
              <a:buNone/>
            </a:pPr>
            <a:r>
              <a:rPr lang="th-TH" sz="1250" b="1" dirty="0" err="1">
                <a:solidFill>
                  <a:srgbClr val="F2EEE6"/>
                </a:solidFill>
                <a:latin typeface="Calibri" pitchFamily="34" charset="0"/>
              </a:rPr>
              <a:t>Ride</a:t>
            </a:r>
            <a:r>
              <a:rPr lang="th-TH" sz="1250" b="1" dirty="0">
                <a:solidFill>
                  <a:srgbClr val="F2EEE6"/>
                </a:solidFill>
                <a:latin typeface="Calibri" pitchFamily="34" charset="0"/>
              </a:rPr>
              <a:t> and Transfer Service </a:t>
            </a:r>
            <a:endParaRPr lang="en-US" sz="1250" dirty="0"/>
          </a:p>
        </p:txBody>
      </p:sp>
      <p:sp>
        <p:nvSpPr>
          <p:cNvPr id="34" name="Shape 24"/>
          <p:cNvSpPr/>
          <p:nvPr/>
        </p:nvSpPr>
        <p:spPr>
          <a:xfrm>
            <a:off x="9052560" y="4023360"/>
            <a:ext cx="2377440" cy="1417320"/>
          </a:xfrm>
          <a:prstGeom prst="roundRect">
            <a:avLst>
              <a:gd name="adj" fmla="val 3871"/>
            </a:avLst>
          </a:prstGeom>
          <a:solidFill>
            <a:srgbClr val="1C1F24"/>
          </a:solidFill>
          <a:ln w="12700">
            <a:solidFill>
              <a:srgbClr val="3A3E46"/>
            </a:solidFill>
            <a:prstDash val="solid"/>
          </a:ln>
        </p:spPr>
        <p:txBody>
          <a:bodyPr/>
          <a:lstStyle/>
          <a:p>
            <a:endParaRPr lang="en-US"/>
          </a:p>
        </p:txBody>
      </p:sp>
      <p:sp>
        <p:nvSpPr>
          <p:cNvPr id="35" name="Shape 25"/>
          <p:cNvSpPr/>
          <p:nvPr/>
        </p:nvSpPr>
        <p:spPr>
          <a:xfrm>
            <a:off x="9281160" y="425196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36" name="Image 8" descr="preencoded.png"/>
          <p:cNvPicPr>
            <a:picLocks noChangeAspect="1"/>
          </p:cNvPicPr>
          <p:nvPr/>
        </p:nvPicPr>
        <p:blipFill>
          <a:blip r:embed="rId6"/>
          <a:stretch>
            <a:fillRect/>
          </a:stretch>
        </p:blipFill>
        <p:spPr>
          <a:xfrm>
            <a:off x="9409176" y="4379976"/>
            <a:ext cx="201168" cy="201168"/>
          </a:xfrm>
          <a:prstGeom prst="rect">
            <a:avLst/>
          </a:prstGeom>
        </p:spPr>
      </p:pic>
      <p:sp>
        <p:nvSpPr>
          <p:cNvPr id="37" name="Text 26"/>
          <p:cNvSpPr/>
          <p:nvPr/>
        </p:nvSpPr>
        <p:spPr>
          <a:xfrm>
            <a:off x="9253728" y="4864608"/>
            <a:ext cx="2011680" cy="457200"/>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Partners Exclusive Benefit </a:t>
            </a:r>
            <a:endParaRPr lang="en-US" sz="1250" dirty="0"/>
          </a:p>
        </p:txBody>
      </p:sp>
      <p:sp>
        <p:nvSpPr>
          <p:cNvPr id="38" name="Text 27"/>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39" name="Text 28"/>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17</a:t>
            </a:r>
            <a:endParaRPr lang="en-US" sz="1000" dirty="0"/>
          </a:p>
        </p:txBody>
      </p:sp>
      <p:sp>
        <p:nvSpPr>
          <p:cNvPr id="40" name="Rectangle 1">
            <a:extLst>
              <a:ext uri="{FF2B5EF4-FFF2-40B4-BE49-F238E27FC236}">
                <a16:creationId xmlns:a16="http://schemas.microsoft.com/office/drawing/2014/main" id="{45DAFFBC-D60C-CEEB-B2AB-A3CD3AD1FA5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Arial" panose="020B0604020202020204" pitchFamily="34" charset="0"/>
              </a:rPr>
              <a:t>Attractions &amp; Experiences</a:t>
            </a:r>
            <a:r>
              <a:rPr kumimoji="0" lang="en-US" altLang="en-US" sz="1800" b="0" i="0" u="none" strike="noStrike" cap="none" normalizeH="0" baseline="0">
                <a:ln>
                  <a:noFill/>
                </a:ln>
                <a:solidFill>
                  <a:srgbClr val="000000"/>
                </a:solidFill>
                <a:effectLst/>
                <a:latin typeface="-webkit-standard"/>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121316"/>
        </a:solidFill>
        <a:effectLst/>
      </p:bgPr>
    </p:bg>
    <p:spTree>
      <p:nvGrpSpPr>
        <p:cNvPr id="1" name=""/>
        <p:cNvGrpSpPr/>
        <p:nvPr/>
      </p:nvGrpSpPr>
      <p:grpSpPr>
        <a:xfrm>
          <a:off x="0" y="0"/>
          <a:ext cx="0" cy="0"/>
          <a:chOff x="0" y="0"/>
          <a:chExt cx="0" cy="0"/>
        </a:xfrm>
      </p:grpSpPr>
      <p:pic>
        <p:nvPicPr>
          <p:cNvPr id="2" name="Image 0" descr="/home/claude/deck/img/vision.jpg"/>
          <p:cNvPicPr>
            <a:picLocks noChangeAspect="1"/>
          </p:cNvPicPr>
          <p:nvPr/>
        </p:nvPicPr>
        <p:blipFill>
          <a:blip r:embed="rId3"/>
          <a:srcRect/>
          <a:stretch/>
        </p:blipFill>
        <p:spPr>
          <a:xfrm>
            <a:off x="0" y="0"/>
            <a:ext cx="12191695" cy="6858000"/>
          </a:xfrm>
          <a:prstGeom prst="rect">
            <a:avLst/>
          </a:prstGeom>
        </p:spPr>
      </p:pic>
      <p:sp>
        <p:nvSpPr>
          <p:cNvPr id="3" name="Text 0"/>
          <p:cNvSpPr/>
          <p:nvPr/>
        </p:nvSpPr>
        <p:spPr>
          <a:xfrm>
            <a:off x="822960" y="777240"/>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OUR VISION</a:t>
            </a:r>
            <a:endParaRPr lang="en-US" sz="1150" dirty="0"/>
          </a:p>
        </p:txBody>
      </p:sp>
      <p:sp>
        <p:nvSpPr>
          <p:cNvPr id="4" name="Text 1"/>
          <p:cNvSpPr/>
          <p:nvPr/>
        </p:nvSpPr>
        <p:spPr>
          <a:xfrm>
            <a:off x="777240" y="1097280"/>
            <a:ext cx="10058400" cy="1280160"/>
          </a:xfrm>
          <a:prstGeom prst="rect">
            <a:avLst/>
          </a:prstGeom>
          <a:noFill/>
          <a:ln/>
        </p:spPr>
        <p:txBody>
          <a:bodyPr wrap="square" lIns="0" tIns="0" rIns="0" bIns="0" rtlCol="0" anchor="ctr"/>
          <a:lstStyle/>
          <a:p>
            <a:pPr marL="0" indent="0">
              <a:buNone/>
            </a:pPr>
            <a:r>
              <a:rPr lang="en-US" sz="3800" b="1" dirty="0">
                <a:solidFill>
                  <a:srgbClr val="F2EEE6"/>
                </a:solidFill>
                <a:latin typeface="Georgia" pitchFamily="34" charset="0"/>
                <a:ea typeface="Georgia" pitchFamily="34" charset="-122"/>
                <a:cs typeface="Georgia" pitchFamily="34" charset="-120"/>
              </a:rPr>
              <a:t>Building Singapore's leading</a:t>
            </a:r>
            <a:endParaRPr lang="en-US" sz="3800" dirty="0"/>
          </a:p>
          <a:p>
            <a:pPr marL="0" indent="0">
              <a:buNone/>
            </a:pPr>
            <a:r>
              <a:rPr lang="en-US" sz="3800" b="1" dirty="0">
                <a:solidFill>
                  <a:srgbClr val="F2EEE6"/>
                </a:solidFill>
                <a:latin typeface="Georgia" pitchFamily="34" charset="0"/>
                <a:ea typeface="Georgia" pitchFamily="34" charset="-122"/>
                <a:cs typeface="Georgia" pitchFamily="34" charset="-120"/>
              </a:rPr>
              <a:t>experience platform</a:t>
            </a:r>
            <a:endParaRPr lang="en-US" sz="3800" dirty="0"/>
          </a:p>
        </p:txBody>
      </p:sp>
      <p:sp>
        <p:nvSpPr>
          <p:cNvPr id="5" name="Shape 2"/>
          <p:cNvSpPr/>
          <p:nvPr/>
        </p:nvSpPr>
        <p:spPr>
          <a:xfrm>
            <a:off x="822960" y="3291840"/>
            <a:ext cx="3383280" cy="1828800"/>
          </a:xfrm>
          <a:prstGeom prst="rect">
            <a:avLst/>
          </a:prstGeom>
          <a:solidFill>
            <a:srgbClr val="1C1F24">
              <a:alpha val="88000"/>
            </a:srgbClr>
          </a:solidFill>
          <a:ln w="12700">
            <a:solidFill>
              <a:srgbClr val="C8A24A"/>
            </a:solidFill>
            <a:prstDash val="solid"/>
          </a:ln>
        </p:spPr>
        <p:txBody>
          <a:bodyPr/>
          <a:lstStyle/>
          <a:p>
            <a:endParaRPr lang="en-SG"/>
          </a:p>
        </p:txBody>
      </p:sp>
      <p:sp>
        <p:nvSpPr>
          <p:cNvPr id="6" name="Shape 3"/>
          <p:cNvSpPr/>
          <p:nvPr/>
        </p:nvSpPr>
        <p:spPr>
          <a:xfrm>
            <a:off x="1097280" y="3602736"/>
            <a:ext cx="603504" cy="603504"/>
          </a:xfrm>
          <a:prstGeom prst="ellipse">
            <a:avLst/>
          </a:prstGeom>
          <a:solidFill>
            <a:srgbClr val="23272E"/>
          </a:solidFill>
          <a:ln w="15875">
            <a:solidFill>
              <a:srgbClr val="C8A24A"/>
            </a:solidFill>
            <a:prstDash val="solid"/>
          </a:ln>
        </p:spPr>
        <p:txBody>
          <a:bodyPr/>
          <a:lstStyle/>
          <a:p>
            <a:endParaRPr lang="en-SG"/>
          </a:p>
        </p:txBody>
      </p:sp>
      <p:pic>
        <p:nvPicPr>
          <p:cNvPr id="7" name="Image 1" descr="preencoded.png"/>
          <p:cNvPicPr>
            <a:picLocks noChangeAspect="1"/>
          </p:cNvPicPr>
          <p:nvPr/>
        </p:nvPicPr>
        <p:blipFill>
          <a:blip r:embed="rId4"/>
          <a:stretch>
            <a:fillRect/>
          </a:stretch>
        </p:blipFill>
        <p:spPr>
          <a:xfrm>
            <a:off x="1266261" y="3771717"/>
            <a:ext cx="265542" cy="265542"/>
          </a:xfrm>
          <a:prstGeom prst="rect">
            <a:avLst/>
          </a:prstGeom>
        </p:spPr>
      </p:pic>
      <p:sp>
        <p:nvSpPr>
          <p:cNvPr id="8" name="Text 4"/>
          <p:cNvSpPr/>
          <p:nvPr/>
        </p:nvSpPr>
        <p:spPr>
          <a:xfrm>
            <a:off x="1847088" y="3584448"/>
            <a:ext cx="2240280" cy="457200"/>
          </a:xfrm>
          <a:prstGeom prst="rect">
            <a:avLst/>
          </a:prstGeom>
          <a:noFill/>
          <a:ln/>
        </p:spPr>
        <p:txBody>
          <a:bodyPr wrap="square" lIns="0" tIns="0" rIns="0" bIns="0" rtlCol="0" anchor="ctr"/>
          <a:lstStyle/>
          <a:p>
            <a:pPr marL="0" indent="0">
              <a:buNone/>
            </a:pPr>
            <a:r>
              <a:rPr lang="en-US" sz="2300" b="1" dirty="0">
                <a:solidFill>
                  <a:srgbClr val="E6CE8F"/>
                </a:solidFill>
                <a:latin typeface="Georgia" pitchFamily="34" charset="0"/>
                <a:ea typeface="Georgia" pitchFamily="34" charset="-122"/>
                <a:cs typeface="Georgia" pitchFamily="34" charset="-120"/>
              </a:rPr>
              <a:t>Taste</a:t>
            </a:r>
            <a:endParaRPr lang="en-US" sz="2300" dirty="0"/>
          </a:p>
        </p:txBody>
      </p:sp>
      <p:sp>
        <p:nvSpPr>
          <p:cNvPr id="9" name="Text 5"/>
          <p:cNvSpPr/>
          <p:nvPr/>
        </p:nvSpPr>
        <p:spPr>
          <a:xfrm>
            <a:off x="1865376" y="4069080"/>
            <a:ext cx="2194560" cy="365760"/>
          </a:xfrm>
          <a:prstGeom prst="rect">
            <a:avLst/>
          </a:prstGeom>
          <a:noFill/>
          <a:ln/>
        </p:spPr>
        <p:txBody>
          <a:bodyPr wrap="square" lIns="0" tIns="0" rIns="0" bIns="0" rtlCol="0" anchor="ctr"/>
          <a:lstStyle/>
          <a:p>
            <a:pPr marL="0" indent="0">
              <a:buNone/>
            </a:pPr>
            <a:r>
              <a:rPr lang="en-US" sz="1400" kern="0" spc="100" dirty="0">
                <a:solidFill>
                  <a:srgbClr val="F2EEE6"/>
                </a:solidFill>
                <a:latin typeface="Calibri" pitchFamily="34" charset="0"/>
                <a:cs typeface="Calibri" pitchFamily="34" charset="-120"/>
              </a:rPr>
              <a:t>Asia </a:t>
            </a:r>
            <a:endParaRPr lang="en-US" sz="1400" dirty="0"/>
          </a:p>
        </p:txBody>
      </p:sp>
      <p:sp>
        <p:nvSpPr>
          <p:cNvPr id="10" name="Text 6"/>
          <p:cNvSpPr/>
          <p:nvPr/>
        </p:nvSpPr>
        <p:spPr>
          <a:xfrm>
            <a:off x="1115568" y="4590288"/>
            <a:ext cx="2834640" cy="365760"/>
          </a:xfrm>
          <a:prstGeom prst="rect">
            <a:avLst/>
          </a:prstGeom>
          <a:noFill/>
          <a:ln/>
        </p:spPr>
        <p:txBody>
          <a:bodyPr wrap="square" lIns="0" tIns="0" rIns="0" bIns="0" rtlCol="0" anchor="ctr"/>
          <a:lstStyle/>
          <a:p>
            <a:pPr marL="0" indent="0">
              <a:buNone/>
            </a:pPr>
            <a:r>
              <a:rPr lang="en-US" sz="1100" i="1" dirty="0">
                <a:solidFill>
                  <a:srgbClr val="A7A296"/>
                </a:solidFill>
                <a:latin typeface="Calibri" pitchFamily="34" charset="0"/>
                <a:ea typeface="Calibri" pitchFamily="34" charset="-122"/>
                <a:cs typeface="Calibri" pitchFamily="34" charset="-120"/>
              </a:rPr>
              <a:t>All through one seamless ecosystem.</a:t>
            </a:r>
            <a:endParaRPr lang="en-US" sz="1100" dirty="0"/>
          </a:p>
        </p:txBody>
      </p:sp>
      <p:sp>
        <p:nvSpPr>
          <p:cNvPr id="11" name="Shape 7"/>
          <p:cNvSpPr/>
          <p:nvPr/>
        </p:nvSpPr>
        <p:spPr>
          <a:xfrm>
            <a:off x="4480560" y="3291840"/>
            <a:ext cx="3383280" cy="1828800"/>
          </a:xfrm>
          <a:prstGeom prst="rect">
            <a:avLst/>
          </a:prstGeom>
          <a:solidFill>
            <a:srgbClr val="1C1F24">
              <a:alpha val="88000"/>
            </a:srgbClr>
          </a:solidFill>
          <a:ln w="12700">
            <a:solidFill>
              <a:srgbClr val="C8A24A"/>
            </a:solidFill>
            <a:prstDash val="solid"/>
          </a:ln>
        </p:spPr>
        <p:txBody>
          <a:bodyPr/>
          <a:lstStyle/>
          <a:p>
            <a:endParaRPr lang="en-SG"/>
          </a:p>
        </p:txBody>
      </p:sp>
      <p:sp>
        <p:nvSpPr>
          <p:cNvPr id="12" name="Shape 8"/>
          <p:cNvSpPr/>
          <p:nvPr/>
        </p:nvSpPr>
        <p:spPr>
          <a:xfrm>
            <a:off x="4754880" y="3602736"/>
            <a:ext cx="603504" cy="603504"/>
          </a:xfrm>
          <a:prstGeom prst="ellipse">
            <a:avLst/>
          </a:prstGeom>
          <a:solidFill>
            <a:srgbClr val="23272E"/>
          </a:solidFill>
          <a:ln w="15875">
            <a:solidFill>
              <a:srgbClr val="C8A24A"/>
            </a:solidFill>
            <a:prstDash val="solid"/>
          </a:ln>
        </p:spPr>
        <p:txBody>
          <a:bodyPr/>
          <a:lstStyle/>
          <a:p>
            <a:endParaRPr lang="en-SG"/>
          </a:p>
        </p:txBody>
      </p:sp>
      <p:pic>
        <p:nvPicPr>
          <p:cNvPr id="13" name="Image 2" descr="preencoded.png"/>
          <p:cNvPicPr>
            <a:picLocks noChangeAspect="1"/>
          </p:cNvPicPr>
          <p:nvPr/>
        </p:nvPicPr>
        <p:blipFill>
          <a:blip r:embed="rId5"/>
          <a:stretch>
            <a:fillRect/>
          </a:stretch>
        </p:blipFill>
        <p:spPr>
          <a:xfrm>
            <a:off x="4923861" y="3771717"/>
            <a:ext cx="265542" cy="265542"/>
          </a:xfrm>
          <a:prstGeom prst="rect">
            <a:avLst/>
          </a:prstGeom>
        </p:spPr>
      </p:pic>
      <p:sp>
        <p:nvSpPr>
          <p:cNvPr id="14" name="Text 9"/>
          <p:cNvSpPr/>
          <p:nvPr/>
        </p:nvSpPr>
        <p:spPr>
          <a:xfrm>
            <a:off x="5504688" y="3584448"/>
            <a:ext cx="2240280" cy="457200"/>
          </a:xfrm>
          <a:prstGeom prst="rect">
            <a:avLst/>
          </a:prstGeom>
          <a:noFill/>
          <a:ln/>
        </p:spPr>
        <p:txBody>
          <a:bodyPr wrap="square" lIns="0" tIns="0" rIns="0" bIns="0" rtlCol="0" anchor="ctr"/>
          <a:lstStyle/>
          <a:p>
            <a:pPr marL="0" indent="0">
              <a:buNone/>
            </a:pPr>
            <a:r>
              <a:rPr lang="en-US" sz="2300" b="1" dirty="0">
                <a:solidFill>
                  <a:srgbClr val="E6CE8F"/>
                </a:solidFill>
                <a:latin typeface="Georgia" pitchFamily="34" charset="0"/>
                <a:ea typeface="Georgia" pitchFamily="34" charset="-122"/>
                <a:cs typeface="Georgia" pitchFamily="34" charset="-120"/>
              </a:rPr>
              <a:t>Discover</a:t>
            </a:r>
            <a:endParaRPr lang="en-US" sz="2300" dirty="0"/>
          </a:p>
        </p:txBody>
      </p:sp>
      <p:sp>
        <p:nvSpPr>
          <p:cNvPr id="15" name="Text 10"/>
          <p:cNvSpPr/>
          <p:nvPr/>
        </p:nvSpPr>
        <p:spPr>
          <a:xfrm>
            <a:off x="5522976" y="4069080"/>
            <a:ext cx="2194560" cy="365760"/>
          </a:xfrm>
          <a:prstGeom prst="rect">
            <a:avLst/>
          </a:prstGeom>
          <a:noFill/>
          <a:ln/>
        </p:spPr>
        <p:txBody>
          <a:bodyPr wrap="square" lIns="0" tIns="0" rIns="0" bIns="0" rtlCol="0" anchor="ctr"/>
          <a:lstStyle/>
          <a:p>
            <a:pPr marL="0" indent="0">
              <a:buNone/>
            </a:pPr>
            <a:r>
              <a:rPr lang="en-US" sz="1400" kern="0" spc="100" dirty="0">
                <a:solidFill>
                  <a:srgbClr val="F2EEE6"/>
                </a:solidFill>
                <a:latin typeface="Calibri" pitchFamily="34" charset="0"/>
                <a:cs typeface="Calibri" pitchFamily="34" charset="-120"/>
              </a:rPr>
              <a:t>Asia </a:t>
            </a:r>
            <a:endParaRPr lang="en-US" sz="1400" dirty="0"/>
          </a:p>
        </p:txBody>
      </p:sp>
      <p:sp>
        <p:nvSpPr>
          <p:cNvPr id="16" name="Text 11"/>
          <p:cNvSpPr/>
          <p:nvPr/>
        </p:nvSpPr>
        <p:spPr>
          <a:xfrm>
            <a:off x="4773168" y="4590288"/>
            <a:ext cx="2834640" cy="365760"/>
          </a:xfrm>
          <a:prstGeom prst="rect">
            <a:avLst/>
          </a:prstGeom>
          <a:noFill/>
          <a:ln/>
        </p:spPr>
        <p:txBody>
          <a:bodyPr wrap="square" lIns="0" tIns="0" rIns="0" bIns="0" rtlCol="0" anchor="ctr"/>
          <a:lstStyle/>
          <a:p>
            <a:pPr marL="0" indent="0">
              <a:buNone/>
            </a:pPr>
            <a:r>
              <a:rPr lang="en-US" sz="1100" i="1" dirty="0">
                <a:solidFill>
                  <a:srgbClr val="A7A296"/>
                </a:solidFill>
                <a:latin typeface="Calibri" pitchFamily="34" charset="0"/>
                <a:ea typeface="Calibri" pitchFamily="34" charset="-122"/>
                <a:cs typeface="Calibri" pitchFamily="34" charset="-120"/>
              </a:rPr>
              <a:t>All through one seamless ecosystem.</a:t>
            </a:r>
            <a:endParaRPr lang="en-US" sz="1100" dirty="0"/>
          </a:p>
        </p:txBody>
      </p:sp>
      <p:sp>
        <p:nvSpPr>
          <p:cNvPr id="17" name="Shape 12"/>
          <p:cNvSpPr/>
          <p:nvPr/>
        </p:nvSpPr>
        <p:spPr>
          <a:xfrm>
            <a:off x="8138160" y="3304366"/>
            <a:ext cx="3383280" cy="1828800"/>
          </a:xfrm>
          <a:prstGeom prst="rect">
            <a:avLst/>
          </a:prstGeom>
          <a:solidFill>
            <a:srgbClr val="1C1F24">
              <a:alpha val="88000"/>
            </a:srgbClr>
          </a:solidFill>
          <a:ln w="12700">
            <a:solidFill>
              <a:srgbClr val="C8A24A"/>
            </a:solidFill>
            <a:prstDash val="solid"/>
          </a:ln>
        </p:spPr>
        <p:txBody>
          <a:bodyPr/>
          <a:lstStyle/>
          <a:p>
            <a:endParaRPr lang="en-SG"/>
          </a:p>
        </p:txBody>
      </p:sp>
      <p:sp>
        <p:nvSpPr>
          <p:cNvPr id="18" name="Shape 13"/>
          <p:cNvSpPr/>
          <p:nvPr/>
        </p:nvSpPr>
        <p:spPr>
          <a:xfrm>
            <a:off x="8412480" y="3602736"/>
            <a:ext cx="603504" cy="603504"/>
          </a:xfrm>
          <a:prstGeom prst="ellipse">
            <a:avLst/>
          </a:prstGeom>
          <a:solidFill>
            <a:srgbClr val="23272E"/>
          </a:solidFill>
          <a:ln w="15875">
            <a:solidFill>
              <a:srgbClr val="C8A24A"/>
            </a:solidFill>
            <a:prstDash val="solid"/>
          </a:ln>
        </p:spPr>
        <p:txBody>
          <a:bodyPr/>
          <a:lstStyle/>
          <a:p>
            <a:endParaRPr lang="en-SG"/>
          </a:p>
        </p:txBody>
      </p:sp>
      <p:pic>
        <p:nvPicPr>
          <p:cNvPr id="19" name="Image 3" descr="preencoded.png"/>
          <p:cNvPicPr>
            <a:picLocks noChangeAspect="1"/>
          </p:cNvPicPr>
          <p:nvPr/>
        </p:nvPicPr>
        <p:blipFill>
          <a:blip r:embed="rId6"/>
          <a:stretch>
            <a:fillRect/>
          </a:stretch>
        </p:blipFill>
        <p:spPr>
          <a:xfrm>
            <a:off x="8581461" y="3771717"/>
            <a:ext cx="265542" cy="265542"/>
          </a:xfrm>
          <a:prstGeom prst="rect">
            <a:avLst/>
          </a:prstGeom>
        </p:spPr>
      </p:pic>
      <p:sp>
        <p:nvSpPr>
          <p:cNvPr id="20" name="Text 14"/>
          <p:cNvSpPr/>
          <p:nvPr/>
        </p:nvSpPr>
        <p:spPr>
          <a:xfrm>
            <a:off x="9162288" y="3584448"/>
            <a:ext cx="2240280" cy="457200"/>
          </a:xfrm>
          <a:prstGeom prst="rect">
            <a:avLst/>
          </a:prstGeom>
          <a:noFill/>
          <a:ln/>
        </p:spPr>
        <p:txBody>
          <a:bodyPr wrap="square" lIns="0" tIns="0" rIns="0" bIns="0" rtlCol="0" anchor="ctr"/>
          <a:lstStyle/>
          <a:p>
            <a:pPr marL="0" indent="0">
              <a:buNone/>
            </a:pPr>
            <a:r>
              <a:rPr lang="en-US" sz="2300" b="1" dirty="0">
                <a:solidFill>
                  <a:srgbClr val="E6CE8F"/>
                </a:solidFill>
                <a:latin typeface="Georgia" pitchFamily="34" charset="0"/>
                <a:ea typeface="Georgia" pitchFamily="34" charset="-122"/>
                <a:cs typeface="Georgia" pitchFamily="34" charset="-120"/>
              </a:rPr>
              <a:t>Experience</a:t>
            </a:r>
            <a:endParaRPr lang="en-US" sz="2300" dirty="0"/>
          </a:p>
        </p:txBody>
      </p:sp>
      <p:sp>
        <p:nvSpPr>
          <p:cNvPr id="21" name="Text 15"/>
          <p:cNvSpPr/>
          <p:nvPr/>
        </p:nvSpPr>
        <p:spPr>
          <a:xfrm>
            <a:off x="9180576" y="4069080"/>
            <a:ext cx="2194560" cy="365760"/>
          </a:xfrm>
          <a:prstGeom prst="rect">
            <a:avLst/>
          </a:prstGeom>
          <a:noFill/>
          <a:ln/>
        </p:spPr>
        <p:txBody>
          <a:bodyPr wrap="square" lIns="0" tIns="0" rIns="0" bIns="0" rtlCol="0" anchor="ctr"/>
          <a:lstStyle/>
          <a:p>
            <a:pPr marL="0" indent="0">
              <a:buNone/>
            </a:pPr>
            <a:r>
              <a:rPr lang="en-US" sz="1400" kern="0" spc="100" dirty="0">
                <a:solidFill>
                  <a:srgbClr val="F2EEE6"/>
                </a:solidFill>
                <a:latin typeface="Calibri" pitchFamily="34" charset="0"/>
                <a:cs typeface="Calibri" pitchFamily="34" charset="-120"/>
              </a:rPr>
              <a:t>Asia </a:t>
            </a:r>
            <a:endParaRPr lang="en-US" sz="1400" dirty="0"/>
          </a:p>
        </p:txBody>
      </p:sp>
      <p:sp>
        <p:nvSpPr>
          <p:cNvPr id="22" name="Text 16"/>
          <p:cNvSpPr/>
          <p:nvPr/>
        </p:nvSpPr>
        <p:spPr>
          <a:xfrm>
            <a:off x="8430768" y="4590288"/>
            <a:ext cx="2834640" cy="365760"/>
          </a:xfrm>
          <a:prstGeom prst="rect">
            <a:avLst/>
          </a:prstGeom>
          <a:noFill/>
          <a:ln/>
        </p:spPr>
        <p:txBody>
          <a:bodyPr wrap="square" lIns="0" tIns="0" rIns="0" bIns="0" rtlCol="0" anchor="ctr"/>
          <a:lstStyle/>
          <a:p>
            <a:pPr marL="0" indent="0">
              <a:buNone/>
            </a:pPr>
            <a:r>
              <a:rPr lang="en-US" sz="1100" i="1" dirty="0">
                <a:solidFill>
                  <a:srgbClr val="A7A296"/>
                </a:solidFill>
                <a:latin typeface="Calibri" pitchFamily="34" charset="0"/>
                <a:ea typeface="Calibri" pitchFamily="34" charset="-122"/>
                <a:cs typeface="Calibri" pitchFamily="34" charset="-120"/>
              </a:rPr>
              <a:t>All through one seamless ecosystem.</a:t>
            </a:r>
            <a:endParaRPr lang="en-US" sz="1100" dirty="0"/>
          </a:p>
        </p:txBody>
      </p:sp>
      <p:sp>
        <p:nvSpPr>
          <p:cNvPr id="23" name="Text 17"/>
          <p:cNvSpPr/>
          <p:nvPr/>
        </p:nvSpPr>
        <p:spPr>
          <a:xfrm>
            <a:off x="822960" y="5623560"/>
            <a:ext cx="10241280" cy="548640"/>
          </a:xfrm>
          <a:prstGeom prst="rect">
            <a:avLst/>
          </a:prstGeom>
          <a:noFill/>
          <a:ln/>
        </p:spPr>
        <p:txBody>
          <a:bodyPr wrap="square" lIns="0" tIns="0" rIns="0" bIns="0" rtlCol="0" anchor="ctr"/>
          <a:lstStyle/>
          <a:p>
            <a:pPr marL="0" indent="0">
              <a:buNone/>
            </a:pPr>
            <a:r>
              <a:rPr lang="en-US" sz="1600" i="1" dirty="0">
                <a:solidFill>
                  <a:srgbClr val="F2EEE6"/>
                </a:solidFill>
                <a:latin typeface="Georgia" pitchFamily="34" charset="0"/>
                <a:ea typeface="Georgia" pitchFamily="34" charset="-122"/>
                <a:cs typeface="Georgia" pitchFamily="34" charset="-120"/>
              </a:rPr>
              <a:t>Together with our restaurant partners, we create unforgettable visitor experiences — and measurable business growth.</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HOW IT WORKS</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A Fully Digital Experience</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Customers purchase and manage their travel packages before arriving in Singapore — through a dedicated mobile app and website.</a:t>
            </a:r>
            <a:endParaRPr lang="en-US" sz="1550" dirty="0"/>
          </a:p>
        </p:txBody>
      </p:sp>
      <p:sp>
        <p:nvSpPr>
          <p:cNvPr id="5" name="Shape 3"/>
          <p:cNvSpPr/>
          <p:nvPr/>
        </p:nvSpPr>
        <p:spPr>
          <a:xfrm>
            <a:off x="822960" y="2514600"/>
            <a:ext cx="3383280" cy="2926080"/>
          </a:xfrm>
          <a:prstGeom prst="roundRect">
            <a:avLst>
              <a:gd name="adj" fmla="val 1875"/>
            </a:avLst>
          </a:prstGeom>
          <a:solidFill>
            <a:srgbClr val="1C1F24"/>
          </a:solidFill>
          <a:ln w="12700">
            <a:solidFill>
              <a:srgbClr val="3A3E46"/>
            </a:solidFill>
            <a:prstDash val="solid"/>
          </a:ln>
        </p:spPr>
        <p:txBody>
          <a:bodyPr/>
          <a:lstStyle/>
          <a:p>
            <a:endParaRPr lang="en-US"/>
          </a:p>
        </p:txBody>
      </p:sp>
      <p:sp>
        <p:nvSpPr>
          <p:cNvPr id="6" name="Shape 4"/>
          <p:cNvSpPr/>
          <p:nvPr/>
        </p:nvSpPr>
        <p:spPr>
          <a:xfrm>
            <a:off x="1078992" y="2770632"/>
            <a:ext cx="566928" cy="566928"/>
          </a:xfrm>
          <a:prstGeom prst="ellipse">
            <a:avLst/>
          </a:prstGeom>
          <a:solidFill>
            <a:srgbClr val="23272E"/>
          </a:solidFill>
          <a:ln w="15875">
            <a:solidFill>
              <a:srgbClr val="C8A24A"/>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237732" y="2929372"/>
            <a:ext cx="249448" cy="249448"/>
          </a:xfrm>
          <a:prstGeom prst="rect">
            <a:avLst/>
          </a:prstGeom>
        </p:spPr>
      </p:pic>
      <p:sp>
        <p:nvSpPr>
          <p:cNvPr id="8" name="Text 5"/>
          <p:cNvSpPr/>
          <p:nvPr/>
        </p:nvSpPr>
        <p:spPr>
          <a:xfrm>
            <a:off x="1078992" y="3447288"/>
            <a:ext cx="2871216" cy="310896"/>
          </a:xfrm>
          <a:prstGeom prst="rect">
            <a:avLst/>
          </a:prstGeom>
          <a:noFill/>
          <a:ln/>
        </p:spPr>
        <p:txBody>
          <a:bodyPr wrap="square" lIns="0" tIns="0" rIns="0" bIns="0" rtlCol="0" anchor="ctr"/>
          <a:lstStyle/>
          <a:p>
            <a:pPr marL="0" indent="0">
              <a:buNone/>
            </a:pPr>
            <a:r>
              <a:rPr lang="en-US" sz="1450" b="1" dirty="0">
                <a:solidFill>
                  <a:srgbClr val="F2EEE6"/>
                </a:solidFill>
                <a:latin typeface="Calibri" pitchFamily="34" charset="0"/>
                <a:ea typeface="Calibri" pitchFamily="34" charset="-122"/>
                <a:cs typeface="Calibri" pitchFamily="34" charset="-120"/>
              </a:rPr>
              <a:t>Buy &amp; Manage Anywhere</a:t>
            </a:r>
            <a:endParaRPr lang="en-US" sz="1450" dirty="0"/>
          </a:p>
        </p:txBody>
      </p:sp>
      <p:sp>
        <p:nvSpPr>
          <p:cNvPr id="9" name="Text 6"/>
          <p:cNvSpPr/>
          <p:nvPr/>
        </p:nvSpPr>
        <p:spPr>
          <a:xfrm>
            <a:off x="1078992" y="3794760"/>
            <a:ext cx="2871216" cy="1508760"/>
          </a:xfrm>
          <a:prstGeom prst="rect">
            <a:avLst/>
          </a:prstGeom>
          <a:noFill/>
          <a:ln/>
        </p:spPr>
        <p:txBody>
          <a:bodyPr wrap="square" lIns="0" tIns="0" rIns="0" bIns="0" rtlCol="0" anchor="t"/>
          <a:lstStyle/>
          <a:p>
            <a:pPr marL="0" indent="0">
              <a:lnSpc>
                <a:spcPct val="105000"/>
              </a:lnSpc>
              <a:buNone/>
            </a:pPr>
            <a:r>
              <a:rPr lang="en-US" sz="1150" dirty="0">
                <a:solidFill>
                  <a:srgbClr val="A7A296"/>
                </a:solidFill>
                <a:latin typeface="Calibri" pitchFamily="34" charset="0"/>
                <a:ea typeface="Calibri" pitchFamily="34" charset="-122"/>
                <a:cs typeface="Calibri" pitchFamily="34" charset="-120"/>
              </a:rPr>
              <a:t>Purchase and manage travel packages before arriving in Singapore via the dedicated app and website.</a:t>
            </a:r>
            <a:endParaRPr lang="en-US" sz="1150" dirty="0"/>
          </a:p>
        </p:txBody>
      </p:sp>
      <p:sp>
        <p:nvSpPr>
          <p:cNvPr id="10" name="Shape 7"/>
          <p:cNvSpPr/>
          <p:nvPr/>
        </p:nvSpPr>
        <p:spPr>
          <a:xfrm>
            <a:off x="4590288" y="2514600"/>
            <a:ext cx="3383280" cy="2926080"/>
          </a:xfrm>
          <a:prstGeom prst="roundRect">
            <a:avLst>
              <a:gd name="adj" fmla="val 1875"/>
            </a:avLst>
          </a:prstGeom>
          <a:solidFill>
            <a:srgbClr val="1C1F24"/>
          </a:solidFill>
          <a:ln w="12700">
            <a:solidFill>
              <a:srgbClr val="3A3E46"/>
            </a:solidFill>
            <a:prstDash val="solid"/>
          </a:ln>
        </p:spPr>
        <p:txBody>
          <a:bodyPr/>
          <a:lstStyle/>
          <a:p>
            <a:endParaRPr lang="en-US"/>
          </a:p>
        </p:txBody>
      </p:sp>
      <p:sp>
        <p:nvSpPr>
          <p:cNvPr id="11" name="Shape 8"/>
          <p:cNvSpPr/>
          <p:nvPr/>
        </p:nvSpPr>
        <p:spPr>
          <a:xfrm>
            <a:off x="4846320" y="2770632"/>
            <a:ext cx="566928" cy="566928"/>
          </a:xfrm>
          <a:prstGeom prst="ellipse">
            <a:avLst/>
          </a:prstGeom>
          <a:solidFill>
            <a:srgbClr val="23272E"/>
          </a:solidFill>
          <a:ln w="15875">
            <a:solidFill>
              <a:srgbClr val="C8A24A"/>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5005060" y="2929372"/>
            <a:ext cx="249448" cy="249448"/>
          </a:xfrm>
          <a:prstGeom prst="rect">
            <a:avLst/>
          </a:prstGeom>
        </p:spPr>
      </p:pic>
      <p:sp>
        <p:nvSpPr>
          <p:cNvPr id="13" name="Text 9"/>
          <p:cNvSpPr/>
          <p:nvPr/>
        </p:nvSpPr>
        <p:spPr>
          <a:xfrm>
            <a:off x="4846320" y="3447288"/>
            <a:ext cx="2871216" cy="310896"/>
          </a:xfrm>
          <a:prstGeom prst="rect">
            <a:avLst/>
          </a:prstGeom>
          <a:noFill/>
          <a:ln/>
        </p:spPr>
        <p:txBody>
          <a:bodyPr wrap="square" lIns="0" tIns="0" rIns="0" bIns="0" rtlCol="0" anchor="ctr"/>
          <a:lstStyle/>
          <a:p>
            <a:pPr marL="0" indent="0">
              <a:buNone/>
            </a:pPr>
            <a:r>
              <a:rPr lang="en-US" sz="1450" b="1" dirty="0">
                <a:solidFill>
                  <a:srgbClr val="F2EEE6"/>
                </a:solidFill>
                <a:latin typeface="Calibri" pitchFamily="34" charset="0"/>
                <a:ea typeface="Calibri" pitchFamily="34" charset="-122"/>
                <a:cs typeface="Calibri" pitchFamily="34" charset="-120"/>
              </a:rPr>
              <a:t>No Physical Cards</a:t>
            </a:r>
            <a:endParaRPr lang="en-US" sz="1450" dirty="0"/>
          </a:p>
        </p:txBody>
      </p:sp>
      <p:sp>
        <p:nvSpPr>
          <p:cNvPr id="14" name="Text 10"/>
          <p:cNvSpPr/>
          <p:nvPr/>
        </p:nvSpPr>
        <p:spPr>
          <a:xfrm>
            <a:off x="4846320" y="3794760"/>
            <a:ext cx="2871216" cy="1508760"/>
          </a:xfrm>
          <a:prstGeom prst="rect">
            <a:avLst/>
          </a:prstGeom>
          <a:noFill/>
          <a:ln/>
        </p:spPr>
        <p:txBody>
          <a:bodyPr wrap="square" lIns="0" tIns="0" rIns="0" bIns="0" rtlCol="0" anchor="t"/>
          <a:lstStyle/>
          <a:p>
            <a:pPr marL="0" indent="0">
              <a:lnSpc>
                <a:spcPct val="105000"/>
              </a:lnSpc>
              <a:buNone/>
            </a:pPr>
            <a:r>
              <a:rPr lang="en-US" sz="1150" dirty="0">
                <a:solidFill>
                  <a:srgbClr val="A7A296"/>
                </a:solidFill>
                <a:latin typeface="Calibri" pitchFamily="34" charset="0"/>
                <a:ea typeface="Calibri" pitchFamily="34" charset="-122"/>
                <a:cs typeface="Calibri" pitchFamily="34" charset="-120"/>
              </a:rPr>
              <a:t>Unlike traditional tourist passes, there is no need to collect physical cards on arrival.</a:t>
            </a:r>
            <a:endParaRPr lang="en-US" sz="1150" dirty="0"/>
          </a:p>
        </p:txBody>
      </p:sp>
      <p:sp>
        <p:nvSpPr>
          <p:cNvPr id="15" name="Shape 11"/>
          <p:cNvSpPr/>
          <p:nvPr/>
        </p:nvSpPr>
        <p:spPr>
          <a:xfrm>
            <a:off x="8357616" y="2514600"/>
            <a:ext cx="3383280" cy="2926080"/>
          </a:xfrm>
          <a:prstGeom prst="roundRect">
            <a:avLst>
              <a:gd name="adj" fmla="val 1875"/>
            </a:avLst>
          </a:prstGeom>
          <a:solidFill>
            <a:srgbClr val="1C1F24"/>
          </a:solidFill>
          <a:ln w="12700">
            <a:solidFill>
              <a:srgbClr val="3A3E46"/>
            </a:solidFill>
            <a:prstDash val="solid"/>
          </a:ln>
        </p:spPr>
        <p:txBody>
          <a:bodyPr/>
          <a:lstStyle/>
          <a:p>
            <a:endParaRPr lang="en-US"/>
          </a:p>
        </p:txBody>
      </p:sp>
      <p:sp>
        <p:nvSpPr>
          <p:cNvPr id="16" name="Shape 12"/>
          <p:cNvSpPr/>
          <p:nvPr/>
        </p:nvSpPr>
        <p:spPr>
          <a:xfrm>
            <a:off x="8613648" y="2770632"/>
            <a:ext cx="566928" cy="566928"/>
          </a:xfrm>
          <a:prstGeom prst="ellipse">
            <a:avLst/>
          </a:prstGeom>
          <a:solidFill>
            <a:srgbClr val="23272E"/>
          </a:solidFill>
          <a:ln w="15875">
            <a:solidFill>
              <a:srgbClr val="C8A24A"/>
            </a:solidFill>
            <a:prstDash val="solid"/>
          </a:ln>
        </p:spPr>
        <p:txBody>
          <a:bodyPr/>
          <a:lstStyle/>
          <a:p>
            <a:endParaRPr lang="en-US"/>
          </a:p>
        </p:txBody>
      </p:sp>
      <p:pic>
        <p:nvPicPr>
          <p:cNvPr id="17" name="Image 2" descr="preencoded.png"/>
          <p:cNvPicPr>
            <a:picLocks noChangeAspect="1"/>
          </p:cNvPicPr>
          <p:nvPr/>
        </p:nvPicPr>
        <p:blipFill>
          <a:blip r:embed="rId4"/>
          <a:stretch>
            <a:fillRect/>
          </a:stretch>
        </p:blipFill>
        <p:spPr>
          <a:xfrm>
            <a:off x="8772388" y="2929372"/>
            <a:ext cx="249448" cy="249448"/>
          </a:xfrm>
          <a:prstGeom prst="rect">
            <a:avLst/>
          </a:prstGeom>
        </p:spPr>
      </p:pic>
      <p:sp>
        <p:nvSpPr>
          <p:cNvPr id="18" name="Text 13"/>
          <p:cNvSpPr/>
          <p:nvPr/>
        </p:nvSpPr>
        <p:spPr>
          <a:xfrm>
            <a:off x="8613648" y="3447288"/>
            <a:ext cx="2871216" cy="310896"/>
          </a:xfrm>
          <a:prstGeom prst="rect">
            <a:avLst/>
          </a:prstGeom>
          <a:noFill/>
          <a:ln/>
        </p:spPr>
        <p:txBody>
          <a:bodyPr wrap="square" lIns="0" tIns="0" rIns="0" bIns="0" rtlCol="0" anchor="ctr"/>
          <a:lstStyle/>
          <a:p>
            <a:pPr marL="0" indent="0">
              <a:buNone/>
            </a:pPr>
            <a:r>
              <a:rPr lang="en-US" sz="1450" b="1" dirty="0">
                <a:solidFill>
                  <a:srgbClr val="F2EEE6"/>
                </a:solidFill>
                <a:latin typeface="Calibri" pitchFamily="34" charset="0"/>
                <a:ea typeface="Calibri" pitchFamily="34" charset="-122"/>
                <a:cs typeface="Calibri" pitchFamily="34" charset="-120"/>
              </a:rPr>
              <a:t>Everything Digital</a:t>
            </a:r>
            <a:endParaRPr lang="en-US" sz="1450" dirty="0"/>
          </a:p>
        </p:txBody>
      </p:sp>
      <p:sp>
        <p:nvSpPr>
          <p:cNvPr id="19" name="Text 14"/>
          <p:cNvSpPr/>
          <p:nvPr/>
        </p:nvSpPr>
        <p:spPr>
          <a:xfrm>
            <a:off x="8613648" y="3794760"/>
            <a:ext cx="2871216" cy="1508760"/>
          </a:xfrm>
          <a:prstGeom prst="rect">
            <a:avLst/>
          </a:prstGeom>
          <a:noFill/>
          <a:ln/>
        </p:spPr>
        <p:txBody>
          <a:bodyPr wrap="square" lIns="0" tIns="0" rIns="0" bIns="0" rtlCol="0" anchor="t"/>
          <a:lstStyle/>
          <a:p>
            <a:pPr marL="0" indent="0">
              <a:lnSpc>
                <a:spcPct val="105000"/>
              </a:lnSpc>
              <a:buNone/>
            </a:pPr>
            <a:r>
              <a:rPr lang="en-US" sz="1150" dirty="0">
                <a:solidFill>
                  <a:srgbClr val="A7A296"/>
                </a:solidFill>
                <a:latin typeface="Calibri" pitchFamily="34" charset="0"/>
                <a:ea typeface="Calibri" pitchFamily="34" charset="-122"/>
                <a:cs typeface="Calibri" pitchFamily="34" charset="-120"/>
              </a:rPr>
              <a:t>All access, redemption and booking management is handled digitally through the </a:t>
            </a:r>
            <a:r>
              <a:rPr lang="en-US" sz="1150" dirty="0" err="1">
                <a:solidFill>
                  <a:srgbClr val="A7A296"/>
                </a:solidFill>
                <a:latin typeface="Calibri" pitchFamily="34" charset="0"/>
                <a:ea typeface="Calibri" pitchFamily="34" charset="-122"/>
                <a:cs typeface="Calibri" pitchFamily="34" charset="-120"/>
              </a:rPr>
              <a:t>AsiaGO</a:t>
            </a:r>
            <a:r>
              <a:rPr lang="en-US" sz="1150" dirty="0">
                <a:solidFill>
                  <a:srgbClr val="A7A296"/>
                </a:solidFill>
                <a:latin typeface="Calibri" pitchFamily="34" charset="0"/>
                <a:ea typeface="Calibri" pitchFamily="34" charset="-122"/>
                <a:cs typeface="Calibri" pitchFamily="34" charset="-120"/>
              </a:rPr>
              <a:t> Pass platform.</a:t>
            </a:r>
            <a:endParaRPr lang="en-US" sz="1150" dirty="0"/>
          </a:p>
        </p:txBody>
      </p:sp>
      <p:sp>
        <p:nvSpPr>
          <p:cNvPr id="20" name="Text 15"/>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21" name="Text 16"/>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21316"/>
        </a:solidFill>
        <a:effectLst/>
      </p:bgPr>
    </p:bg>
    <p:spTree>
      <p:nvGrpSpPr>
        <p:cNvPr id="1" name=""/>
        <p:cNvGrpSpPr/>
        <p:nvPr/>
      </p:nvGrpSpPr>
      <p:grpSpPr>
        <a:xfrm>
          <a:off x="0" y="0"/>
          <a:ext cx="0" cy="0"/>
          <a:chOff x="0" y="0"/>
          <a:chExt cx="0" cy="0"/>
        </a:xfrm>
      </p:grpSpPr>
      <p:sp>
        <p:nvSpPr>
          <p:cNvPr id="2" name="Shape 0"/>
          <p:cNvSpPr/>
          <p:nvPr/>
        </p:nvSpPr>
        <p:spPr>
          <a:xfrm>
            <a:off x="10561320" y="777240"/>
            <a:ext cx="914400" cy="914400"/>
          </a:xfrm>
          <a:prstGeom prst="ellipse">
            <a:avLst/>
          </a:prstGeom>
          <a:solidFill>
            <a:srgbClr val="23272E"/>
          </a:solidFill>
          <a:ln w="15875">
            <a:solidFill>
              <a:srgbClr val="C8A24A"/>
            </a:solidFill>
            <a:prstDash val="solid"/>
          </a:ln>
        </p:spPr>
        <p:txBody>
          <a:bodyPr/>
          <a:lstStyle/>
          <a:p>
            <a:endParaRPr lang="en-US"/>
          </a:p>
        </p:txBody>
      </p:sp>
      <p:pic>
        <p:nvPicPr>
          <p:cNvPr id="3" name="Image 0" descr="preencoded.png"/>
          <p:cNvPicPr>
            <a:picLocks noChangeAspect="1"/>
          </p:cNvPicPr>
          <p:nvPr/>
        </p:nvPicPr>
        <p:blipFill>
          <a:blip r:embed="rId2"/>
          <a:stretch>
            <a:fillRect/>
          </a:stretch>
        </p:blipFill>
        <p:spPr>
          <a:xfrm>
            <a:off x="10817352" y="1033272"/>
            <a:ext cx="402336" cy="402336"/>
          </a:xfrm>
          <a:prstGeom prst="rect">
            <a:avLst/>
          </a:prstGeom>
        </p:spPr>
      </p:pic>
      <p:sp>
        <p:nvSpPr>
          <p:cNvPr id="4" name="Text 1"/>
          <p:cNvSpPr/>
          <p:nvPr/>
        </p:nvSpPr>
        <p:spPr>
          <a:xfrm>
            <a:off x="822960" y="868680"/>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EXPERIENCE</a:t>
            </a:r>
            <a:endParaRPr lang="en-US" sz="1150" dirty="0"/>
          </a:p>
        </p:txBody>
      </p:sp>
      <p:sp>
        <p:nvSpPr>
          <p:cNvPr id="5" name="Text 2"/>
          <p:cNvSpPr/>
          <p:nvPr/>
        </p:nvSpPr>
        <p:spPr>
          <a:xfrm>
            <a:off x="777240" y="1280160"/>
            <a:ext cx="8686800" cy="822960"/>
          </a:xfrm>
          <a:prstGeom prst="rect">
            <a:avLst/>
          </a:prstGeom>
          <a:noFill/>
          <a:ln/>
        </p:spPr>
        <p:txBody>
          <a:bodyPr wrap="square" lIns="0" tIns="0" rIns="0" bIns="0" rtlCol="0" anchor="ctr"/>
          <a:lstStyle/>
          <a:p>
            <a:pPr marL="0" indent="0" algn="l">
              <a:lnSpc>
                <a:spcPct val="104000"/>
              </a:lnSpc>
              <a:buNone/>
            </a:pPr>
            <a:r>
              <a:rPr lang="en-US" sz="3600" b="1" dirty="0">
                <a:solidFill>
                  <a:srgbClr val="F2EEE6"/>
                </a:solidFill>
                <a:latin typeface="Georgia" pitchFamily="34" charset="0"/>
                <a:ea typeface="Georgia" pitchFamily="34" charset="-122"/>
                <a:cs typeface="Georgia" pitchFamily="34" charset="-120"/>
              </a:rPr>
              <a:t>Seamless QR Redemption</a:t>
            </a:r>
            <a:endParaRPr lang="en-US" sz="3600" dirty="0"/>
          </a:p>
        </p:txBody>
      </p:sp>
      <p:sp>
        <p:nvSpPr>
          <p:cNvPr id="6" name="Text 3"/>
          <p:cNvSpPr/>
          <p:nvPr/>
        </p:nvSpPr>
        <p:spPr>
          <a:xfrm>
            <a:off x="822960" y="2468880"/>
            <a:ext cx="9601200" cy="1463040"/>
          </a:xfrm>
          <a:prstGeom prst="rect">
            <a:avLst/>
          </a:prstGeom>
          <a:noFill/>
          <a:ln/>
        </p:spPr>
        <p:txBody>
          <a:bodyPr wrap="square" lIns="0" tIns="0" rIns="0" bIns="0" rtlCol="0" anchor="ctr"/>
          <a:lstStyle/>
          <a:p>
            <a:pPr marL="0" indent="0">
              <a:lnSpc>
                <a:spcPct val="115000"/>
              </a:lnSpc>
              <a:buNone/>
            </a:pPr>
            <a:r>
              <a:rPr lang="en-US" sz="2100" i="1" dirty="0">
                <a:solidFill>
                  <a:srgbClr val="E6CE8F"/>
                </a:solidFill>
                <a:latin typeface="Georgia" pitchFamily="34" charset="0"/>
                <a:ea typeface="Georgia" pitchFamily="34" charset="-122"/>
                <a:cs typeface="Georgia" pitchFamily="34" charset="-120"/>
              </a:rPr>
              <a:t>“Tourists enjoy seamless entry to Singapore's top attractions with a single QR code. No physical tickets, no voucher printing, and no complicated redemption process.”</a:t>
            </a:r>
            <a:endParaRPr lang="en-US" sz="2100" dirty="0"/>
          </a:p>
        </p:txBody>
      </p:sp>
      <p:sp>
        <p:nvSpPr>
          <p:cNvPr id="7" name="Text 4"/>
          <p:cNvSpPr/>
          <p:nvPr/>
        </p:nvSpPr>
        <p:spPr>
          <a:xfrm>
            <a:off x="822960" y="4160520"/>
            <a:ext cx="8961120" cy="914400"/>
          </a:xfrm>
          <a:prstGeom prst="rect">
            <a:avLst/>
          </a:prstGeom>
          <a:noFill/>
          <a:ln/>
        </p:spPr>
        <p:txBody>
          <a:bodyPr wrap="square" lIns="0" tIns="0" rIns="0" bIns="0" rtlCol="0" anchor="ctr"/>
          <a:lstStyle/>
          <a:p>
            <a:pPr marL="0" indent="0">
              <a:lnSpc>
                <a:spcPct val="112000"/>
              </a:lnSpc>
              <a:buNone/>
            </a:pPr>
            <a:r>
              <a:rPr lang="en-US" sz="1500" dirty="0">
                <a:solidFill>
                  <a:srgbClr val="A7A296"/>
                </a:solidFill>
                <a:latin typeface="Calibri" pitchFamily="34" charset="0"/>
                <a:ea typeface="Calibri" pitchFamily="34" charset="-122"/>
                <a:cs typeface="Calibri" pitchFamily="34" charset="-120"/>
              </a:rPr>
              <a:t>This helps investors and attraction partners immediately understand how </a:t>
            </a:r>
            <a:r>
              <a:rPr lang="en-US" sz="1500" dirty="0" err="1">
                <a:solidFill>
                  <a:srgbClr val="A7A296"/>
                </a:solidFill>
                <a:latin typeface="Calibri" pitchFamily="34" charset="0"/>
                <a:ea typeface="Calibri" pitchFamily="34" charset="-122"/>
                <a:cs typeface="Calibri" pitchFamily="34" charset="-120"/>
              </a:rPr>
              <a:t>AsiaGO</a:t>
            </a:r>
            <a:r>
              <a:rPr lang="en-US" sz="1500" dirty="0">
                <a:solidFill>
                  <a:srgbClr val="A7A296"/>
                </a:solidFill>
                <a:latin typeface="Calibri" pitchFamily="34" charset="0"/>
                <a:ea typeface="Calibri" pitchFamily="34" charset="-122"/>
                <a:cs typeface="Calibri" pitchFamily="34" charset="-120"/>
              </a:rPr>
              <a:t>! Pass simplifies the visitor experience while making redemption fast for merchants and attractions.</a:t>
            </a:r>
            <a:endParaRPr lang="en-US" sz="1500" dirty="0"/>
          </a:p>
        </p:txBody>
      </p:sp>
      <p:sp>
        <p:nvSpPr>
          <p:cNvPr id="8" name="Shape 5"/>
          <p:cNvSpPr/>
          <p:nvPr/>
        </p:nvSpPr>
        <p:spPr>
          <a:xfrm>
            <a:off x="841248" y="5257800"/>
            <a:ext cx="822960" cy="0"/>
          </a:xfrm>
          <a:prstGeom prst="line">
            <a:avLst/>
          </a:prstGeom>
          <a:noFill/>
          <a:ln w="25400">
            <a:solidFill>
              <a:srgbClr val="C8A24A"/>
            </a:solidFill>
            <a:prstDash val="solid"/>
          </a:ln>
        </p:spPr>
        <p:txBody>
          <a:bodyPr/>
          <a:lstStyle/>
          <a:p>
            <a:endParaRPr lang="en-US"/>
          </a:p>
        </p:txBody>
      </p:sp>
      <p:sp>
        <p:nvSpPr>
          <p:cNvPr id="9" name="Text 6"/>
          <p:cNvSpPr/>
          <p:nvPr/>
        </p:nvSpPr>
        <p:spPr>
          <a:xfrm>
            <a:off x="822960" y="5440680"/>
            <a:ext cx="8229600" cy="548640"/>
          </a:xfrm>
          <a:prstGeom prst="rect">
            <a:avLst/>
          </a:prstGeom>
          <a:noFill/>
          <a:ln/>
        </p:spPr>
        <p:txBody>
          <a:bodyPr wrap="square" lIns="0" tIns="0" rIns="0" bIns="0" rtlCol="0" anchor="ctr"/>
          <a:lstStyle/>
          <a:p>
            <a:pPr marL="0" indent="0">
              <a:buNone/>
            </a:pPr>
            <a:r>
              <a:rPr lang="en-US" sz="2200" i="1" dirty="0">
                <a:solidFill>
                  <a:srgbClr val="C8A24A"/>
                </a:solidFill>
                <a:latin typeface="Georgia" pitchFamily="34" charset="0"/>
                <a:ea typeface="Georgia" pitchFamily="34" charset="-122"/>
                <a:cs typeface="Georgia" pitchFamily="34" charset="-120"/>
              </a:rPr>
              <a:t>One Pass. Unlimited Discoveries.</a:t>
            </a:r>
            <a:endParaRPr lang="en-US" sz="2200" dirty="0"/>
          </a:p>
        </p:txBody>
      </p:sp>
      <p:sp>
        <p:nvSpPr>
          <p:cNvPr id="10" name="Text 7"/>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11" name="Text 8"/>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PRICING</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th-TH" sz="3300" b="1" dirty="0" err="1">
                <a:solidFill>
                  <a:srgbClr val="F2EEE6"/>
                </a:solidFill>
                <a:latin typeface="Georgia" pitchFamily="34" charset="0"/>
                <a:ea typeface="Georgia" pitchFamily="34" charset="-122"/>
                <a:cs typeface="Georgia" pitchFamily="34" charset="-120"/>
              </a:rPr>
              <a:t>Asia</a:t>
            </a:r>
            <a:r>
              <a:rPr lang="en-US" sz="3300" b="1" dirty="0">
                <a:solidFill>
                  <a:srgbClr val="F2EEE6"/>
                </a:solidFill>
                <a:latin typeface="Georgia" pitchFamily="34" charset="0"/>
                <a:ea typeface="Georgia" pitchFamily="34" charset="-122"/>
                <a:cs typeface="Georgia" pitchFamily="34" charset="-120"/>
              </a:rPr>
              <a:t>GO!</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Pass</a:t>
            </a:r>
            <a:r>
              <a:rPr lang="en-US" sz="3300" b="1" dirty="0">
                <a:solidFill>
                  <a:srgbClr val="F2EEE6"/>
                </a:solidFill>
                <a:latin typeface="Georgia" pitchFamily="34" charset="0"/>
                <a:ea typeface="Georgia" pitchFamily="34" charset="-122"/>
                <a:cs typeface="Georgia" pitchFamily="34" charset="-120"/>
              </a:rPr>
              <a:t> Packages</a:t>
            </a:r>
            <a:endParaRPr lang="en-US" sz="3300" dirty="0"/>
          </a:p>
        </p:txBody>
      </p:sp>
      <p:sp>
        <p:nvSpPr>
          <p:cNvPr id="4" name="Shape 2"/>
          <p:cNvSpPr/>
          <p:nvPr/>
        </p:nvSpPr>
        <p:spPr>
          <a:xfrm>
            <a:off x="725424" y="1841326"/>
            <a:ext cx="3480816" cy="4511374"/>
          </a:xfrm>
          <a:prstGeom prst="roundRect">
            <a:avLst>
              <a:gd name="adj" fmla="val 1622"/>
            </a:avLst>
          </a:prstGeom>
          <a:solidFill>
            <a:srgbClr val="1C1F24"/>
          </a:solidFill>
          <a:ln w="12700">
            <a:solidFill>
              <a:srgbClr val="C00000"/>
            </a:solidFill>
            <a:prstDash val="solid"/>
          </a:ln>
        </p:spPr>
        <p:txBody>
          <a:bodyPr/>
          <a:lstStyle/>
          <a:p>
            <a:endParaRPr lang="en-US"/>
          </a:p>
        </p:txBody>
      </p:sp>
      <p:sp>
        <p:nvSpPr>
          <p:cNvPr id="5" name="Shape 3"/>
          <p:cNvSpPr/>
          <p:nvPr/>
        </p:nvSpPr>
        <p:spPr>
          <a:xfrm>
            <a:off x="1097280" y="2103120"/>
            <a:ext cx="566928" cy="566928"/>
          </a:xfrm>
          <a:prstGeom prst="ellipse">
            <a:avLst/>
          </a:prstGeom>
          <a:solidFill>
            <a:srgbClr val="23272E"/>
          </a:solidFill>
          <a:ln w="15875">
            <a:solidFill>
              <a:srgbClr val="C8A24A"/>
            </a:solidFill>
            <a:prstDash val="solid"/>
          </a:ln>
        </p:spPr>
        <p:txBody>
          <a:bodyPr/>
          <a:lstStyle/>
          <a:p>
            <a:endParaRPr lang="en-US"/>
          </a:p>
        </p:txBody>
      </p:sp>
      <p:pic>
        <p:nvPicPr>
          <p:cNvPr id="6" name="Image 0" descr="preencoded.png"/>
          <p:cNvPicPr>
            <a:picLocks noChangeAspect="1"/>
          </p:cNvPicPr>
          <p:nvPr/>
        </p:nvPicPr>
        <p:blipFill>
          <a:blip r:embed="rId2"/>
          <a:stretch>
            <a:fillRect/>
          </a:stretch>
        </p:blipFill>
        <p:spPr>
          <a:xfrm>
            <a:off x="1256020" y="2261860"/>
            <a:ext cx="249448" cy="249448"/>
          </a:xfrm>
          <a:prstGeom prst="rect">
            <a:avLst/>
          </a:prstGeom>
        </p:spPr>
      </p:pic>
      <p:sp>
        <p:nvSpPr>
          <p:cNvPr id="7" name="Text 4"/>
          <p:cNvSpPr/>
          <p:nvPr/>
        </p:nvSpPr>
        <p:spPr>
          <a:xfrm>
            <a:off x="1051560" y="2788920"/>
            <a:ext cx="2880360" cy="594360"/>
          </a:xfrm>
          <a:prstGeom prst="rect">
            <a:avLst/>
          </a:prstGeom>
          <a:noFill/>
          <a:ln/>
        </p:spPr>
        <p:txBody>
          <a:bodyPr wrap="square" lIns="0" tIns="0" rIns="0" bIns="0" rtlCol="0" anchor="ctr"/>
          <a:lstStyle/>
          <a:p>
            <a:pPr marL="0" indent="0">
              <a:buNone/>
            </a:pPr>
            <a:r>
              <a:rPr lang="en-US" sz="1500" b="1" dirty="0" err="1">
                <a:solidFill>
                  <a:srgbClr val="F2EEE6"/>
                </a:solidFill>
                <a:latin typeface="Calibri" pitchFamily="34" charset="0"/>
                <a:ea typeface="Calibri" pitchFamily="34" charset="-122"/>
                <a:cs typeface="Calibri" pitchFamily="34" charset="-120"/>
              </a:rPr>
              <a:t>AsiaGO</a:t>
            </a:r>
            <a:r>
              <a:rPr lang="en-US" sz="1500" b="1" dirty="0">
                <a:solidFill>
                  <a:srgbClr val="F2EEE6"/>
                </a:solidFill>
                <a:latin typeface="Calibri" pitchFamily="34" charset="0"/>
                <a:ea typeface="Calibri" pitchFamily="34" charset="-122"/>
                <a:cs typeface="Calibri" pitchFamily="34" charset="-120"/>
              </a:rPr>
              <a:t> Signature Pass</a:t>
            </a:r>
            <a:endParaRPr lang="en-US" sz="1500" b="1" dirty="0">
              <a:solidFill>
                <a:schemeClr val="bg1"/>
              </a:solidFill>
              <a:latin typeface="Calibri" pitchFamily="34" charset="0"/>
              <a:ea typeface="Calibri" pitchFamily="34" charset="-122"/>
              <a:cs typeface="Calibri" pitchFamily="34" charset="-120"/>
            </a:endParaRPr>
          </a:p>
          <a:p>
            <a:pPr marL="0" indent="0">
              <a:buNone/>
            </a:pPr>
            <a:r>
              <a:rPr lang="en-US" sz="1200" dirty="0">
                <a:solidFill>
                  <a:schemeClr val="bg1">
                    <a:lumMod val="85000"/>
                  </a:schemeClr>
                </a:solidFill>
                <a:latin typeface="Calibri" pitchFamily="34" charset="0"/>
                <a:ea typeface="Calibri" pitchFamily="34" charset="-122"/>
                <a:cs typeface="Calibri" pitchFamily="34" charset="-120"/>
              </a:rPr>
              <a:t>1-day Pass</a:t>
            </a:r>
          </a:p>
        </p:txBody>
      </p:sp>
      <p:sp>
        <p:nvSpPr>
          <p:cNvPr id="8" name="Text 5"/>
          <p:cNvSpPr/>
          <p:nvPr/>
        </p:nvSpPr>
        <p:spPr>
          <a:xfrm>
            <a:off x="1097280" y="3383280"/>
            <a:ext cx="2834640" cy="548640"/>
          </a:xfrm>
          <a:prstGeom prst="rect">
            <a:avLst/>
          </a:prstGeom>
          <a:noFill/>
          <a:ln/>
        </p:spPr>
        <p:txBody>
          <a:bodyPr wrap="square" lIns="0" tIns="0" rIns="0" bIns="0" rtlCol="0" anchor="ctr"/>
          <a:lstStyle/>
          <a:p>
            <a:pPr marL="0" indent="0">
              <a:buNone/>
            </a:pPr>
            <a:r>
              <a:rPr lang="en-US" sz="2000" b="1" dirty="0">
                <a:solidFill>
                  <a:srgbClr val="C8A24A"/>
                </a:solidFill>
                <a:latin typeface="Georgia" pitchFamily="34" charset="0"/>
                <a:ea typeface="Georgia" pitchFamily="34" charset="-122"/>
                <a:cs typeface="Georgia" pitchFamily="34" charset="-120"/>
              </a:rPr>
              <a:t>SGD </a:t>
            </a:r>
            <a:r>
              <a:rPr lang="th-TH" sz="2000" b="1" dirty="0">
                <a:solidFill>
                  <a:srgbClr val="C8A24A"/>
                </a:solidFill>
                <a:latin typeface="Georgia" pitchFamily="34" charset="0"/>
                <a:ea typeface="Georgia" pitchFamily="34" charset="-122"/>
                <a:cs typeface="Georgia" pitchFamily="34" charset="-120"/>
              </a:rPr>
              <a:t>1</a:t>
            </a:r>
            <a:r>
              <a:rPr lang="en-US" sz="2000" b="1" dirty="0">
                <a:solidFill>
                  <a:srgbClr val="C8A24A"/>
                </a:solidFill>
                <a:latin typeface="Georgia" pitchFamily="34" charset="0"/>
                <a:ea typeface="Georgia" pitchFamily="34" charset="-122"/>
                <a:cs typeface="Georgia" pitchFamily="34" charset="-120"/>
              </a:rPr>
              <a:t>58 Child 98</a:t>
            </a:r>
            <a:endParaRPr lang="en-US" sz="2000" dirty="0"/>
          </a:p>
        </p:txBody>
      </p:sp>
      <p:sp>
        <p:nvSpPr>
          <p:cNvPr id="9" name="Text 6"/>
          <p:cNvSpPr/>
          <p:nvPr/>
        </p:nvSpPr>
        <p:spPr>
          <a:xfrm>
            <a:off x="1097280" y="4069080"/>
            <a:ext cx="2880360" cy="1417320"/>
          </a:xfrm>
          <a:prstGeom prst="rect">
            <a:avLst/>
          </a:prstGeom>
          <a:noFill/>
          <a:ln/>
        </p:spPr>
        <p:txBody>
          <a:bodyPr wrap="square" lIns="0" tIns="0" rIns="0" bIns="0" rtlCol="0" anchor="t"/>
          <a:lstStyle/>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2 Attractions of your choice </a:t>
            </a:r>
            <a:endParaRPr lang="en-US" sz="1200" dirty="0"/>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Enjoy Bonus Dinning Experience</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Complimentary member rewards</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Member dinning benefit (Discount and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Special offers at selected Restaurant </a:t>
            </a:r>
            <a:endParaRPr lang="en-US" sz="1200" dirty="0"/>
          </a:p>
        </p:txBody>
      </p:sp>
      <p:sp>
        <p:nvSpPr>
          <p:cNvPr id="10" name="Text 7"/>
          <p:cNvSpPr/>
          <p:nvPr/>
        </p:nvSpPr>
        <p:spPr>
          <a:xfrm>
            <a:off x="1097280" y="5349240"/>
            <a:ext cx="2834640" cy="228600"/>
          </a:xfrm>
          <a:prstGeom prst="rect">
            <a:avLst/>
          </a:prstGeom>
          <a:noFill/>
          <a:ln/>
        </p:spPr>
        <p:txBody>
          <a:bodyPr wrap="square" lIns="0" tIns="0" rIns="0" bIns="0" rtlCol="0" anchor="ctr"/>
          <a:lstStyle/>
          <a:p>
            <a:pPr marL="0" indent="0">
              <a:buNone/>
            </a:pPr>
            <a:r>
              <a:rPr lang="en-US" sz="950" b="1" kern="0" spc="200" dirty="0">
                <a:solidFill>
                  <a:srgbClr val="C8A24A"/>
                </a:solidFill>
                <a:latin typeface="Calibri" pitchFamily="34" charset="0"/>
                <a:ea typeface="Calibri" pitchFamily="34" charset="-122"/>
                <a:cs typeface="Calibri" pitchFamily="34" charset="-120"/>
              </a:rPr>
              <a:t>TARGET</a:t>
            </a:r>
            <a:endParaRPr lang="en-US" sz="950" dirty="0"/>
          </a:p>
        </p:txBody>
      </p:sp>
      <p:sp>
        <p:nvSpPr>
          <p:cNvPr id="11" name="Text 8"/>
          <p:cNvSpPr/>
          <p:nvPr/>
        </p:nvSpPr>
        <p:spPr>
          <a:xfrm>
            <a:off x="1097280" y="5596128"/>
            <a:ext cx="2834640" cy="365760"/>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cs typeface="Calibri" pitchFamily="34" charset="-120"/>
              </a:rPr>
              <a:t>Perfect for every Travelers </a:t>
            </a:r>
            <a:endParaRPr lang="en-US" sz="1250" dirty="0"/>
          </a:p>
        </p:txBody>
      </p:sp>
      <p:sp>
        <p:nvSpPr>
          <p:cNvPr id="12" name="Shape 9"/>
          <p:cNvSpPr/>
          <p:nvPr/>
        </p:nvSpPr>
        <p:spPr>
          <a:xfrm>
            <a:off x="4590288" y="1539985"/>
            <a:ext cx="3383280" cy="4897391"/>
          </a:xfrm>
          <a:prstGeom prst="roundRect">
            <a:avLst>
              <a:gd name="adj" fmla="val 1622"/>
            </a:avLst>
          </a:prstGeom>
          <a:solidFill>
            <a:srgbClr val="23272E"/>
          </a:solidFill>
          <a:ln w="19050">
            <a:solidFill>
              <a:srgbClr val="00B0F0"/>
            </a:solidFill>
            <a:prstDash val="solid"/>
          </a:ln>
        </p:spPr>
        <p:txBody>
          <a:bodyPr/>
          <a:lstStyle/>
          <a:p>
            <a:endParaRPr lang="en-US" dirty="0"/>
          </a:p>
        </p:txBody>
      </p:sp>
      <p:sp>
        <p:nvSpPr>
          <p:cNvPr id="13" name="Shape 10"/>
          <p:cNvSpPr/>
          <p:nvPr/>
        </p:nvSpPr>
        <p:spPr>
          <a:xfrm>
            <a:off x="4864608" y="2103120"/>
            <a:ext cx="566928" cy="566928"/>
          </a:xfrm>
          <a:prstGeom prst="ellipse">
            <a:avLst/>
          </a:prstGeom>
          <a:solidFill>
            <a:srgbClr val="23272E"/>
          </a:solidFill>
          <a:ln w="15875">
            <a:solidFill>
              <a:srgbClr val="C8A24A"/>
            </a:solidFill>
            <a:prstDash val="solid"/>
          </a:ln>
        </p:spPr>
        <p:txBody>
          <a:bodyPr/>
          <a:lstStyle/>
          <a:p>
            <a:endParaRPr lang="en-US"/>
          </a:p>
        </p:txBody>
      </p:sp>
      <p:pic>
        <p:nvPicPr>
          <p:cNvPr id="14" name="Image 1" descr="preencoded.png"/>
          <p:cNvPicPr>
            <a:picLocks noChangeAspect="1"/>
          </p:cNvPicPr>
          <p:nvPr/>
        </p:nvPicPr>
        <p:blipFill>
          <a:blip r:embed="rId3"/>
          <a:stretch>
            <a:fillRect/>
          </a:stretch>
        </p:blipFill>
        <p:spPr>
          <a:xfrm>
            <a:off x="5023348" y="2261860"/>
            <a:ext cx="249448" cy="249448"/>
          </a:xfrm>
          <a:prstGeom prst="rect">
            <a:avLst/>
          </a:prstGeom>
        </p:spPr>
      </p:pic>
      <p:sp>
        <p:nvSpPr>
          <p:cNvPr id="15" name="Text 11"/>
          <p:cNvSpPr/>
          <p:nvPr/>
        </p:nvSpPr>
        <p:spPr>
          <a:xfrm>
            <a:off x="4864608" y="2788920"/>
            <a:ext cx="2834640" cy="320040"/>
          </a:xfrm>
          <a:prstGeom prst="rect">
            <a:avLst/>
          </a:prstGeom>
          <a:noFill/>
          <a:ln/>
        </p:spPr>
        <p:txBody>
          <a:bodyPr wrap="square" lIns="0" tIns="0" rIns="0" bIns="0" rtlCol="0" anchor="ctr"/>
          <a:lstStyle/>
          <a:p>
            <a:pPr marL="0" indent="0">
              <a:buNone/>
            </a:pPr>
            <a:r>
              <a:rPr lang="en-US" sz="1500" b="1" dirty="0" err="1">
                <a:solidFill>
                  <a:srgbClr val="F2EEE6"/>
                </a:solidFill>
                <a:latin typeface="Calibri" pitchFamily="34" charset="0"/>
                <a:cs typeface="Calibri" pitchFamily="34" charset="-120"/>
              </a:rPr>
              <a:t>AsiaGO</a:t>
            </a:r>
            <a:r>
              <a:rPr lang="en-US" sz="1500" b="1" dirty="0">
                <a:solidFill>
                  <a:srgbClr val="F2EEE6"/>
                </a:solidFill>
                <a:latin typeface="Calibri" pitchFamily="34" charset="0"/>
                <a:cs typeface="Calibri" pitchFamily="34" charset="-120"/>
              </a:rPr>
              <a:t> Experience Pass </a:t>
            </a:r>
            <a:endParaRPr lang="en-US" sz="1500" dirty="0"/>
          </a:p>
        </p:txBody>
      </p:sp>
      <p:sp>
        <p:nvSpPr>
          <p:cNvPr id="16" name="Text 12"/>
          <p:cNvSpPr/>
          <p:nvPr/>
        </p:nvSpPr>
        <p:spPr>
          <a:xfrm>
            <a:off x="4864608" y="3108960"/>
            <a:ext cx="2834640" cy="274320"/>
          </a:xfrm>
          <a:prstGeom prst="rect">
            <a:avLst/>
          </a:prstGeom>
          <a:noFill/>
          <a:ln/>
        </p:spPr>
        <p:txBody>
          <a:bodyPr wrap="square" lIns="0" tIns="0" rIns="0" bIns="0" rtlCol="0" anchor="ctr"/>
          <a:lstStyle/>
          <a:p>
            <a:pPr marL="0" indent="0">
              <a:buNone/>
            </a:pPr>
            <a:r>
              <a:rPr lang="en-US" sz="1150" dirty="0">
                <a:solidFill>
                  <a:srgbClr val="A7A296"/>
                </a:solidFill>
                <a:latin typeface="Calibri" pitchFamily="34" charset="0"/>
                <a:ea typeface="Calibri" pitchFamily="34" charset="-122"/>
                <a:cs typeface="Calibri" pitchFamily="34" charset="-120"/>
              </a:rPr>
              <a:t>2-Day Pass</a:t>
            </a:r>
            <a:endParaRPr lang="en-US" sz="1150" dirty="0"/>
          </a:p>
        </p:txBody>
      </p:sp>
      <p:sp>
        <p:nvSpPr>
          <p:cNvPr id="17" name="Text 13"/>
          <p:cNvSpPr/>
          <p:nvPr/>
        </p:nvSpPr>
        <p:spPr>
          <a:xfrm>
            <a:off x="4864608" y="3383280"/>
            <a:ext cx="2834640" cy="548640"/>
          </a:xfrm>
          <a:prstGeom prst="rect">
            <a:avLst/>
          </a:prstGeom>
          <a:noFill/>
          <a:ln/>
        </p:spPr>
        <p:txBody>
          <a:bodyPr wrap="square" lIns="0" tIns="0" rIns="0" bIns="0" rtlCol="0" anchor="ctr"/>
          <a:lstStyle/>
          <a:p>
            <a:pPr marL="0" indent="0">
              <a:buNone/>
            </a:pPr>
            <a:r>
              <a:rPr lang="en-US" sz="2000" b="1" dirty="0">
                <a:solidFill>
                  <a:srgbClr val="C8A24A"/>
                </a:solidFill>
                <a:latin typeface="Georgia" pitchFamily="34" charset="0"/>
                <a:ea typeface="Georgia" pitchFamily="34" charset="-122"/>
                <a:cs typeface="Georgia" pitchFamily="34" charset="-120"/>
              </a:rPr>
              <a:t>SGD 358 Child 259</a:t>
            </a:r>
            <a:endParaRPr lang="en-US" sz="2000" dirty="0"/>
          </a:p>
        </p:txBody>
      </p:sp>
      <p:sp>
        <p:nvSpPr>
          <p:cNvPr id="18" name="Text 14"/>
          <p:cNvSpPr/>
          <p:nvPr/>
        </p:nvSpPr>
        <p:spPr>
          <a:xfrm>
            <a:off x="4864608" y="4069080"/>
            <a:ext cx="2880360" cy="1417320"/>
          </a:xfrm>
          <a:prstGeom prst="rect">
            <a:avLst/>
          </a:prstGeom>
          <a:noFill/>
          <a:ln/>
        </p:spPr>
        <p:txBody>
          <a:bodyPr wrap="square" lIns="0" tIns="0" rIns="0" bIns="0" rtlCol="0" anchor="t"/>
          <a:lstStyle/>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5 Top attractions</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Valid 2 consecutive days</a:t>
            </a:r>
          </a:p>
          <a:p>
            <a:pPr marL="342900" indent="-342900">
              <a:lnSpc>
                <a:spcPct val="108000"/>
              </a:lnSpc>
              <a:buSzPct val="100000"/>
              <a:buChar char="•"/>
            </a:pPr>
            <a:r>
              <a:rPr lang="en-US" sz="1200" dirty="0" err="1">
                <a:solidFill>
                  <a:srgbClr val="F2EEE6"/>
                </a:solidFill>
                <a:latin typeface="Calibri" pitchFamily="34" charset="0"/>
                <a:cs typeface="Calibri" pitchFamily="34" charset="-120"/>
              </a:rPr>
              <a:t>AsiaGO</a:t>
            </a:r>
            <a:r>
              <a:rPr lang="en-US" sz="1200" dirty="0">
                <a:solidFill>
                  <a:srgbClr val="F2EEE6"/>
                </a:solidFill>
                <a:latin typeface="Calibri" pitchFamily="34" charset="0"/>
                <a:cs typeface="Calibri" pitchFamily="34" charset="-120"/>
              </a:rPr>
              <a:t> welcome drink </a:t>
            </a:r>
            <a:endParaRPr lang="en-US" sz="1200" dirty="0"/>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2 Dinning experience included</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Complimentary member Rewards.</a:t>
            </a:r>
          </a:p>
          <a:p>
            <a:pPr>
              <a:lnSpc>
                <a:spcPct val="108000"/>
              </a:lnSpc>
              <a:buSzPct val="100000"/>
            </a:pPr>
            <a:r>
              <a:rPr lang="en-US" sz="1200" dirty="0">
                <a:solidFill>
                  <a:srgbClr val="F2EEE6"/>
                </a:solidFill>
                <a:latin typeface="Calibri" pitchFamily="34" charset="0"/>
                <a:ea typeface="Calibri" pitchFamily="34" charset="-122"/>
                <a:cs typeface="Calibri" pitchFamily="34" charset="-120"/>
              </a:rPr>
              <a:t>         Kid- Friendly </a:t>
            </a:r>
            <a:r>
              <a:rPr lang="en-US" sz="1200" dirty="0" err="1">
                <a:solidFill>
                  <a:srgbClr val="F2EEE6"/>
                </a:solidFill>
                <a:latin typeface="Calibri" pitchFamily="34" charset="0"/>
                <a:ea typeface="Calibri" pitchFamily="34" charset="-122"/>
                <a:cs typeface="Calibri" pitchFamily="34" charset="-120"/>
              </a:rPr>
              <a:t>Restaruant</a:t>
            </a:r>
            <a:r>
              <a:rPr lang="en-US" sz="1200" dirty="0">
                <a:solidFill>
                  <a:srgbClr val="F2EEE6"/>
                </a:solidFill>
                <a:latin typeface="Calibri" pitchFamily="34" charset="0"/>
                <a:ea typeface="Calibri" pitchFamily="34" charset="-122"/>
                <a:cs typeface="Calibri" pitchFamily="34" charset="-120"/>
              </a:rPr>
              <a:t> experience  </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Save more on your </a:t>
            </a:r>
            <a:r>
              <a:rPr lang="en-US" sz="1200" dirty="0" err="1">
                <a:solidFill>
                  <a:srgbClr val="F2EEE6"/>
                </a:solidFill>
                <a:latin typeface="Calibri" pitchFamily="34" charset="0"/>
                <a:cs typeface="Calibri" pitchFamily="34" charset="-120"/>
              </a:rPr>
              <a:t>AsiaGO</a:t>
            </a:r>
            <a:r>
              <a:rPr lang="en-US" sz="1200" dirty="0">
                <a:solidFill>
                  <a:srgbClr val="F2EEE6"/>
                </a:solidFill>
                <a:latin typeface="Calibri" pitchFamily="34" charset="0"/>
                <a:cs typeface="Calibri" pitchFamily="34" charset="-120"/>
              </a:rPr>
              <a:t> Pass </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Member dinning benefit (discount &amp; special offers at selected Restaurant </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 </a:t>
            </a:r>
          </a:p>
          <a:p>
            <a:pPr marL="342900" indent="-342900">
              <a:lnSpc>
                <a:spcPct val="108000"/>
              </a:lnSpc>
              <a:buSzPct val="100000"/>
              <a:buChar char="•"/>
            </a:pPr>
            <a:endParaRPr lang="en-US" sz="1200" dirty="0">
              <a:solidFill>
                <a:srgbClr val="F2EEE6"/>
              </a:solidFill>
              <a:latin typeface="Calibri" pitchFamily="34" charset="0"/>
              <a:cs typeface="Calibri" pitchFamily="34" charset="-120"/>
            </a:endParaRPr>
          </a:p>
        </p:txBody>
      </p:sp>
      <p:sp>
        <p:nvSpPr>
          <p:cNvPr id="19" name="Text 15"/>
          <p:cNvSpPr/>
          <p:nvPr/>
        </p:nvSpPr>
        <p:spPr>
          <a:xfrm rot="10800000" flipV="1">
            <a:off x="4864608" y="5760719"/>
            <a:ext cx="2834640" cy="228601"/>
          </a:xfrm>
          <a:prstGeom prst="rect">
            <a:avLst/>
          </a:prstGeom>
          <a:noFill/>
          <a:ln/>
        </p:spPr>
        <p:txBody>
          <a:bodyPr wrap="square" lIns="0" tIns="0" rIns="0" bIns="0" rtlCol="0" anchor="ctr"/>
          <a:lstStyle/>
          <a:p>
            <a:pPr marL="0" indent="0">
              <a:buNone/>
            </a:pPr>
            <a:r>
              <a:rPr lang="en-US" sz="950" b="1" kern="0" spc="200" dirty="0">
                <a:solidFill>
                  <a:srgbClr val="C8A24A"/>
                </a:solidFill>
                <a:latin typeface="Calibri" pitchFamily="34" charset="0"/>
                <a:ea typeface="Calibri" pitchFamily="34" charset="-122"/>
                <a:cs typeface="Calibri" pitchFamily="34" charset="-120"/>
              </a:rPr>
              <a:t>TARGET</a:t>
            </a:r>
            <a:endParaRPr lang="en-US" sz="950" dirty="0"/>
          </a:p>
        </p:txBody>
      </p:sp>
      <p:sp>
        <p:nvSpPr>
          <p:cNvPr id="20" name="Text 16"/>
          <p:cNvSpPr/>
          <p:nvPr/>
        </p:nvSpPr>
        <p:spPr>
          <a:xfrm>
            <a:off x="4864608" y="5943598"/>
            <a:ext cx="2834640" cy="228601"/>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Families ,Couples, friends</a:t>
            </a:r>
            <a:endParaRPr lang="en-US" sz="1250" dirty="0"/>
          </a:p>
        </p:txBody>
      </p:sp>
      <p:sp>
        <p:nvSpPr>
          <p:cNvPr id="21" name="Shape 17"/>
          <p:cNvSpPr/>
          <p:nvPr/>
        </p:nvSpPr>
        <p:spPr>
          <a:xfrm>
            <a:off x="8247887" y="1365337"/>
            <a:ext cx="3520441" cy="5072039"/>
          </a:xfrm>
          <a:prstGeom prst="roundRect">
            <a:avLst>
              <a:gd name="adj" fmla="val 1622"/>
            </a:avLst>
          </a:prstGeom>
          <a:solidFill>
            <a:srgbClr val="1C1F24"/>
          </a:solidFill>
          <a:ln w="12700">
            <a:solidFill>
              <a:srgbClr val="FFC000"/>
            </a:solidFill>
            <a:prstDash val="solid"/>
          </a:ln>
        </p:spPr>
        <p:txBody>
          <a:bodyPr/>
          <a:lstStyle/>
          <a:p>
            <a:endParaRPr lang="en-US" dirty="0">
              <a:solidFill>
                <a:srgbClr val="FFC000"/>
              </a:solidFill>
              <a:highlight>
                <a:srgbClr val="FFFF00"/>
              </a:highlight>
            </a:endParaRPr>
          </a:p>
        </p:txBody>
      </p:sp>
      <p:sp>
        <p:nvSpPr>
          <p:cNvPr id="22" name="Shape 18"/>
          <p:cNvSpPr/>
          <p:nvPr/>
        </p:nvSpPr>
        <p:spPr>
          <a:xfrm>
            <a:off x="8631936" y="1539985"/>
            <a:ext cx="566928" cy="566928"/>
          </a:xfrm>
          <a:prstGeom prst="ellipse">
            <a:avLst/>
          </a:prstGeom>
          <a:solidFill>
            <a:srgbClr val="23272E"/>
          </a:solidFill>
          <a:ln w="15875">
            <a:solidFill>
              <a:srgbClr val="C8A24A"/>
            </a:solidFill>
            <a:prstDash val="solid"/>
          </a:ln>
        </p:spPr>
        <p:txBody>
          <a:bodyPr/>
          <a:lstStyle/>
          <a:p>
            <a:endParaRPr lang="en-US" dirty="0"/>
          </a:p>
        </p:txBody>
      </p:sp>
      <p:pic>
        <p:nvPicPr>
          <p:cNvPr id="23" name="Image 2" descr="preencoded.png"/>
          <p:cNvPicPr>
            <a:picLocks noChangeAspect="1"/>
          </p:cNvPicPr>
          <p:nvPr/>
        </p:nvPicPr>
        <p:blipFill>
          <a:blip r:embed="rId4"/>
          <a:stretch>
            <a:fillRect/>
          </a:stretch>
        </p:blipFill>
        <p:spPr>
          <a:xfrm>
            <a:off x="8790676" y="1744124"/>
            <a:ext cx="249448" cy="249448"/>
          </a:xfrm>
          <a:prstGeom prst="rect">
            <a:avLst/>
          </a:prstGeom>
        </p:spPr>
      </p:pic>
      <p:sp>
        <p:nvSpPr>
          <p:cNvPr id="24" name="Text 19"/>
          <p:cNvSpPr/>
          <p:nvPr/>
        </p:nvSpPr>
        <p:spPr>
          <a:xfrm>
            <a:off x="8631936" y="2039292"/>
            <a:ext cx="2798064" cy="1069668"/>
          </a:xfrm>
          <a:prstGeom prst="rect">
            <a:avLst/>
          </a:prstGeom>
          <a:noFill/>
          <a:ln/>
        </p:spPr>
        <p:txBody>
          <a:bodyPr wrap="square" lIns="0" tIns="0" rIns="0" bIns="0" rtlCol="0" anchor="ctr"/>
          <a:lstStyle/>
          <a:p>
            <a:pPr marL="0" indent="0">
              <a:buNone/>
            </a:pPr>
            <a:r>
              <a:rPr lang="en-US" sz="1500" b="1" dirty="0" err="1">
                <a:solidFill>
                  <a:srgbClr val="F2EEE6"/>
                </a:solidFill>
                <a:latin typeface="Calibri" pitchFamily="34" charset="0"/>
                <a:ea typeface="Calibri" pitchFamily="34" charset="-122"/>
                <a:cs typeface="Calibri" pitchFamily="34" charset="-120"/>
              </a:rPr>
              <a:t>AsiaGO</a:t>
            </a:r>
            <a:r>
              <a:rPr lang="en-US" sz="1500" b="1" dirty="0">
                <a:solidFill>
                  <a:srgbClr val="F2EEE6"/>
                </a:solidFill>
                <a:latin typeface="Calibri" pitchFamily="34" charset="0"/>
                <a:ea typeface="Calibri" pitchFamily="34" charset="-122"/>
                <a:cs typeface="Calibri" pitchFamily="34" charset="-120"/>
              </a:rPr>
              <a:t> Privilege Pass </a:t>
            </a:r>
          </a:p>
          <a:p>
            <a:pPr marL="0" indent="0">
              <a:buNone/>
            </a:pPr>
            <a:r>
              <a:rPr lang="en-US" sz="1050" dirty="0">
                <a:solidFill>
                  <a:schemeClr val="bg1">
                    <a:lumMod val="75000"/>
                  </a:schemeClr>
                </a:solidFill>
                <a:latin typeface="Calibri" pitchFamily="34" charset="0"/>
                <a:cs typeface="Calibri" pitchFamily="34" charset="-120"/>
              </a:rPr>
              <a:t>3-day pass</a:t>
            </a:r>
          </a:p>
          <a:p>
            <a:pPr marL="0" indent="0">
              <a:buNone/>
            </a:pPr>
            <a:endParaRPr lang="en-US" sz="1050" dirty="0">
              <a:solidFill>
                <a:schemeClr val="bg1">
                  <a:lumMod val="75000"/>
                </a:schemeClr>
              </a:solidFill>
              <a:latin typeface="Calibri" pitchFamily="34" charset="0"/>
              <a:cs typeface="Calibri" pitchFamily="34" charset="-120"/>
            </a:endParaRPr>
          </a:p>
          <a:p>
            <a:pPr marL="0" indent="0">
              <a:buNone/>
            </a:pPr>
            <a:endParaRPr lang="en-US" sz="1050" dirty="0">
              <a:solidFill>
                <a:schemeClr val="bg1">
                  <a:lumMod val="75000"/>
                </a:schemeClr>
              </a:solidFill>
            </a:endParaRPr>
          </a:p>
        </p:txBody>
      </p:sp>
      <p:sp>
        <p:nvSpPr>
          <p:cNvPr id="25" name="Text 20"/>
          <p:cNvSpPr/>
          <p:nvPr/>
        </p:nvSpPr>
        <p:spPr>
          <a:xfrm>
            <a:off x="8613647" y="2667527"/>
            <a:ext cx="2852929" cy="487153"/>
          </a:xfrm>
          <a:prstGeom prst="rect">
            <a:avLst/>
          </a:prstGeom>
          <a:noFill/>
          <a:ln/>
        </p:spPr>
        <p:txBody>
          <a:bodyPr wrap="square" lIns="0" tIns="0" rIns="0" bIns="0" rtlCol="0" anchor="ctr"/>
          <a:lstStyle/>
          <a:p>
            <a:pPr marL="0" indent="0">
              <a:buNone/>
            </a:pPr>
            <a:r>
              <a:rPr lang="en-US" sz="2000" b="1" dirty="0">
                <a:solidFill>
                  <a:srgbClr val="C8A24A"/>
                </a:solidFill>
                <a:latin typeface="Georgia" pitchFamily="34" charset="0"/>
                <a:ea typeface="Georgia" pitchFamily="34" charset="-122"/>
                <a:cs typeface="Georgia" pitchFamily="34" charset="-120"/>
              </a:rPr>
              <a:t>SGD 498 Child 299</a:t>
            </a:r>
            <a:endParaRPr lang="en-US" sz="2000" dirty="0"/>
          </a:p>
        </p:txBody>
      </p:sp>
      <p:sp>
        <p:nvSpPr>
          <p:cNvPr id="26" name="Text 21"/>
          <p:cNvSpPr/>
          <p:nvPr/>
        </p:nvSpPr>
        <p:spPr>
          <a:xfrm>
            <a:off x="8606884" y="2993830"/>
            <a:ext cx="2737104" cy="2995490"/>
          </a:xfrm>
          <a:prstGeom prst="rect">
            <a:avLst/>
          </a:prstGeom>
          <a:noFill/>
          <a:ln/>
        </p:spPr>
        <p:txBody>
          <a:bodyPr wrap="square" lIns="0" tIns="0" rIns="0" bIns="0" rtlCol="0" anchor="t"/>
          <a:lstStyle/>
          <a:p>
            <a:pPr>
              <a:lnSpc>
                <a:spcPct val="108000"/>
              </a:lnSpc>
              <a:buSzPct val="100000"/>
            </a:pPr>
            <a:r>
              <a:rPr lang="en-US" sz="1200" dirty="0"/>
              <a:t>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Optional 10 attractions and Lifestyle experience </a:t>
            </a:r>
          </a:p>
          <a:p>
            <a:pPr marL="342900" indent="-342900">
              <a:lnSpc>
                <a:spcPct val="108000"/>
              </a:lnSpc>
              <a:buSzPct val="100000"/>
              <a:buChar char="•"/>
            </a:pPr>
            <a:r>
              <a:rPr lang="en-US" sz="1200" dirty="0" err="1">
                <a:solidFill>
                  <a:srgbClr val="F2EEE6"/>
                </a:solidFill>
                <a:latin typeface="Calibri" pitchFamily="34" charset="0"/>
                <a:ea typeface="Calibri" pitchFamily="34" charset="-122"/>
                <a:cs typeface="Calibri" pitchFamily="34" charset="-120"/>
              </a:rPr>
              <a:t>AsiaGo</a:t>
            </a:r>
            <a:r>
              <a:rPr lang="en-US" sz="1200" dirty="0">
                <a:solidFill>
                  <a:srgbClr val="F2EEE6"/>
                </a:solidFill>
                <a:latin typeface="Calibri" pitchFamily="34" charset="0"/>
                <a:ea typeface="Calibri" pitchFamily="34" charset="-122"/>
                <a:cs typeface="Calibri" pitchFamily="34" charset="-120"/>
              </a:rPr>
              <a:t> Welcome drink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Exclusive member privilege benefit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Valid 3 consecutive days</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Wellness retreat (Spa massage Yoga)</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Shopping Lifestyle offer </a:t>
            </a:r>
          </a:p>
          <a:p>
            <a:pPr>
              <a:lnSpc>
                <a:spcPct val="108000"/>
              </a:lnSpc>
              <a:buSzPct val="100000"/>
            </a:pPr>
            <a:r>
              <a:rPr lang="en-SG" dirty="0"/>
              <a:t>🍽️ </a:t>
            </a:r>
            <a:r>
              <a:rPr lang="en-SG" b="1" dirty="0"/>
              <a:t> </a:t>
            </a:r>
            <a:r>
              <a:rPr lang="en-US" sz="1200" dirty="0">
                <a:solidFill>
                  <a:srgbClr val="F2EEE6"/>
                </a:solidFill>
                <a:latin typeface="Calibri" pitchFamily="34" charset="0"/>
                <a:ea typeface="Calibri" pitchFamily="34" charset="-122"/>
                <a:cs typeface="Calibri" pitchFamily="34" charset="-120"/>
              </a:rPr>
              <a:t>3 Dinning Experience ( Restaurant    afternoon tea, Rooftop bar ,Buffet  Access only Restaurant privilege  </a:t>
            </a:r>
          </a:p>
          <a:p>
            <a:pPr>
              <a:lnSpc>
                <a:spcPct val="108000"/>
              </a:lnSpc>
              <a:buSzPct val="100000"/>
            </a:pPr>
            <a:r>
              <a:rPr lang="en-US" sz="1200" dirty="0">
                <a:solidFill>
                  <a:srgbClr val="F2EEE6"/>
                </a:solidFill>
                <a:latin typeface="Calibri" pitchFamily="34" charset="0"/>
                <a:ea typeface="Calibri" pitchFamily="34" charset="-122"/>
                <a:cs typeface="Calibri" pitchFamily="34" charset="-120"/>
              </a:rPr>
              <a:t>          Save more on your </a:t>
            </a:r>
            <a:r>
              <a:rPr lang="en-US" sz="1200" dirty="0" err="1">
                <a:solidFill>
                  <a:srgbClr val="F2EEE6"/>
                </a:solidFill>
                <a:latin typeface="Calibri" pitchFamily="34" charset="0"/>
                <a:ea typeface="Calibri" pitchFamily="34" charset="-122"/>
                <a:cs typeface="Calibri" pitchFamily="34" charset="-120"/>
              </a:rPr>
              <a:t>AsiaGO</a:t>
            </a:r>
            <a:r>
              <a:rPr lang="en-US" sz="1200" dirty="0">
                <a:solidFill>
                  <a:srgbClr val="F2EEE6"/>
                </a:solidFill>
                <a:latin typeface="Calibri" pitchFamily="34" charset="0"/>
                <a:ea typeface="Calibri" pitchFamily="34" charset="-122"/>
                <a:cs typeface="Calibri" pitchFamily="34" charset="-120"/>
              </a:rPr>
              <a:t> pass member dinning </a:t>
            </a:r>
            <a:r>
              <a:rPr lang="en-US" sz="1200" dirty="0" err="1">
                <a:solidFill>
                  <a:srgbClr val="F2EEE6"/>
                </a:solidFill>
                <a:latin typeface="Calibri" pitchFamily="34" charset="0"/>
                <a:ea typeface="Calibri" pitchFamily="34" charset="-122"/>
                <a:cs typeface="Calibri" pitchFamily="34" charset="-120"/>
              </a:rPr>
              <a:t>befefit</a:t>
            </a:r>
            <a:r>
              <a:rPr lang="en-US" sz="1200" dirty="0">
                <a:solidFill>
                  <a:srgbClr val="F2EEE6"/>
                </a:solidFill>
                <a:latin typeface="Calibri" pitchFamily="34" charset="0"/>
                <a:ea typeface="Calibri" pitchFamily="34" charset="-122"/>
                <a:cs typeface="Calibri" pitchFamily="34" charset="-120"/>
              </a:rPr>
              <a:t> (Discount &amp; special </a:t>
            </a:r>
            <a:r>
              <a:rPr lang="en-US" sz="1200" dirty="0" err="1">
                <a:solidFill>
                  <a:srgbClr val="F2EEE6"/>
                </a:solidFill>
                <a:latin typeface="Calibri" pitchFamily="34" charset="0"/>
                <a:ea typeface="Calibri" pitchFamily="34" charset="-122"/>
                <a:cs typeface="Calibri" pitchFamily="34" charset="-120"/>
              </a:rPr>
              <a:t>offeres</a:t>
            </a:r>
            <a:r>
              <a:rPr lang="en-US" sz="1200" dirty="0">
                <a:solidFill>
                  <a:srgbClr val="F2EEE6"/>
                </a:solidFill>
                <a:latin typeface="Calibri" pitchFamily="34" charset="0"/>
                <a:ea typeface="Calibri" pitchFamily="34" charset="-122"/>
                <a:cs typeface="Calibri" pitchFamily="34" charset="-120"/>
              </a:rPr>
              <a:t> at selected Restaurant </a:t>
            </a: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SG" dirty="0"/>
          </a:p>
          <a:p>
            <a:pPr marL="342900" indent="-342900">
              <a:lnSpc>
                <a:spcPct val="108000"/>
              </a:lnSpc>
              <a:buSzPct val="100000"/>
              <a:buChar char="•"/>
            </a:pPr>
            <a:endParaRPr lang="en-US" sz="1200" dirty="0">
              <a:solidFill>
                <a:srgbClr val="F2EEE6"/>
              </a:solidFill>
              <a:latin typeface="Calibri" pitchFamily="34" charset="0"/>
              <a:ea typeface="Calibri" pitchFamily="34" charset="-122"/>
              <a:cs typeface="Calibri" pitchFamily="34" charset="-120"/>
            </a:endParaRPr>
          </a:p>
          <a:p>
            <a:pPr marL="342900" indent="-342900">
              <a:lnSpc>
                <a:spcPct val="108000"/>
              </a:lnSpc>
              <a:buSzPct val="100000"/>
              <a:buChar char="•"/>
            </a:pPr>
            <a:endParaRPr lang="en-US" sz="1200" dirty="0">
              <a:solidFill>
                <a:srgbClr val="F2EEE6"/>
              </a:solidFill>
              <a:latin typeface="Calibri" pitchFamily="34" charset="0"/>
              <a:ea typeface="Calibri" pitchFamily="34" charset="-122"/>
              <a:cs typeface="Calibri" pitchFamily="34" charset="-120"/>
            </a:endParaRPr>
          </a:p>
          <a:p>
            <a:pPr marL="342900" indent="-342900">
              <a:lnSpc>
                <a:spcPct val="108000"/>
              </a:lnSpc>
              <a:buSzPct val="100000"/>
              <a:buChar char="•"/>
            </a:pPr>
            <a:endParaRPr lang="en-US" sz="1200" dirty="0"/>
          </a:p>
        </p:txBody>
      </p:sp>
      <p:sp>
        <p:nvSpPr>
          <p:cNvPr id="27" name="Text 22"/>
          <p:cNvSpPr/>
          <p:nvPr/>
        </p:nvSpPr>
        <p:spPr>
          <a:xfrm>
            <a:off x="8631936" y="5760719"/>
            <a:ext cx="2834640" cy="411480"/>
          </a:xfrm>
          <a:prstGeom prst="rect">
            <a:avLst/>
          </a:prstGeom>
          <a:noFill/>
          <a:ln/>
        </p:spPr>
        <p:txBody>
          <a:bodyPr wrap="square" lIns="0" tIns="0" rIns="0" bIns="0" rtlCol="0" anchor="ctr"/>
          <a:lstStyle/>
          <a:p>
            <a:pPr marL="0" indent="0">
              <a:buNone/>
            </a:pPr>
            <a:r>
              <a:rPr lang="en-US" sz="950" b="1" kern="0" spc="200" dirty="0">
                <a:solidFill>
                  <a:srgbClr val="C8A24A"/>
                </a:solidFill>
                <a:latin typeface="Calibri" pitchFamily="34" charset="0"/>
                <a:ea typeface="Calibri" pitchFamily="34" charset="-122"/>
                <a:cs typeface="Calibri" pitchFamily="34" charset="-120"/>
              </a:rPr>
              <a:t>TARGET</a:t>
            </a:r>
            <a:endParaRPr lang="en-US" sz="950" dirty="0"/>
          </a:p>
        </p:txBody>
      </p:sp>
      <p:sp>
        <p:nvSpPr>
          <p:cNvPr id="28" name="Text 23"/>
          <p:cNvSpPr/>
          <p:nvPr/>
        </p:nvSpPr>
        <p:spPr>
          <a:xfrm>
            <a:off x="8790676" y="5943598"/>
            <a:ext cx="2675900" cy="493778"/>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Flexible-Spending Travelers</a:t>
            </a:r>
            <a:endParaRPr lang="en-US" sz="1250" dirty="0"/>
          </a:p>
        </p:txBody>
      </p:sp>
      <p:sp>
        <p:nvSpPr>
          <p:cNvPr id="29" name="Text 24"/>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30" name="Text 25"/>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PRODUCT CONCEPT</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App Concept — Home Screen</a:t>
            </a:r>
            <a:endParaRPr lang="en-US" sz="3300" dirty="0"/>
          </a:p>
        </p:txBody>
      </p:sp>
      <p:sp>
        <p:nvSpPr>
          <p:cNvPr id="4" name="Text 2"/>
          <p:cNvSpPr/>
          <p:nvPr/>
        </p:nvSpPr>
        <p:spPr>
          <a:xfrm>
            <a:off x="822960" y="1828800"/>
            <a:ext cx="457200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Key Features To Redeems </a:t>
            </a:r>
            <a:endParaRPr lang="en-US" sz="1500" dirty="0"/>
          </a:p>
        </p:txBody>
      </p:sp>
      <p:sp>
        <p:nvSpPr>
          <p:cNvPr id="5" name="Shape 3"/>
          <p:cNvSpPr/>
          <p:nvPr/>
        </p:nvSpPr>
        <p:spPr>
          <a:xfrm>
            <a:off x="960120" y="246888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6" name="Image 0" descr="preencoded.png"/>
          <p:cNvPicPr>
            <a:picLocks noChangeAspect="1"/>
          </p:cNvPicPr>
          <p:nvPr/>
        </p:nvPicPr>
        <p:blipFill>
          <a:blip r:embed="rId2"/>
          <a:stretch>
            <a:fillRect/>
          </a:stretch>
        </p:blipFill>
        <p:spPr>
          <a:xfrm>
            <a:off x="1060920" y="2569680"/>
            <a:ext cx="158400" cy="158400"/>
          </a:xfrm>
          <a:prstGeom prst="rect">
            <a:avLst/>
          </a:prstGeom>
        </p:spPr>
      </p:pic>
      <p:sp>
        <p:nvSpPr>
          <p:cNvPr id="7" name="Text 4"/>
          <p:cNvSpPr/>
          <p:nvPr/>
        </p:nvSpPr>
        <p:spPr>
          <a:xfrm>
            <a:off x="1628201" y="2458028"/>
            <a:ext cx="4242816" cy="292608"/>
          </a:xfrm>
          <a:prstGeom prst="rect">
            <a:avLst/>
          </a:prstGeom>
          <a:noFill/>
          <a:ln/>
        </p:spPr>
        <p:txBody>
          <a:bodyPr wrap="square" lIns="0" tIns="0" rIns="0" bIns="0" rtlCol="0" anchor="ctr"/>
          <a:lstStyle/>
          <a:p>
            <a:pPr marL="0" indent="0">
              <a:buNone/>
            </a:pPr>
            <a:r>
              <a:rPr lang="en-US" sz="1400" dirty="0">
                <a:solidFill>
                  <a:schemeClr val="bg1"/>
                </a:solidFill>
              </a:rPr>
              <a:t>Cruises packages </a:t>
            </a:r>
          </a:p>
        </p:txBody>
      </p:sp>
      <p:sp>
        <p:nvSpPr>
          <p:cNvPr id="8" name="Shape 5"/>
          <p:cNvSpPr/>
          <p:nvPr/>
        </p:nvSpPr>
        <p:spPr>
          <a:xfrm>
            <a:off x="960120" y="299592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1060920" y="3096720"/>
            <a:ext cx="158400" cy="158400"/>
          </a:xfrm>
          <a:prstGeom prst="rect">
            <a:avLst/>
          </a:prstGeom>
        </p:spPr>
      </p:pic>
      <p:sp>
        <p:nvSpPr>
          <p:cNvPr id="10" name="Text 6"/>
          <p:cNvSpPr/>
          <p:nvPr/>
        </p:nvSpPr>
        <p:spPr>
          <a:xfrm>
            <a:off x="1616394" y="2963148"/>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cs typeface="Calibri" pitchFamily="34" charset="-120"/>
              </a:rPr>
              <a:t>Cultures- Experiences Nearby </a:t>
            </a:r>
            <a:endParaRPr lang="en-US" sz="1400" dirty="0"/>
          </a:p>
        </p:txBody>
      </p:sp>
      <p:sp>
        <p:nvSpPr>
          <p:cNvPr id="11" name="Shape 7"/>
          <p:cNvSpPr/>
          <p:nvPr/>
        </p:nvSpPr>
        <p:spPr>
          <a:xfrm>
            <a:off x="960120" y="352296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12" name="Image 2" descr="preencoded.png"/>
          <p:cNvPicPr>
            <a:picLocks noChangeAspect="1"/>
          </p:cNvPicPr>
          <p:nvPr/>
        </p:nvPicPr>
        <p:blipFill>
          <a:blip r:embed="rId4"/>
          <a:stretch>
            <a:fillRect/>
          </a:stretch>
        </p:blipFill>
        <p:spPr>
          <a:xfrm>
            <a:off x="1060920" y="3623760"/>
            <a:ext cx="158400" cy="158400"/>
          </a:xfrm>
          <a:prstGeom prst="rect">
            <a:avLst/>
          </a:prstGeom>
        </p:spPr>
      </p:pic>
      <p:sp>
        <p:nvSpPr>
          <p:cNvPr id="13" name="Text 8"/>
          <p:cNvSpPr/>
          <p:nvPr/>
        </p:nvSpPr>
        <p:spPr>
          <a:xfrm>
            <a:off x="1609344" y="3519334"/>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cs typeface="Calibri" pitchFamily="34" charset="-120"/>
              </a:rPr>
              <a:t>Attractions : build your own adventure </a:t>
            </a:r>
            <a:endParaRPr lang="en-US" sz="1400" dirty="0"/>
          </a:p>
        </p:txBody>
      </p:sp>
      <p:sp>
        <p:nvSpPr>
          <p:cNvPr id="14" name="Shape 9"/>
          <p:cNvSpPr/>
          <p:nvPr/>
        </p:nvSpPr>
        <p:spPr>
          <a:xfrm>
            <a:off x="960120" y="405000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1060920" y="4150800"/>
            <a:ext cx="158400" cy="158400"/>
          </a:xfrm>
          <a:prstGeom prst="rect">
            <a:avLst/>
          </a:prstGeom>
        </p:spPr>
      </p:pic>
      <p:sp>
        <p:nvSpPr>
          <p:cNvPr id="16" name="Text 10"/>
          <p:cNvSpPr/>
          <p:nvPr/>
        </p:nvSpPr>
        <p:spPr>
          <a:xfrm>
            <a:off x="1638225" y="4050000"/>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cs typeface="Calibri" pitchFamily="34" charset="-120"/>
              </a:rPr>
              <a:t>Restaurants &amp; Wellness Recommendation </a:t>
            </a:r>
            <a:endParaRPr lang="en-US" sz="1400" dirty="0"/>
          </a:p>
        </p:txBody>
      </p:sp>
      <p:sp>
        <p:nvSpPr>
          <p:cNvPr id="17" name="Shape 11"/>
          <p:cNvSpPr/>
          <p:nvPr/>
        </p:nvSpPr>
        <p:spPr>
          <a:xfrm>
            <a:off x="960120" y="457704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18" name="Image 4" descr="preencoded.png"/>
          <p:cNvPicPr>
            <a:picLocks noChangeAspect="1"/>
          </p:cNvPicPr>
          <p:nvPr/>
        </p:nvPicPr>
        <p:blipFill>
          <a:blip r:embed="rId6"/>
          <a:stretch>
            <a:fillRect/>
          </a:stretch>
        </p:blipFill>
        <p:spPr>
          <a:xfrm>
            <a:off x="1060920" y="4677840"/>
            <a:ext cx="158400" cy="158400"/>
          </a:xfrm>
          <a:prstGeom prst="rect">
            <a:avLst/>
          </a:prstGeom>
        </p:spPr>
      </p:pic>
      <p:sp>
        <p:nvSpPr>
          <p:cNvPr id="19" name="Text 12"/>
          <p:cNvSpPr/>
          <p:nvPr/>
        </p:nvSpPr>
        <p:spPr>
          <a:xfrm>
            <a:off x="1609344" y="4565804"/>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Credits Balance</a:t>
            </a:r>
            <a:endParaRPr lang="en-US" sz="1400" dirty="0"/>
          </a:p>
        </p:txBody>
      </p:sp>
      <p:sp>
        <p:nvSpPr>
          <p:cNvPr id="20" name="Shape 13"/>
          <p:cNvSpPr/>
          <p:nvPr/>
        </p:nvSpPr>
        <p:spPr>
          <a:xfrm>
            <a:off x="7680960" y="1783079"/>
            <a:ext cx="2743200" cy="4815591"/>
          </a:xfrm>
          <a:prstGeom prst="roundRect">
            <a:avLst>
              <a:gd name="adj" fmla="val 8333"/>
            </a:avLst>
          </a:prstGeom>
          <a:solidFill>
            <a:srgbClr val="1C1F24"/>
          </a:solidFill>
          <a:ln w="19050">
            <a:solidFill>
              <a:srgbClr val="C8A24A"/>
            </a:solidFill>
            <a:prstDash val="solid"/>
          </a:ln>
        </p:spPr>
        <p:txBody>
          <a:bodyPr/>
          <a:lstStyle/>
          <a:p>
            <a:endParaRPr lang="en-US"/>
          </a:p>
        </p:txBody>
      </p:sp>
      <p:sp>
        <p:nvSpPr>
          <p:cNvPr id="21" name="Text 14"/>
          <p:cNvSpPr/>
          <p:nvPr/>
        </p:nvSpPr>
        <p:spPr>
          <a:xfrm>
            <a:off x="7955280" y="1906423"/>
            <a:ext cx="2194560" cy="365760"/>
          </a:xfrm>
          <a:prstGeom prst="rect">
            <a:avLst/>
          </a:prstGeom>
          <a:noFill/>
          <a:ln/>
        </p:spPr>
        <p:txBody>
          <a:bodyPr wrap="square" lIns="0" tIns="0" rIns="0" bIns="0" rtlCol="0" anchor="ctr"/>
          <a:lstStyle/>
          <a:p>
            <a:pPr marL="0" indent="0">
              <a:buNone/>
            </a:pPr>
            <a:r>
              <a:rPr lang="en-US" sz="1600" b="1" i="1" dirty="0">
                <a:solidFill>
                  <a:srgbClr val="E6CE8F"/>
                </a:solidFill>
                <a:latin typeface="Georgia" pitchFamily="34" charset="0"/>
                <a:ea typeface="Georgia" pitchFamily="34" charset="-122"/>
                <a:cs typeface="Georgia" pitchFamily="34" charset="-120"/>
              </a:rPr>
              <a:t>SG GO!</a:t>
            </a:r>
            <a:endParaRPr lang="en-US" sz="1600" dirty="0"/>
          </a:p>
        </p:txBody>
      </p:sp>
      <p:sp>
        <p:nvSpPr>
          <p:cNvPr id="22" name="Shape 15"/>
          <p:cNvSpPr/>
          <p:nvPr/>
        </p:nvSpPr>
        <p:spPr>
          <a:xfrm>
            <a:off x="7955280" y="2409343"/>
            <a:ext cx="2194560" cy="640080"/>
          </a:xfrm>
          <a:prstGeom prst="roundRect">
            <a:avLst>
              <a:gd name="adj" fmla="val 11429"/>
            </a:avLst>
          </a:prstGeom>
          <a:solidFill>
            <a:srgbClr val="23272E"/>
          </a:solidFill>
          <a:ln w="12700">
            <a:solidFill>
              <a:srgbClr val="3A3E46"/>
            </a:solidFill>
            <a:prstDash val="solid"/>
          </a:ln>
        </p:spPr>
        <p:txBody>
          <a:bodyPr/>
          <a:lstStyle/>
          <a:p>
            <a:endParaRPr lang="en-US"/>
          </a:p>
        </p:txBody>
      </p:sp>
      <p:sp>
        <p:nvSpPr>
          <p:cNvPr id="23" name="Text 16"/>
          <p:cNvSpPr/>
          <p:nvPr/>
        </p:nvSpPr>
        <p:spPr>
          <a:xfrm>
            <a:off x="8138160" y="2473351"/>
            <a:ext cx="137160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Credits Balance </a:t>
            </a:r>
            <a:endParaRPr lang="en-US" sz="1100" dirty="0"/>
          </a:p>
        </p:txBody>
      </p:sp>
      <p:sp>
        <p:nvSpPr>
          <p:cNvPr id="24" name="Text 17"/>
          <p:cNvSpPr/>
          <p:nvPr/>
        </p:nvSpPr>
        <p:spPr>
          <a:xfrm>
            <a:off x="8931301" y="2468868"/>
            <a:ext cx="914400" cy="457200"/>
          </a:xfrm>
          <a:prstGeom prst="rect">
            <a:avLst/>
          </a:prstGeom>
          <a:noFill/>
          <a:ln/>
        </p:spPr>
        <p:txBody>
          <a:bodyPr wrap="square" lIns="0" tIns="0" rIns="0" bIns="0" rtlCol="0" anchor="ctr"/>
          <a:lstStyle/>
          <a:p>
            <a:pPr marL="0" indent="0" algn="r">
              <a:buNone/>
            </a:pPr>
            <a:r>
              <a:rPr lang="en-US" sz="1800" b="1" dirty="0">
                <a:solidFill>
                  <a:srgbClr val="C8A24A"/>
                </a:solidFill>
                <a:latin typeface="Georgia" pitchFamily="34" charset="0"/>
                <a:ea typeface="Georgia" pitchFamily="34" charset="-122"/>
                <a:cs typeface="Georgia" pitchFamily="34" charset="-120"/>
              </a:rPr>
              <a:t>500</a:t>
            </a:r>
            <a:endParaRPr lang="en-US" sz="1800" dirty="0"/>
          </a:p>
        </p:txBody>
      </p:sp>
      <p:sp>
        <p:nvSpPr>
          <p:cNvPr id="25" name="Text 18"/>
          <p:cNvSpPr/>
          <p:nvPr/>
        </p:nvSpPr>
        <p:spPr>
          <a:xfrm>
            <a:off x="7955280" y="3232303"/>
            <a:ext cx="2194560" cy="274320"/>
          </a:xfrm>
          <a:prstGeom prst="rect">
            <a:avLst/>
          </a:prstGeom>
          <a:noFill/>
          <a:ln/>
        </p:spPr>
        <p:txBody>
          <a:bodyPr wrap="square" lIns="0" tIns="0" rIns="0" bIns="0" rtlCol="0" anchor="ctr"/>
          <a:lstStyle/>
          <a:p>
            <a:pPr marL="0" indent="0">
              <a:buNone/>
            </a:pPr>
            <a:r>
              <a:rPr lang="en-US" sz="1100" b="1" dirty="0">
                <a:solidFill>
                  <a:srgbClr val="F2EEE6"/>
                </a:solidFill>
                <a:latin typeface="Calibri" pitchFamily="34" charset="0"/>
                <a:ea typeface="Calibri" pitchFamily="34" charset="-122"/>
                <a:cs typeface="Calibri" pitchFamily="34" charset="-120"/>
              </a:rPr>
              <a:t>Discover Singapore</a:t>
            </a:r>
            <a:endParaRPr lang="en-US" sz="1100" dirty="0"/>
          </a:p>
        </p:txBody>
      </p:sp>
      <p:sp>
        <p:nvSpPr>
          <p:cNvPr id="26" name="Shape 19"/>
          <p:cNvSpPr/>
          <p:nvPr/>
        </p:nvSpPr>
        <p:spPr>
          <a:xfrm>
            <a:off x="7955280" y="3598063"/>
            <a:ext cx="1051560" cy="868680"/>
          </a:xfrm>
          <a:prstGeom prst="roundRect">
            <a:avLst>
              <a:gd name="adj" fmla="val 6316"/>
            </a:avLst>
          </a:prstGeom>
          <a:solidFill>
            <a:srgbClr val="23272E"/>
          </a:solidFill>
          <a:ln w="12700">
            <a:solidFill>
              <a:srgbClr val="3A3E46"/>
            </a:solidFill>
            <a:prstDash val="solid"/>
          </a:ln>
        </p:spPr>
        <p:txBody>
          <a:bodyPr/>
          <a:lstStyle/>
          <a:p>
            <a:endParaRPr lang="en-US"/>
          </a:p>
        </p:txBody>
      </p:sp>
      <p:sp>
        <p:nvSpPr>
          <p:cNvPr id="27" name="Shape 20"/>
          <p:cNvSpPr/>
          <p:nvPr/>
        </p:nvSpPr>
        <p:spPr>
          <a:xfrm>
            <a:off x="8279892" y="3707791"/>
            <a:ext cx="402336" cy="402336"/>
          </a:xfrm>
          <a:prstGeom prst="ellipse">
            <a:avLst/>
          </a:prstGeom>
          <a:solidFill>
            <a:srgbClr val="23272E"/>
          </a:solidFill>
          <a:ln w="15875">
            <a:solidFill>
              <a:srgbClr val="C8A24A"/>
            </a:solidFill>
            <a:prstDash val="solid"/>
          </a:ln>
        </p:spPr>
        <p:txBody>
          <a:bodyPr/>
          <a:lstStyle/>
          <a:p>
            <a:endParaRPr lang="en-US"/>
          </a:p>
        </p:txBody>
      </p:sp>
      <p:pic>
        <p:nvPicPr>
          <p:cNvPr id="28" name="Image 5" descr="preencoded.png"/>
          <p:cNvPicPr>
            <a:picLocks noChangeAspect="1"/>
          </p:cNvPicPr>
          <p:nvPr/>
        </p:nvPicPr>
        <p:blipFill>
          <a:blip r:embed="rId4"/>
          <a:stretch>
            <a:fillRect/>
          </a:stretch>
        </p:blipFill>
        <p:spPr>
          <a:xfrm>
            <a:off x="8392546" y="3820445"/>
            <a:ext cx="177028" cy="177028"/>
          </a:xfrm>
          <a:prstGeom prst="rect">
            <a:avLst/>
          </a:prstGeom>
        </p:spPr>
      </p:pic>
      <p:sp>
        <p:nvSpPr>
          <p:cNvPr id="29" name="Text 21"/>
          <p:cNvSpPr/>
          <p:nvPr/>
        </p:nvSpPr>
        <p:spPr>
          <a:xfrm>
            <a:off x="7955280" y="4128415"/>
            <a:ext cx="1051560" cy="274320"/>
          </a:xfrm>
          <a:prstGeom prst="rect">
            <a:avLst/>
          </a:prstGeom>
          <a:noFill/>
          <a:ln/>
        </p:spPr>
        <p:txBody>
          <a:bodyPr wrap="square" lIns="0" tIns="0" rIns="0" bIns="0" rtlCol="0" anchor="ctr"/>
          <a:lstStyle/>
          <a:p>
            <a:pPr marL="0" indent="0" algn="ctr">
              <a:buNone/>
            </a:pPr>
            <a:r>
              <a:rPr lang="en-US" sz="1000" b="1" dirty="0">
                <a:solidFill>
                  <a:srgbClr val="F2EEE6"/>
                </a:solidFill>
                <a:latin typeface="Calibri" pitchFamily="34" charset="0"/>
                <a:ea typeface="Calibri" pitchFamily="34" charset="-122"/>
                <a:cs typeface="Calibri" pitchFamily="34" charset="-120"/>
              </a:rPr>
              <a:t>Attractions</a:t>
            </a:r>
            <a:endParaRPr lang="en-US" sz="1000" dirty="0"/>
          </a:p>
        </p:txBody>
      </p:sp>
      <p:sp>
        <p:nvSpPr>
          <p:cNvPr id="30" name="Shape 22"/>
          <p:cNvSpPr/>
          <p:nvPr/>
        </p:nvSpPr>
        <p:spPr>
          <a:xfrm>
            <a:off x="9098280" y="3598063"/>
            <a:ext cx="1051560" cy="868680"/>
          </a:xfrm>
          <a:prstGeom prst="roundRect">
            <a:avLst>
              <a:gd name="adj" fmla="val 6316"/>
            </a:avLst>
          </a:prstGeom>
          <a:solidFill>
            <a:srgbClr val="23272E"/>
          </a:solidFill>
          <a:ln w="12700">
            <a:solidFill>
              <a:srgbClr val="3A3E46"/>
            </a:solidFill>
            <a:prstDash val="solid"/>
          </a:ln>
        </p:spPr>
        <p:txBody>
          <a:bodyPr/>
          <a:lstStyle/>
          <a:p>
            <a:endParaRPr lang="en-US" dirty="0"/>
          </a:p>
        </p:txBody>
      </p:sp>
      <p:sp>
        <p:nvSpPr>
          <p:cNvPr id="31" name="Shape 23"/>
          <p:cNvSpPr/>
          <p:nvPr/>
        </p:nvSpPr>
        <p:spPr>
          <a:xfrm>
            <a:off x="9422892" y="3707791"/>
            <a:ext cx="402336" cy="402336"/>
          </a:xfrm>
          <a:prstGeom prst="ellipse">
            <a:avLst/>
          </a:prstGeom>
          <a:solidFill>
            <a:srgbClr val="23272E"/>
          </a:solidFill>
          <a:ln w="15875">
            <a:solidFill>
              <a:srgbClr val="C8A24A"/>
            </a:solidFill>
            <a:prstDash val="solid"/>
          </a:ln>
        </p:spPr>
        <p:txBody>
          <a:bodyPr/>
          <a:lstStyle/>
          <a:p>
            <a:endParaRPr lang="en-US"/>
          </a:p>
        </p:txBody>
      </p:sp>
      <p:pic>
        <p:nvPicPr>
          <p:cNvPr id="32" name="Image 6" descr="preencoded.png"/>
          <p:cNvPicPr>
            <a:picLocks noChangeAspect="1"/>
          </p:cNvPicPr>
          <p:nvPr/>
        </p:nvPicPr>
        <p:blipFill>
          <a:blip r:embed="rId5"/>
          <a:stretch>
            <a:fillRect/>
          </a:stretch>
        </p:blipFill>
        <p:spPr>
          <a:xfrm>
            <a:off x="9535546" y="3820445"/>
            <a:ext cx="177028" cy="177028"/>
          </a:xfrm>
          <a:prstGeom prst="rect">
            <a:avLst/>
          </a:prstGeom>
        </p:spPr>
      </p:pic>
      <p:sp>
        <p:nvSpPr>
          <p:cNvPr id="33" name="Text 24"/>
          <p:cNvSpPr/>
          <p:nvPr/>
        </p:nvSpPr>
        <p:spPr>
          <a:xfrm>
            <a:off x="9098280" y="4128415"/>
            <a:ext cx="1051560" cy="274320"/>
          </a:xfrm>
          <a:prstGeom prst="rect">
            <a:avLst/>
          </a:prstGeom>
          <a:noFill/>
          <a:ln/>
        </p:spPr>
        <p:txBody>
          <a:bodyPr wrap="square" lIns="0" tIns="0" rIns="0" bIns="0" rtlCol="0" anchor="ctr"/>
          <a:lstStyle/>
          <a:p>
            <a:pPr marL="0" indent="0" algn="ctr">
              <a:buNone/>
            </a:pPr>
            <a:r>
              <a:rPr lang="en-US" sz="1000" b="1" dirty="0">
                <a:solidFill>
                  <a:srgbClr val="F2EEE6"/>
                </a:solidFill>
                <a:latin typeface="Calibri" pitchFamily="34" charset="0"/>
                <a:ea typeface="Calibri" pitchFamily="34" charset="-122"/>
                <a:cs typeface="Calibri" pitchFamily="34" charset="-120"/>
              </a:rPr>
              <a:t>Dining/Wellness</a:t>
            </a:r>
            <a:endParaRPr lang="en-US" sz="1000" dirty="0"/>
          </a:p>
        </p:txBody>
      </p:sp>
      <p:sp>
        <p:nvSpPr>
          <p:cNvPr id="34" name="Shape 25"/>
          <p:cNvSpPr/>
          <p:nvPr/>
        </p:nvSpPr>
        <p:spPr>
          <a:xfrm>
            <a:off x="7955280" y="4576471"/>
            <a:ext cx="1051560" cy="868680"/>
          </a:xfrm>
          <a:prstGeom prst="roundRect">
            <a:avLst>
              <a:gd name="adj" fmla="val 6316"/>
            </a:avLst>
          </a:prstGeom>
          <a:solidFill>
            <a:srgbClr val="23272E"/>
          </a:solidFill>
          <a:ln w="12700">
            <a:solidFill>
              <a:srgbClr val="3A3E46"/>
            </a:solidFill>
            <a:prstDash val="solid"/>
          </a:ln>
        </p:spPr>
        <p:txBody>
          <a:bodyPr/>
          <a:lstStyle/>
          <a:p>
            <a:endParaRPr lang="en-US"/>
          </a:p>
        </p:txBody>
      </p:sp>
      <p:sp>
        <p:nvSpPr>
          <p:cNvPr id="35" name="Shape 26"/>
          <p:cNvSpPr/>
          <p:nvPr/>
        </p:nvSpPr>
        <p:spPr>
          <a:xfrm>
            <a:off x="8279892" y="4686199"/>
            <a:ext cx="402336" cy="402336"/>
          </a:xfrm>
          <a:prstGeom prst="ellipse">
            <a:avLst/>
          </a:prstGeom>
          <a:solidFill>
            <a:srgbClr val="23272E"/>
          </a:solidFill>
          <a:ln w="15875">
            <a:solidFill>
              <a:srgbClr val="C8A24A"/>
            </a:solidFill>
            <a:prstDash val="solid"/>
          </a:ln>
        </p:spPr>
        <p:txBody>
          <a:bodyPr/>
          <a:lstStyle/>
          <a:p>
            <a:endParaRPr lang="en-US"/>
          </a:p>
        </p:txBody>
      </p:sp>
      <p:pic>
        <p:nvPicPr>
          <p:cNvPr id="36" name="Image 7" descr="preencoded.png"/>
          <p:cNvPicPr>
            <a:picLocks noChangeAspect="1"/>
          </p:cNvPicPr>
          <p:nvPr/>
        </p:nvPicPr>
        <p:blipFill>
          <a:blip r:embed="rId7"/>
          <a:stretch>
            <a:fillRect/>
          </a:stretch>
        </p:blipFill>
        <p:spPr>
          <a:xfrm>
            <a:off x="8392546" y="4798853"/>
            <a:ext cx="177028" cy="177028"/>
          </a:xfrm>
          <a:prstGeom prst="rect">
            <a:avLst/>
          </a:prstGeom>
        </p:spPr>
      </p:pic>
      <p:sp>
        <p:nvSpPr>
          <p:cNvPr id="37" name="Text 27"/>
          <p:cNvSpPr/>
          <p:nvPr/>
        </p:nvSpPr>
        <p:spPr>
          <a:xfrm>
            <a:off x="7955280" y="5106823"/>
            <a:ext cx="1051560" cy="274320"/>
          </a:xfrm>
          <a:prstGeom prst="rect">
            <a:avLst/>
          </a:prstGeom>
          <a:noFill/>
          <a:ln/>
        </p:spPr>
        <p:txBody>
          <a:bodyPr wrap="square" lIns="0" tIns="0" rIns="0" bIns="0" rtlCol="0" anchor="ctr"/>
          <a:lstStyle/>
          <a:p>
            <a:pPr marL="0" indent="0" algn="ctr">
              <a:buNone/>
            </a:pPr>
            <a:r>
              <a:rPr lang="th-TH" sz="1000" b="1" dirty="0" err="1">
                <a:solidFill>
                  <a:srgbClr val="F2EEE6"/>
                </a:solidFill>
                <a:latin typeface="Calibri" pitchFamily="34" charset="0"/>
                <a:cs typeface="Calibri" pitchFamily="34" charset="-120"/>
              </a:rPr>
              <a:t>Guided</a:t>
            </a:r>
            <a:r>
              <a:rPr lang="th-TH" sz="1000" b="1" dirty="0">
                <a:solidFill>
                  <a:srgbClr val="F2EEE6"/>
                </a:solidFill>
                <a:latin typeface="Calibri" pitchFamily="34" charset="0"/>
                <a:cs typeface="Calibri" pitchFamily="34" charset="-120"/>
              </a:rPr>
              <a:t> </a:t>
            </a:r>
            <a:r>
              <a:rPr lang="th-TH" sz="1000" b="1" dirty="0" err="1">
                <a:solidFill>
                  <a:srgbClr val="F2EEE6"/>
                </a:solidFill>
                <a:latin typeface="Calibri" pitchFamily="34" charset="0"/>
                <a:cs typeface="Calibri" pitchFamily="34" charset="-120"/>
              </a:rPr>
              <a:t>Experience</a:t>
            </a:r>
            <a:r>
              <a:rPr lang="en-US" sz="1000" b="1" dirty="0">
                <a:solidFill>
                  <a:srgbClr val="F2EEE6"/>
                </a:solidFill>
                <a:latin typeface="Calibri" pitchFamily="34" charset="0"/>
                <a:cs typeface="Calibri" pitchFamily="34" charset="-120"/>
              </a:rPr>
              <a:t> </a:t>
            </a:r>
            <a:endParaRPr lang="en-US" sz="1000" dirty="0"/>
          </a:p>
        </p:txBody>
      </p:sp>
      <p:sp>
        <p:nvSpPr>
          <p:cNvPr id="38" name="Shape 28"/>
          <p:cNvSpPr/>
          <p:nvPr/>
        </p:nvSpPr>
        <p:spPr>
          <a:xfrm>
            <a:off x="9098280" y="4576471"/>
            <a:ext cx="1051560" cy="868680"/>
          </a:xfrm>
          <a:prstGeom prst="roundRect">
            <a:avLst>
              <a:gd name="adj" fmla="val 6316"/>
            </a:avLst>
          </a:prstGeom>
          <a:solidFill>
            <a:srgbClr val="23272E"/>
          </a:solidFill>
          <a:ln w="12700">
            <a:solidFill>
              <a:srgbClr val="3A3E46"/>
            </a:solidFill>
            <a:prstDash val="solid"/>
          </a:ln>
        </p:spPr>
        <p:txBody>
          <a:bodyPr/>
          <a:lstStyle/>
          <a:p>
            <a:endParaRPr lang="en-US"/>
          </a:p>
        </p:txBody>
      </p:sp>
      <p:sp>
        <p:nvSpPr>
          <p:cNvPr id="39" name="Shape 29"/>
          <p:cNvSpPr/>
          <p:nvPr/>
        </p:nvSpPr>
        <p:spPr>
          <a:xfrm>
            <a:off x="9422892" y="4686199"/>
            <a:ext cx="402336" cy="402336"/>
          </a:xfrm>
          <a:prstGeom prst="ellipse">
            <a:avLst/>
          </a:prstGeom>
          <a:solidFill>
            <a:srgbClr val="23272E"/>
          </a:solidFill>
          <a:ln w="15875">
            <a:solidFill>
              <a:srgbClr val="C8A24A"/>
            </a:solidFill>
            <a:prstDash val="solid"/>
          </a:ln>
        </p:spPr>
        <p:txBody>
          <a:bodyPr/>
          <a:lstStyle/>
          <a:p>
            <a:endParaRPr lang="en-US"/>
          </a:p>
        </p:txBody>
      </p:sp>
      <p:pic>
        <p:nvPicPr>
          <p:cNvPr id="40" name="Image 8" descr="preencoded.png"/>
          <p:cNvPicPr>
            <a:picLocks noChangeAspect="1"/>
          </p:cNvPicPr>
          <p:nvPr/>
        </p:nvPicPr>
        <p:blipFill>
          <a:blip r:embed="rId3"/>
          <a:stretch>
            <a:fillRect/>
          </a:stretch>
        </p:blipFill>
        <p:spPr>
          <a:xfrm>
            <a:off x="9535546" y="4798853"/>
            <a:ext cx="177028" cy="177028"/>
          </a:xfrm>
          <a:prstGeom prst="rect">
            <a:avLst/>
          </a:prstGeom>
        </p:spPr>
      </p:pic>
      <p:sp>
        <p:nvSpPr>
          <p:cNvPr id="41" name="Text 30"/>
          <p:cNvSpPr/>
          <p:nvPr/>
        </p:nvSpPr>
        <p:spPr>
          <a:xfrm>
            <a:off x="9098280" y="5106823"/>
            <a:ext cx="1051560" cy="274320"/>
          </a:xfrm>
          <a:prstGeom prst="rect">
            <a:avLst/>
          </a:prstGeom>
          <a:noFill/>
          <a:ln/>
        </p:spPr>
        <p:txBody>
          <a:bodyPr wrap="square" lIns="0" tIns="0" rIns="0" bIns="0" rtlCol="0" anchor="ctr"/>
          <a:lstStyle/>
          <a:p>
            <a:pPr marL="0" indent="0" algn="ctr">
              <a:buNone/>
            </a:pPr>
            <a:r>
              <a:rPr lang="en-US" sz="1000" b="1" dirty="0">
                <a:solidFill>
                  <a:srgbClr val="F2EEE6"/>
                </a:solidFill>
                <a:latin typeface="Calibri" pitchFamily="34" charset="0"/>
                <a:ea typeface="Calibri" pitchFamily="34" charset="-122"/>
                <a:cs typeface="Calibri" pitchFamily="34" charset="-120"/>
              </a:rPr>
              <a:t>Cultures Experience Nearby</a:t>
            </a:r>
            <a:endParaRPr lang="en-US" sz="1000" dirty="0"/>
          </a:p>
        </p:txBody>
      </p:sp>
      <p:sp>
        <p:nvSpPr>
          <p:cNvPr id="42" name="Text 31"/>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43" name="Text 32"/>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20</a:t>
            </a:r>
            <a:endParaRPr lang="en-US" sz="1000" dirty="0"/>
          </a:p>
        </p:txBody>
      </p:sp>
      <p:sp>
        <p:nvSpPr>
          <p:cNvPr id="59" name="Shape 25">
            <a:extLst>
              <a:ext uri="{FF2B5EF4-FFF2-40B4-BE49-F238E27FC236}">
                <a16:creationId xmlns:a16="http://schemas.microsoft.com/office/drawing/2014/main" id="{07DF269B-B1C6-5988-0FF9-13CF135B41DE}"/>
              </a:ext>
            </a:extLst>
          </p:cNvPr>
          <p:cNvSpPr/>
          <p:nvPr/>
        </p:nvSpPr>
        <p:spPr>
          <a:xfrm>
            <a:off x="7956129" y="5552423"/>
            <a:ext cx="1051560" cy="868680"/>
          </a:xfrm>
          <a:prstGeom prst="roundRect">
            <a:avLst>
              <a:gd name="adj" fmla="val 6316"/>
            </a:avLst>
          </a:prstGeom>
          <a:solidFill>
            <a:srgbClr val="23272E"/>
          </a:solidFill>
          <a:ln w="12700">
            <a:solidFill>
              <a:srgbClr val="3A3E4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5" name="Text 27">
            <a:extLst>
              <a:ext uri="{FF2B5EF4-FFF2-40B4-BE49-F238E27FC236}">
                <a16:creationId xmlns:a16="http://schemas.microsoft.com/office/drawing/2014/main" id="{5D5C6937-EE63-71A6-0F3B-75FCACAEE4BC}"/>
              </a:ext>
            </a:extLst>
          </p:cNvPr>
          <p:cNvSpPr/>
          <p:nvPr/>
        </p:nvSpPr>
        <p:spPr>
          <a:xfrm>
            <a:off x="7956129" y="6082775"/>
            <a:ext cx="10515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F2EEE6"/>
                </a:solidFill>
                <a:latin typeface="Calibri" pitchFamily="34" charset="0"/>
                <a:cs typeface="Calibri" pitchFamily="34" charset="-120"/>
              </a:rPr>
              <a:t>Best Valued-Hotel Packages</a:t>
            </a:r>
            <a:endParaRPr lang="en-US" sz="1000" dirty="0"/>
          </a:p>
        </p:txBody>
      </p:sp>
      <p:sp>
        <p:nvSpPr>
          <p:cNvPr id="67" name="Shape 28">
            <a:extLst>
              <a:ext uri="{FF2B5EF4-FFF2-40B4-BE49-F238E27FC236}">
                <a16:creationId xmlns:a16="http://schemas.microsoft.com/office/drawing/2014/main" id="{6819C540-51CE-0B3E-2E23-7626474A033A}"/>
              </a:ext>
            </a:extLst>
          </p:cNvPr>
          <p:cNvSpPr/>
          <p:nvPr/>
        </p:nvSpPr>
        <p:spPr>
          <a:xfrm>
            <a:off x="9099129" y="5552423"/>
            <a:ext cx="1051560" cy="868680"/>
          </a:xfrm>
          <a:prstGeom prst="roundRect">
            <a:avLst>
              <a:gd name="adj" fmla="val 6316"/>
            </a:avLst>
          </a:prstGeom>
          <a:solidFill>
            <a:srgbClr val="23272E"/>
          </a:solidFill>
          <a:ln w="12700">
            <a:solidFill>
              <a:srgbClr val="3A3E4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Text 30">
            <a:extLst>
              <a:ext uri="{FF2B5EF4-FFF2-40B4-BE49-F238E27FC236}">
                <a16:creationId xmlns:a16="http://schemas.microsoft.com/office/drawing/2014/main" id="{7EAC0E10-0AB8-9F31-32DD-EEB96156588F}"/>
              </a:ext>
            </a:extLst>
          </p:cNvPr>
          <p:cNvSpPr/>
          <p:nvPr/>
        </p:nvSpPr>
        <p:spPr>
          <a:xfrm>
            <a:off x="9099129" y="6082775"/>
            <a:ext cx="10515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err="1">
                <a:solidFill>
                  <a:srgbClr val="F2EEE6"/>
                </a:solidFill>
                <a:latin typeface="Calibri" pitchFamily="34" charset="0"/>
                <a:cs typeface="Calibri" pitchFamily="34" charset="-120"/>
              </a:rPr>
              <a:t>AsiaGO</a:t>
            </a:r>
            <a:r>
              <a:rPr lang="en-US" sz="1000" b="1" dirty="0">
                <a:solidFill>
                  <a:srgbClr val="F2EEE6"/>
                </a:solidFill>
                <a:latin typeface="Calibri" pitchFamily="34" charset="0"/>
                <a:cs typeface="Calibri" pitchFamily="34" charset="-120"/>
              </a:rPr>
              <a:t> Hotel Collection </a:t>
            </a:r>
            <a:endParaRPr lang="en-US" sz="1000" dirty="0"/>
          </a:p>
        </p:txBody>
      </p:sp>
      <p:sp>
        <p:nvSpPr>
          <p:cNvPr id="77" name="Shape 31">
            <a:extLst>
              <a:ext uri="{FF2B5EF4-FFF2-40B4-BE49-F238E27FC236}">
                <a16:creationId xmlns:a16="http://schemas.microsoft.com/office/drawing/2014/main" id="{D9C262C3-FBEE-CF2A-945B-128868C008DC}"/>
              </a:ext>
            </a:extLst>
          </p:cNvPr>
          <p:cNvSpPr/>
          <p:nvPr/>
        </p:nvSpPr>
        <p:spPr>
          <a:xfrm>
            <a:off x="8322228" y="566191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79" name="Image 32" descr="preencoded.png">
            <a:extLst>
              <a:ext uri="{FF2B5EF4-FFF2-40B4-BE49-F238E27FC236}">
                <a16:creationId xmlns:a16="http://schemas.microsoft.com/office/drawing/2014/main" id="{3569A35D-AA3F-5A6E-3528-91A861F8C3EC}"/>
              </a:ext>
            </a:extLst>
          </p:cNvPr>
          <p:cNvPicPr>
            <a:picLocks noChangeAspect="1"/>
          </p:cNvPicPr>
          <p:nvPr/>
        </p:nvPicPr>
        <p:blipFill>
          <a:blip r:embed="rId8"/>
          <a:stretch>
            <a:fillRect/>
          </a:stretch>
        </p:blipFill>
        <p:spPr>
          <a:xfrm>
            <a:off x="8423028" y="5762710"/>
            <a:ext cx="158400" cy="158400"/>
          </a:xfrm>
          <a:prstGeom prst="rect">
            <a:avLst/>
          </a:prstGeom>
        </p:spPr>
      </p:pic>
      <p:sp>
        <p:nvSpPr>
          <p:cNvPr id="81" name="Shape 34">
            <a:extLst>
              <a:ext uri="{FF2B5EF4-FFF2-40B4-BE49-F238E27FC236}">
                <a16:creationId xmlns:a16="http://schemas.microsoft.com/office/drawing/2014/main" id="{89A1D352-9FB1-2002-2D4A-90B1D377D6A8}"/>
              </a:ext>
            </a:extLst>
          </p:cNvPr>
          <p:cNvSpPr/>
          <p:nvPr/>
        </p:nvSpPr>
        <p:spPr>
          <a:xfrm>
            <a:off x="9422892" y="5669139"/>
            <a:ext cx="360000" cy="360000"/>
          </a:xfrm>
          <a:prstGeom prst="ellipse">
            <a:avLst/>
          </a:prstGeom>
          <a:solidFill>
            <a:srgbClr val="23272E"/>
          </a:solidFill>
          <a:ln w="15875">
            <a:solidFill>
              <a:srgbClr val="C8A24A"/>
            </a:solidFill>
            <a:prstDash val="solid"/>
          </a:ln>
        </p:spPr>
        <p:txBody>
          <a:bodyPr/>
          <a:lstStyle/>
          <a:p>
            <a:endParaRPr lang="en-US"/>
          </a:p>
        </p:txBody>
      </p:sp>
      <p:pic>
        <p:nvPicPr>
          <p:cNvPr id="83" name="Image 35" descr="preencoded.png">
            <a:extLst>
              <a:ext uri="{FF2B5EF4-FFF2-40B4-BE49-F238E27FC236}">
                <a16:creationId xmlns:a16="http://schemas.microsoft.com/office/drawing/2014/main" id="{265D4357-AEDF-6AF2-57A8-7408FD420650}"/>
              </a:ext>
            </a:extLst>
          </p:cNvPr>
          <p:cNvPicPr>
            <a:picLocks noChangeAspect="1"/>
          </p:cNvPicPr>
          <p:nvPr/>
        </p:nvPicPr>
        <p:blipFill>
          <a:blip r:embed="rId9"/>
          <a:stretch>
            <a:fillRect/>
          </a:stretch>
        </p:blipFill>
        <p:spPr>
          <a:xfrm>
            <a:off x="9523692" y="5769939"/>
            <a:ext cx="158400" cy="158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121316"/>
        </a:solidFill>
        <a:effectLst/>
      </p:bgPr>
    </p:bg>
    <p:spTree>
      <p:nvGrpSpPr>
        <p:cNvPr id="1" name=""/>
        <p:cNvGrpSpPr/>
        <p:nvPr/>
      </p:nvGrpSpPr>
      <p:grpSpPr>
        <a:xfrm>
          <a:off x="0" y="0"/>
          <a:ext cx="0" cy="0"/>
          <a:chOff x="0" y="0"/>
          <a:chExt cx="0" cy="0"/>
        </a:xfrm>
      </p:grpSpPr>
      <p:pic>
        <p:nvPicPr>
          <p:cNvPr id="2" name="Image 0" descr="/home/claude/deck/img/what.jpg"/>
          <p:cNvPicPr>
            <a:picLocks noChangeAspect="1"/>
          </p:cNvPicPr>
          <p:nvPr/>
        </p:nvPicPr>
        <p:blipFill>
          <a:blip r:embed="rId3"/>
          <a:srcRect/>
          <a:stretch/>
        </p:blipFill>
        <p:spPr>
          <a:xfrm>
            <a:off x="822960" y="566928"/>
            <a:ext cx="3154680" cy="5724144"/>
          </a:xfrm>
          <a:prstGeom prst="rect">
            <a:avLst/>
          </a:prstGeom>
          <a:effectLst>
            <a:outerShdw blurRad="114300" dist="38100" dir="8100000" algn="bl" rotWithShape="0">
              <a:srgbClr val="000000">
                <a:alpha val="45000"/>
              </a:srgbClr>
            </a:outerShdw>
          </a:effectLst>
        </p:spPr>
      </p:pic>
      <p:sp>
        <p:nvSpPr>
          <p:cNvPr id="3" name="Shape 0"/>
          <p:cNvSpPr/>
          <p:nvPr/>
        </p:nvSpPr>
        <p:spPr>
          <a:xfrm>
            <a:off x="822960" y="566928"/>
            <a:ext cx="3154680" cy="5724144"/>
          </a:xfrm>
          <a:prstGeom prst="rect">
            <a:avLst/>
          </a:prstGeom>
          <a:ln w="12700">
            <a:solidFill>
              <a:srgbClr val="C8A24A"/>
            </a:solidFill>
            <a:prstDash val="solid"/>
          </a:ln>
        </p:spPr>
        <p:txBody>
          <a:bodyPr/>
          <a:lstStyle/>
          <a:p>
            <a:endParaRPr lang="en-SG"/>
          </a:p>
        </p:txBody>
      </p:sp>
      <p:sp>
        <p:nvSpPr>
          <p:cNvPr id="4" name="Text 1"/>
          <p:cNvSpPr/>
          <p:nvPr/>
        </p:nvSpPr>
        <p:spPr>
          <a:xfrm>
            <a:off x="4297680" y="566928"/>
            <a:ext cx="64008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WHAT IS </a:t>
            </a:r>
            <a:r>
              <a:rPr lang="en-US" sz="1150" b="1" kern="0" spc="300" dirty="0" err="1">
                <a:solidFill>
                  <a:srgbClr val="C8A24A"/>
                </a:solidFill>
                <a:latin typeface="Calibri" pitchFamily="34" charset="0"/>
                <a:ea typeface="Calibri" pitchFamily="34" charset="-122"/>
                <a:cs typeface="Calibri" pitchFamily="34" charset="-120"/>
              </a:rPr>
              <a:t>AsiaGO</a:t>
            </a:r>
            <a:r>
              <a:rPr lang="en-US" sz="1150" b="1" kern="0" spc="300" dirty="0">
                <a:solidFill>
                  <a:srgbClr val="C8A24A"/>
                </a:solidFill>
                <a:latin typeface="Calibri" pitchFamily="34" charset="0"/>
                <a:ea typeface="Calibri" pitchFamily="34" charset="-122"/>
                <a:cs typeface="Calibri" pitchFamily="34" charset="-120"/>
              </a:rPr>
              <a:t>! Pass?</a:t>
            </a:r>
            <a:endParaRPr lang="en-US" sz="1150" dirty="0"/>
          </a:p>
        </p:txBody>
      </p:sp>
      <p:sp>
        <p:nvSpPr>
          <p:cNvPr id="5" name="Text 2"/>
          <p:cNvSpPr/>
          <p:nvPr/>
        </p:nvSpPr>
        <p:spPr>
          <a:xfrm>
            <a:off x="4251960" y="868680"/>
            <a:ext cx="7498080" cy="1188720"/>
          </a:xfrm>
          <a:prstGeom prst="rect">
            <a:avLst/>
          </a:prstGeom>
          <a:noFill/>
          <a:ln/>
        </p:spPr>
        <p:txBody>
          <a:bodyPr wrap="square" lIns="0" tIns="0" rIns="0" bIns="0" rtlCol="0" anchor="ctr"/>
          <a:lstStyle/>
          <a:p>
            <a:pPr marL="0" indent="0">
              <a:buNone/>
            </a:pPr>
            <a:r>
              <a:rPr lang="en-US" sz="3100" b="1" dirty="0">
                <a:solidFill>
                  <a:srgbClr val="F2EEE6"/>
                </a:solidFill>
                <a:latin typeface="Georgia" pitchFamily="34" charset="0"/>
                <a:ea typeface="Georgia" pitchFamily="34" charset="-122"/>
                <a:cs typeface="Georgia" pitchFamily="34" charset="-120"/>
              </a:rPr>
              <a:t>A curated tourism &amp;</a:t>
            </a:r>
            <a:endParaRPr lang="en-US" sz="3100" dirty="0"/>
          </a:p>
          <a:p>
            <a:pPr marL="0" indent="0">
              <a:buNone/>
            </a:pPr>
            <a:r>
              <a:rPr lang="en-US" sz="3100" b="1" dirty="0">
                <a:solidFill>
                  <a:srgbClr val="F2EEE6"/>
                </a:solidFill>
                <a:latin typeface="Georgia" pitchFamily="34" charset="0"/>
                <a:ea typeface="Georgia" pitchFamily="34" charset="-122"/>
                <a:cs typeface="Georgia" pitchFamily="34" charset="-120"/>
              </a:rPr>
              <a:t>lifestyle experience platform</a:t>
            </a:r>
            <a:endParaRPr lang="en-US" sz="3100" dirty="0"/>
          </a:p>
        </p:txBody>
      </p:sp>
      <p:sp>
        <p:nvSpPr>
          <p:cNvPr id="6" name="Text 3"/>
          <p:cNvSpPr/>
          <p:nvPr/>
        </p:nvSpPr>
        <p:spPr>
          <a:xfrm>
            <a:off x="4297680" y="2103120"/>
            <a:ext cx="7315200" cy="457200"/>
          </a:xfrm>
          <a:prstGeom prst="rect">
            <a:avLst/>
          </a:prstGeom>
          <a:noFill/>
          <a:ln/>
        </p:spPr>
        <p:txBody>
          <a:bodyPr wrap="square" lIns="0" tIns="0" rIns="0" bIns="0" rtlCol="0" anchor="ctr"/>
          <a:lstStyle/>
          <a:p>
            <a:pPr marL="0" indent="0">
              <a:buNone/>
            </a:pPr>
            <a:r>
              <a:rPr lang="en-US" sz="1550" dirty="0">
                <a:solidFill>
                  <a:srgbClr val="A7A296"/>
                </a:solidFill>
                <a:latin typeface="Calibri" pitchFamily="34" charset="0"/>
                <a:ea typeface="Calibri" pitchFamily="34" charset="-122"/>
                <a:cs typeface="Calibri" pitchFamily="34" charset="-120"/>
              </a:rPr>
              <a:t>We help visitors discover the very best of Singapore through:</a:t>
            </a:r>
            <a:endParaRPr lang="en-US" sz="1550" dirty="0"/>
          </a:p>
        </p:txBody>
      </p:sp>
      <p:sp>
        <p:nvSpPr>
          <p:cNvPr id="7" name="Shape 4"/>
          <p:cNvSpPr/>
          <p:nvPr/>
        </p:nvSpPr>
        <p:spPr>
          <a:xfrm>
            <a:off x="4297680" y="2697480"/>
            <a:ext cx="3566160" cy="1024128"/>
          </a:xfrm>
          <a:prstGeom prst="rect">
            <a:avLst/>
          </a:prstGeom>
          <a:solidFill>
            <a:srgbClr val="1C1F24"/>
          </a:solidFill>
          <a:ln w="12700">
            <a:solidFill>
              <a:srgbClr val="3A3E46"/>
            </a:solidFill>
            <a:prstDash val="solid"/>
          </a:ln>
        </p:spPr>
        <p:txBody>
          <a:bodyPr/>
          <a:lstStyle/>
          <a:p>
            <a:endParaRPr lang="en-SG"/>
          </a:p>
        </p:txBody>
      </p:sp>
      <p:sp>
        <p:nvSpPr>
          <p:cNvPr id="8" name="Shape 5"/>
          <p:cNvSpPr/>
          <p:nvPr/>
        </p:nvSpPr>
        <p:spPr>
          <a:xfrm>
            <a:off x="4498848" y="2935224"/>
            <a:ext cx="548640" cy="548640"/>
          </a:xfrm>
          <a:prstGeom prst="ellipse">
            <a:avLst/>
          </a:prstGeom>
          <a:solidFill>
            <a:srgbClr val="23272E"/>
          </a:solidFill>
          <a:ln w="15875">
            <a:solidFill>
              <a:srgbClr val="C8A24A"/>
            </a:solidFill>
            <a:prstDash val="solid"/>
          </a:ln>
        </p:spPr>
        <p:txBody>
          <a:bodyPr/>
          <a:lstStyle/>
          <a:p>
            <a:endParaRPr lang="en-SG"/>
          </a:p>
        </p:txBody>
      </p:sp>
      <p:pic>
        <p:nvPicPr>
          <p:cNvPr id="9" name="Image 1" descr="preencoded.png"/>
          <p:cNvPicPr>
            <a:picLocks noChangeAspect="1"/>
          </p:cNvPicPr>
          <p:nvPr/>
        </p:nvPicPr>
        <p:blipFill>
          <a:blip r:embed="rId4"/>
          <a:stretch>
            <a:fillRect/>
          </a:stretch>
        </p:blipFill>
        <p:spPr>
          <a:xfrm>
            <a:off x="4652467" y="3088843"/>
            <a:ext cx="241402" cy="241402"/>
          </a:xfrm>
          <a:prstGeom prst="rect">
            <a:avLst/>
          </a:prstGeom>
        </p:spPr>
      </p:pic>
      <p:sp>
        <p:nvSpPr>
          <p:cNvPr id="10" name="Text 6"/>
          <p:cNvSpPr/>
          <p:nvPr/>
        </p:nvSpPr>
        <p:spPr>
          <a:xfrm>
            <a:off x="5212080" y="2843784"/>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Luxury Dining</a:t>
            </a:r>
            <a:endParaRPr lang="en-US" sz="1400" dirty="0"/>
          </a:p>
        </p:txBody>
      </p:sp>
      <p:sp>
        <p:nvSpPr>
          <p:cNvPr id="11" name="Text 7"/>
          <p:cNvSpPr/>
          <p:nvPr/>
        </p:nvSpPr>
        <p:spPr>
          <a:xfrm>
            <a:off x="5212080" y="3191256"/>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Signature tables &amp; chef experiences</a:t>
            </a:r>
            <a:endParaRPr lang="en-US" sz="1100" dirty="0"/>
          </a:p>
        </p:txBody>
      </p:sp>
      <p:sp>
        <p:nvSpPr>
          <p:cNvPr id="12" name="Shape 8"/>
          <p:cNvSpPr/>
          <p:nvPr/>
        </p:nvSpPr>
        <p:spPr>
          <a:xfrm>
            <a:off x="8046720" y="2697480"/>
            <a:ext cx="3566160" cy="1024128"/>
          </a:xfrm>
          <a:prstGeom prst="rect">
            <a:avLst/>
          </a:prstGeom>
          <a:solidFill>
            <a:srgbClr val="1C1F24"/>
          </a:solidFill>
          <a:ln w="12700">
            <a:solidFill>
              <a:srgbClr val="3A3E46"/>
            </a:solidFill>
            <a:prstDash val="solid"/>
          </a:ln>
        </p:spPr>
        <p:txBody>
          <a:bodyPr/>
          <a:lstStyle/>
          <a:p>
            <a:endParaRPr lang="en-SG"/>
          </a:p>
        </p:txBody>
      </p:sp>
      <p:sp>
        <p:nvSpPr>
          <p:cNvPr id="13" name="Shape 9"/>
          <p:cNvSpPr/>
          <p:nvPr/>
        </p:nvSpPr>
        <p:spPr>
          <a:xfrm>
            <a:off x="8247888" y="2935224"/>
            <a:ext cx="548640" cy="548640"/>
          </a:xfrm>
          <a:prstGeom prst="ellipse">
            <a:avLst/>
          </a:prstGeom>
          <a:solidFill>
            <a:srgbClr val="23272E"/>
          </a:solidFill>
          <a:ln w="15875">
            <a:solidFill>
              <a:srgbClr val="C8A24A"/>
            </a:solidFill>
            <a:prstDash val="solid"/>
          </a:ln>
        </p:spPr>
        <p:txBody>
          <a:bodyPr/>
          <a:lstStyle/>
          <a:p>
            <a:endParaRPr lang="en-SG"/>
          </a:p>
        </p:txBody>
      </p:sp>
      <p:pic>
        <p:nvPicPr>
          <p:cNvPr id="14" name="Image 2" descr="preencoded.png"/>
          <p:cNvPicPr>
            <a:picLocks noChangeAspect="1"/>
          </p:cNvPicPr>
          <p:nvPr/>
        </p:nvPicPr>
        <p:blipFill>
          <a:blip r:embed="rId5"/>
          <a:stretch>
            <a:fillRect/>
          </a:stretch>
        </p:blipFill>
        <p:spPr>
          <a:xfrm>
            <a:off x="8401507" y="3088843"/>
            <a:ext cx="241402" cy="241402"/>
          </a:xfrm>
          <a:prstGeom prst="rect">
            <a:avLst/>
          </a:prstGeom>
        </p:spPr>
      </p:pic>
      <p:sp>
        <p:nvSpPr>
          <p:cNvPr id="15" name="Text 10"/>
          <p:cNvSpPr/>
          <p:nvPr/>
        </p:nvSpPr>
        <p:spPr>
          <a:xfrm>
            <a:off x="8961120" y="2843784"/>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Attractions</a:t>
            </a:r>
            <a:endParaRPr lang="en-US" sz="1400" dirty="0"/>
          </a:p>
        </p:txBody>
      </p:sp>
      <p:sp>
        <p:nvSpPr>
          <p:cNvPr id="16" name="Text 11"/>
          <p:cNvSpPr/>
          <p:nvPr/>
        </p:nvSpPr>
        <p:spPr>
          <a:xfrm>
            <a:off x="8961120" y="3191256"/>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Iconic sights and exclusive access</a:t>
            </a:r>
            <a:endParaRPr lang="en-US" sz="1100" dirty="0"/>
          </a:p>
        </p:txBody>
      </p:sp>
      <p:sp>
        <p:nvSpPr>
          <p:cNvPr id="17" name="Shape 12"/>
          <p:cNvSpPr/>
          <p:nvPr/>
        </p:nvSpPr>
        <p:spPr>
          <a:xfrm>
            <a:off x="4297680" y="3867912"/>
            <a:ext cx="3566160" cy="1024128"/>
          </a:xfrm>
          <a:prstGeom prst="rect">
            <a:avLst/>
          </a:prstGeom>
          <a:solidFill>
            <a:srgbClr val="1C1F24"/>
          </a:solidFill>
          <a:ln w="12700">
            <a:solidFill>
              <a:srgbClr val="3A3E46"/>
            </a:solidFill>
            <a:prstDash val="solid"/>
          </a:ln>
        </p:spPr>
        <p:txBody>
          <a:bodyPr/>
          <a:lstStyle/>
          <a:p>
            <a:endParaRPr lang="en-SG"/>
          </a:p>
        </p:txBody>
      </p:sp>
      <p:sp>
        <p:nvSpPr>
          <p:cNvPr id="18" name="Shape 13"/>
          <p:cNvSpPr/>
          <p:nvPr/>
        </p:nvSpPr>
        <p:spPr>
          <a:xfrm>
            <a:off x="4498848" y="4105656"/>
            <a:ext cx="548640" cy="548640"/>
          </a:xfrm>
          <a:prstGeom prst="ellipse">
            <a:avLst/>
          </a:prstGeom>
          <a:solidFill>
            <a:srgbClr val="23272E"/>
          </a:solidFill>
          <a:ln w="15875">
            <a:solidFill>
              <a:srgbClr val="C8A24A"/>
            </a:solidFill>
            <a:prstDash val="solid"/>
          </a:ln>
        </p:spPr>
        <p:txBody>
          <a:bodyPr/>
          <a:lstStyle/>
          <a:p>
            <a:endParaRPr lang="en-SG"/>
          </a:p>
        </p:txBody>
      </p:sp>
      <p:pic>
        <p:nvPicPr>
          <p:cNvPr id="19" name="Image 3" descr="preencoded.png"/>
          <p:cNvPicPr>
            <a:picLocks noChangeAspect="1"/>
          </p:cNvPicPr>
          <p:nvPr/>
        </p:nvPicPr>
        <p:blipFill>
          <a:blip r:embed="rId6"/>
          <a:stretch>
            <a:fillRect/>
          </a:stretch>
        </p:blipFill>
        <p:spPr>
          <a:xfrm>
            <a:off x="4652467" y="4259275"/>
            <a:ext cx="241402" cy="241402"/>
          </a:xfrm>
          <a:prstGeom prst="rect">
            <a:avLst/>
          </a:prstGeom>
        </p:spPr>
      </p:pic>
      <p:sp>
        <p:nvSpPr>
          <p:cNvPr id="20" name="Text 14"/>
          <p:cNvSpPr/>
          <p:nvPr/>
        </p:nvSpPr>
        <p:spPr>
          <a:xfrm>
            <a:off x="5212080" y="4014216"/>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Wellness Experiences</a:t>
            </a:r>
            <a:endParaRPr lang="en-US" sz="1400" dirty="0"/>
          </a:p>
        </p:txBody>
      </p:sp>
      <p:sp>
        <p:nvSpPr>
          <p:cNvPr id="21" name="Text 15"/>
          <p:cNvSpPr/>
          <p:nvPr/>
        </p:nvSpPr>
        <p:spPr>
          <a:xfrm>
            <a:off x="5212080" y="4361688"/>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Spa, retreats &amp; restorative escapes</a:t>
            </a:r>
            <a:endParaRPr lang="en-US" sz="1100" dirty="0"/>
          </a:p>
        </p:txBody>
      </p:sp>
      <p:sp>
        <p:nvSpPr>
          <p:cNvPr id="22" name="Shape 16"/>
          <p:cNvSpPr/>
          <p:nvPr/>
        </p:nvSpPr>
        <p:spPr>
          <a:xfrm>
            <a:off x="8046720" y="3867912"/>
            <a:ext cx="3566160" cy="1024128"/>
          </a:xfrm>
          <a:prstGeom prst="rect">
            <a:avLst/>
          </a:prstGeom>
          <a:solidFill>
            <a:srgbClr val="1C1F24"/>
          </a:solidFill>
          <a:ln w="12700">
            <a:solidFill>
              <a:srgbClr val="3A3E46"/>
            </a:solidFill>
            <a:prstDash val="solid"/>
          </a:ln>
        </p:spPr>
        <p:txBody>
          <a:bodyPr/>
          <a:lstStyle/>
          <a:p>
            <a:endParaRPr lang="en-SG"/>
          </a:p>
        </p:txBody>
      </p:sp>
      <p:sp>
        <p:nvSpPr>
          <p:cNvPr id="23" name="Shape 17"/>
          <p:cNvSpPr/>
          <p:nvPr/>
        </p:nvSpPr>
        <p:spPr>
          <a:xfrm>
            <a:off x="8247888" y="4105656"/>
            <a:ext cx="548640" cy="548640"/>
          </a:xfrm>
          <a:prstGeom prst="ellipse">
            <a:avLst/>
          </a:prstGeom>
          <a:solidFill>
            <a:srgbClr val="23272E"/>
          </a:solidFill>
          <a:ln w="15875">
            <a:solidFill>
              <a:srgbClr val="C8A24A"/>
            </a:solidFill>
            <a:prstDash val="solid"/>
          </a:ln>
        </p:spPr>
        <p:txBody>
          <a:bodyPr/>
          <a:lstStyle/>
          <a:p>
            <a:endParaRPr lang="en-SG"/>
          </a:p>
        </p:txBody>
      </p:sp>
      <p:pic>
        <p:nvPicPr>
          <p:cNvPr id="24" name="Image 4" descr="preencoded.png"/>
          <p:cNvPicPr>
            <a:picLocks noChangeAspect="1"/>
          </p:cNvPicPr>
          <p:nvPr/>
        </p:nvPicPr>
        <p:blipFill>
          <a:blip r:embed="rId7"/>
          <a:stretch>
            <a:fillRect/>
          </a:stretch>
        </p:blipFill>
        <p:spPr>
          <a:xfrm>
            <a:off x="8401507" y="4259275"/>
            <a:ext cx="241402" cy="241402"/>
          </a:xfrm>
          <a:prstGeom prst="rect">
            <a:avLst/>
          </a:prstGeom>
        </p:spPr>
      </p:pic>
      <p:sp>
        <p:nvSpPr>
          <p:cNvPr id="25" name="Text 18"/>
          <p:cNvSpPr/>
          <p:nvPr/>
        </p:nvSpPr>
        <p:spPr>
          <a:xfrm>
            <a:off x="8961120" y="4014216"/>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Cultural Activities</a:t>
            </a:r>
            <a:endParaRPr lang="en-US" sz="1400" dirty="0"/>
          </a:p>
        </p:txBody>
      </p:sp>
      <p:sp>
        <p:nvSpPr>
          <p:cNvPr id="26" name="Text 19"/>
          <p:cNvSpPr/>
          <p:nvPr/>
        </p:nvSpPr>
        <p:spPr>
          <a:xfrm>
            <a:off x="8961120" y="4361688"/>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Heritage, arts and local life</a:t>
            </a:r>
            <a:endParaRPr lang="en-US" sz="1100" dirty="0"/>
          </a:p>
        </p:txBody>
      </p:sp>
      <p:sp>
        <p:nvSpPr>
          <p:cNvPr id="27" name="Shape 20"/>
          <p:cNvSpPr/>
          <p:nvPr/>
        </p:nvSpPr>
        <p:spPr>
          <a:xfrm>
            <a:off x="4297680" y="5038344"/>
            <a:ext cx="3566160" cy="1024128"/>
          </a:xfrm>
          <a:prstGeom prst="rect">
            <a:avLst/>
          </a:prstGeom>
          <a:solidFill>
            <a:srgbClr val="1C1F24"/>
          </a:solidFill>
          <a:ln w="12700">
            <a:solidFill>
              <a:srgbClr val="3A3E46"/>
            </a:solidFill>
            <a:prstDash val="solid"/>
          </a:ln>
        </p:spPr>
        <p:txBody>
          <a:bodyPr/>
          <a:lstStyle/>
          <a:p>
            <a:endParaRPr lang="en-SG"/>
          </a:p>
        </p:txBody>
      </p:sp>
      <p:sp>
        <p:nvSpPr>
          <p:cNvPr id="28" name="Shape 21"/>
          <p:cNvSpPr/>
          <p:nvPr/>
        </p:nvSpPr>
        <p:spPr>
          <a:xfrm>
            <a:off x="4498848" y="5276088"/>
            <a:ext cx="548640" cy="548640"/>
          </a:xfrm>
          <a:prstGeom prst="ellipse">
            <a:avLst/>
          </a:prstGeom>
          <a:solidFill>
            <a:srgbClr val="23272E"/>
          </a:solidFill>
          <a:ln w="15875">
            <a:solidFill>
              <a:srgbClr val="C8A24A"/>
            </a:solidFill>
            <a:prstDash val="solid"/>
          </a:ln>
        </p:spPr>
        <p:txBody>
          <a:bodyPr/>
          <a:lstStyle/>
          <a:p>
            <a:endParaRPr lang="en-SG"/>
          </a:p>
        </p:txBody>
      </p:sp>
      <p:pic>
        <p:nvPicPr>
          <p:cNvPr id="29" name="Image 5" descr="preencoded.png"/>
          <p:cNvPicPr>
            <a:picLocks noChangeAspect="1"/>
          </p:cNvPicPr>
          <p:nvPr/>
        </p:nvPicPr>
        <p:blipFill>
          <a:blip r:embed="rId8"/>
          <a:stretch>
            <a:fillRect/>
          </a:stretch>
        </p:blipFill>
        <p:spPr>
          <a:xfrm>
            <a:off x="4652467" y="5429707"/>
            <a:ext cx="241402" cy="241402"/>
          </a:xfrm>
          <a:prstGeom prst="rect">
            <a:avLst/>
          </a:prstGeom>
        </p:spPr>
      </p:pic>
      <p:sp>
        <p:nvSpPr>
          <p:cNvPr id="30" name="Text 22"/>
          <p:cNvSpPr/>
          <p:nvPr/>
        </p:nvSpPr>
        <p:spPr>
          <a:xfrm>
            <a:off x="5212080" y="5184648"/>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Exclusive Privileges</a:t>
            </a:r>
            <a:endParaRPr lang="en-US" sz="1400" dirty="0"/>
          </a:p>
        </p:txBody>
      </p:sp>
      <p:sp>
        <p:nvSpPr>
          <p:cNvPr id="31" name="Text 23"/>
          <p:cNvSpPr/>
          <p:nvPr/>
        </p:nvSpPr>
        <p:spPr>
          <a:xfrm>
            <a:off x="5212080" y="5532120"/>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Members-only perks across the city</a:t>
            </a:r>
            <a:endParaRPr lang="en-US" sz="1100" dirty="0"/>
          </a:p>
        </p:txBody>
      </p:sp>
      <p:sp>
        <p:nvSpPr>
          <p:cNvPr id="32" name="Shape 24"/>
          <p:cNvSpPr/>
          <p:nvPr/>
        </p:nvSpPr>
        <p:spPr>
          <a:xfrm>
            <a:off x="8046720" y="5038344"/>
            <a:ext cx="3566160" cy="1024128"/>
          </a:xfrm>
          <a:prstGeom prst="rect">
            <a:avLst/>
          </a:prstGeom>
          <a:solidFill>
            <a:srgbClr val="1C1F24"/>
          </a:solidFill>
          <a:ln w="12700">
            <a:solidFill>
              <a:srgbClr val="3A3E46"/>
            </a:solidFill>
            <a:prstDash val="solid"/>
          </a:ln>
        </p:spPr>
        <p:txBody>
          <a:bodyPr/>
          <a:lstStyle/>
          <a:p>
            <a:endParaRPr lang="en-SG"/>
          </a:p>
        </p:txBody>
      </p:sp>
      <p:sp>
        <p:nvSpPr>
          <p:cNvPr id="33" name="Shape 25"/>
          <p:cNvSpPr/>
          <p:nvPr/>
        </p:nvSpPr>
        <p:spPr>
          <a:xfrm>
            <a:off x="8247888" y="5276088"/>
            <a:ext cx="548640" cy="548640"/>
          </a:xfrm>
          <a:prstGeom prst="ellipse">
            <a:avLst/>
          </a:prstGeom>
          <a:solidFill>
            <a:srgbClr val="23272E"/>
          </a:solidFill>
          <a:ln w="15875">
            <a:solidFill>
              <a:srgbClr val="C8A24A"/>
            </a:solidFill>
            <a:prstDash val="solid"/>
          </a:ln>
        </p:spPr>
        <p:txBody>
          <a:bodyPr/>
          <a:lstStyle/>
          <a:p>
            <a:endParaRPr lang="en-SG"/>
          </a:p>
        </p:txBody>
      </p:sp>
      <p:pic>
        <p:nvPicPr>
          <p:cNvPr id="34" name="Image 6" descr="preencoded.png"/>
          <p:cNvPicPr>
            <a:picLocks noChangeAspect="1"/>
          </p:cNvPicPr>
          <p:nvPr/>
        </p:nvPicPr>
        <p:blipFill>
          <a:blip r:embed="rId9"/>
          <a:stretch>
            <a:fillRect/>
          </a:stretch>
        </p:blipFill>
        <p:spPr>
          <a:xfrm>
            <a:off x="8401507" y="5429707"/>
            <a:ext cx="241402" cy="241402"/>
          </a:xfrm>
          <a:prstGeom prst="rect">
            <a:avLst/>
          </a:prstGeom>
        </p:spPr>
      </p:pic>
      <p:sp>
        <p:nvSpPr>
          <p:cNvPr id="35" name="Text 26"/>
          <p:cNvSpPr/>
          <p:nvPr/>
        </p:nvSpPr>
        <p:spPr>
          <a:xfrm>
            <a:off x="8961120" y="5184648"/>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Local Food Discovery</a:t>
            </a:r>
            <a:endParaRPr lang="en-US" sz="1400" dirty="0"/>
          </a:p>
        </p:txBody>
      </p:sp>
      <p:sp>
        <p:nvSpPr>
          <p:cNvPr id="36" name="Text 27"/>
          <p:cNvSpPr/>
          <p:nvPr/>
        </p:nvSpPr>
        <p:spPr>
          <a:xfrm>
            <a:off x="8961120" y="5532120"/>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Hawker gems &amp; culinary stories</a:t>
            </a:r>
            <a:endParaRPr lang="en-US" sz="1100" dirty="0"/>
          </a:p>
        </p:txBody>
      </p:sp>
      <p:sp>
        <p:nvSpPr>
          <p:cNvPr id="37" name="Text 28"/>
          <p:cNvSpPr/>
          <p:nvPr/>
        </p:nvSpPr>
        <p:spPr>
          <a:xfrm>
            <a:off x="4297680" y="6263640"/>
            <a:ext cx="7315200" cy="365760"/>
          </a:xfrm>
          <a:prstGeom prst="rect">
            <a:avLst/>
          </a:prstGeom>
          <a:noFill/>
          <a:ln/>
        </p:spPr>
        <p:txBody>
          <a:bodyPr wrap="square" lIns="0" tIns="0" rIns="0" bIns="0" rtlCol="0" anchor="ctr"/>
          <a:lstStyle/>
          <a:p>
            <a:pPr marL="0" indent="0">
              <a:buNone/>
            </a:pPr>
            <a:r>
              <a:rPr lang="en-US" sz="1500" i="1" dirty="0">
                <a:solidFill>
                  <a:srgbClr val="E6CE8F"/>
                </a:solidFill>
                <a:latin typeface="Georgia" pitchFamily="34" charset="0"/>
                <a:ea typeface="Georgia" pitchFamily="34" charset="-122"/>
                <a:cs typeface="Georgia" pitchFamily="34" charset="-120"/>
              </a:rPr>
              <a:t>We transform tourism spending into memorable lifestyle experiences.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SOLUTION</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Introducing </a:t>
            </a:r>
            <a:r>
              <a:rPr lang="th-TH" sz="3300" b="1" dirty="0" err="1">
                <a:solidFill>
                  <a:srgbClr val="F2EEE6"/>
                </a:solidFill>
                <a:latin typeface="Georgia" pitchFamily="34" charset="0"/>
                <a:ea typeface="Georgia" pitchFamily="34" charset="-122"/>
                <a:cs typeface="Georgia" pitchFamily="34" charset="-120"/>
              </a:rPr>
              <a:t>Asia</a:t>
            </a:r>
            <a:r>
              <a:rPr lang="en-US" sz="3300" b="1" dirty="0">
                <a:solidFill>
                  <a:srgbClr val="F2EEE6"/>
                </a:solidFill>
                <a:latin typeface="Georgia" pitchFamily="34" charset="0"/>
                <a:ea typeface="Georgia" pitchFamily="34" charset="-122"/>
                <a:cs typeface="Georgia" pitchFamily="34" charset="-120"/>
              </a:rPr>
              <a:t>GO!</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Pass</a:t>
            </a:r>
            <a:r>
              <a:rPr lang="th-TH" sz="3300" b="1" dirty="0">
                <a:solidFill>
                  <a:srgbClr val="F2EEE6"/>
                </a:solidFill>
                <a:latin typeface="Georgia" pitchFamily="34" charset="0"/>
                <a:ea typeface="Georgia" pitchFamily="34" charset="-122"/>
                <a:cs typeface="Georgia" pitchFamily="34" charset="-120"/>
              </a:rPr>
              <a:t> </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Singapore's first experience credit ecosystem.</a:t>
            </a:r>
            <a:endParaRPr lang="en-US" sz="1550" dirty="0"/>
          </a:p>
        </p:txBody>
      </p:sp>
      <p:sp>
        <p:nvSpPr>
          <p:cNvPr id="5" name="Shape 3"/>
          <p:cNvSpPr/>
          <p:nvPr/>
        </p:nvSpPr>
        <p:spPr>
          <a:xfrm>
            <a:off x="822960" y="228600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6" name="Shape 4"/>
          <p:cNvSpPr/>
          <p:nvPr/>
        </p:nvSpPr>
        <p:spPr>
          <a:xfrm>
            <a:off x="1024128" y="254203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172627" y="2690531"/>
            <a:ext cx="233355" cy="233355"/>
          </a:xfrm>
          <a:prstGeom prst="rect">
            <a:avLst/>
          </a:prstGeom>
        </p:spPr>
      </p:pic>
      <p:sp>
        <p:nvSpPr>
          <p:cNvPr id="8" name="Text 5"/>
          <p:cNvSpPr/>
          <p:nvPr/>
        </p:nvSpPr>
        <p:spPr>
          <a:xfrm>
            <a:off x="1691640" y="228600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 Attractions</a:t>
            </a:r>
            <a:endParaRPr lang="en-US" sz="1400" dirty="0"/>
          </a:p>
        </p:txBody>
      </p:sp>
      <p:sp>
        <p:nvSpPr>
          <p:cNvPr id="9" name="Shape 6"/>
          <p:cNvSpPr/>
          <p:nvPr/>
        </p:nvSpPr>
        <p:spPr>
          <a:xfrm>
            <a:off x="4590288" y="2298526"/>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10" name="Shape 7"/>
          <p:cNvSpPr/>
          <p:nvPr/>
        </p:nvSpPr>
        <p:spPr>
          <a:xfrm>
            <a:off x="4791456" y="254203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11" name="Image 1" descr="preencoded.png"/>
          <p:cNvPicPr>
            <a:picLocks noChangeAspect="1"/>
          </p:cNvPicPr>
          <p:nvPr/>
        </p:nvPicPr>
        <p:blipFill>
          <a:blip r:embed="rId3"/>
          <a:stretch>
            <a:fillRect/>
          </a:stretch>
        </p:blipFill>
        <p:spPr>
          <a:xfrm>
            <a:off x="4939955" y="2690531"/>
            <a:ext cx="233355" cy="233355"/>
          </a:xfrm>
          <a:prstGeom prst="rect">
            <a:avLst/>
          </a:prstGeom>
        </p:spPr>
      </p:pic>
      <p:sp>
        <p:nvSpPr>
          <p:cNvPr id="12" name="Text 8"/>
          <p:cNvSpPr/>
          <p:nvPr/>
        </p:nvSpPr>
        <p:spPr>
          <a:xfrm>
            <a:off x="5458968" y="228600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Dining, Wellness </a:t>
            </a:r>
            <a:endParaRPr lang="en-US" sz="1400" dirty="0"/>
          </a:p>
        </p:txBody>
      </p:sp>
      <p:sp>
        <p:nvSpPr>
          <p:cNvPr id="13" name="Shape 9"/>
          <p:cNvSpPr/>
          <p:nvPr/>
        </p:nvSpPr>
        <p:spPr>
          <a:xfrm>
            <a:off x="8357616" y="228600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14" name="Shape 10"/>
          <p:cNvSpPr/>
          <p:nvPr/>
        </p:nvSpPr>
        <p:spPr>
          <a:xfrm>
            <a:off x="8558784" y="254203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15" name="Image 2" descr="preencoded.png"/>
          <p:cNvPicPr>
            <a:picLocks noChangeAspect="1"/>
          </p:cNvPicPr>
          <p:nvPr/>
        </p:nvPicPr>
        <p:blipFill>
          <a:blip r:embed="rId4"/>
          <a:stretch>
            <a:fillRect/>
          </a:stretch>
        </p:blipFill>
        <p:spPr>
          <a:xfrm>
            <a:off x="8707283" y="2690531"/>
            <a:ext cx="233355" cy="233355"/>
          </a:xfrm>
          <a:prstGeom prst="rect">
            <a:avLst/>
          </a:prstGeom>
        </p:spPr>
      </p:pic>
      <p:sp>
        <p:nvSpPr>
          <p:cNvPr id="16" name="Text 11"/>
          <p:cNvSpPr/>
          <p:nvPr/>
        </p:nvSpPr>
        <p:spPr>
          <a:xfrm>
            <a:off x="9226296" y="228600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Experiences</a:t>
            </a:r>
            <a:endParaRPr lang="en-US" sz="1400" dirty="0"/>
          </a:p>
        </p:txBody>
      </p:sp>
      <p:sp>
        <p:nvSpPr>
          <p:cNvPr id="17" name="Shape 12"/>
          <p:cNvSpPr/>
          <p:nvPr/>
        </p:nvSpPr>
        <p:spPr>
          <a:xfrm>
            <a:off x="822960" y="361188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18" name="Shape 13"/>
          <p:cNvSpPr/>
          <p:nvPr/>
        </p:nvSpPr>
        <p:spPr>
          <a:xfrm>
            <a:off x="1024128" y="386791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19" name="Image 3" descr="preencoded.png"/>
          <p:cNvPicPr>
            <a:picLocks noChangeAspect="1"/>
          </p:cNvPicPr>
          <p:nvPr/>
        </p:nvPicPr>
        <p:blipFill>
          <a:blip r:embed="rId5"/>
          <a:stretch>
            <a:fillRect/>
          </a:stretch>
        </p:blipFill>
        <p:spPr>
          <a:xfrm>
            <a:off x="1172627" y="4016411"/>
            <a:ext cx="233355" cy="233355"/>
          </a:xfrm>
          <a:prstGeom prst="rect">
            <a:avLst/>
          </a:prstGeom>
        </p:spPr>
      </p:pic>
      <p:sp>
        <p:nvSpPr>
          <p:cNvPr id="20" name="Text 14"/>
          <p:cNvSpPr/>
          <p:nvPr/>
        </p:nvSpPr>
        <p:spPr>
          <a:xfrm>
            <a:off x="1691640" y="361188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Shopping Benefits</a:t>
            </a:r>
            <a:endParaRPr lang="en-US" sz="1400" dirty="0"/>
          </a:p>
        </p:txBody>
      </p:sp>
      <p:sp>
        <p:nvSpPr>
          <p:cNvPr id="21" name="Shape 15"/>
          <p:cNvSpPr/>
          <p:nvPr/>
        </p:nvSpPr>
        <p:spPr>
          <a:xfrm>
            <a:off x="4590288" y="361188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22" name="Shape 16"/>
          <p:cNvSpPr/>
          <p:nvPr/>
        </p:nvSpPr>
        <p:spPr>
          <a:xfrm>
            <a:off x="4791456" y="386791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23" name="Image 4" descr="preencoded.png"/>
          <p:cNvPicPr>
            <a:picLocks noChangeAspect="1"/>
          </p:cNvPicPr>
          <p:nvPr/>
        </p:nvPicPr>
        <p:blipFill>
          <a:blip r:embed="rId6"/>
          <a:stretch>
            <a:fillRect/>
          </a:stretch>
        </p:blipFill>
        <p:spPr>
          <a:xfrm>
            <a:off x="4939955" y="4016411"/>
            <a:ext cx="233355" cy="233355"/>
          </a:xfrm>
          <a:prstGeom prst="rect">
            <a:avLst/>
          </a:prstGeom>
        </p:spPr>
      </p:pic>
      <p:sp>
        <p:nvSpPr>
          <p:cNvPr id="24" name="Text 17"/>
          <p:cNvSpPr/>
          <p:nvPr/>
        </p:nvSpPr>
        <p:spPr>
          <a:xfrm>
            <a:off x="5458968" y="361188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QR Redemption</a:t>
            </a:r>
            <a:endParaRPr lang="en-US" sz="1400" dirty="0"/>
          </a:p>
        </p:txBody>
      </p:sp>
      <p:sp>
        <p:nvSpPr>
          <p:cNvPr id="25" name="Shape 18"/>
          <p:cNvSpPr/>
          <p:nvPr/>
        </p:nvSpPr>
        <p:spPr>
          <a:xfrm>
            <a:off x="8357616" y="361188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26" name="Shape 19"/>
          <p:cNvSpPr/>
          <p:nvPr/>
        </p:nvSpPr>
        <p:spPr>
          <a:xfrm>
            <a:off x="8558784" y="386791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27" name="Image 5" descr="preencoded.png"/>
          <p:cNvPicPr>
            <a:picLocks noChangeAspect="1"/>
          </p:cNvPicPr>
          <p:nvPr/>
        </p:nvPicPr>
        <p:blipFill>
          <a:blip r:embed="rId7"/>
          <a:stretch>
            <a:fillRect/>
          </a:stretch>
        </p:blipFill>
        <p:spPr>
          <a:xfrm>
            <a:off x="8707283" y="4016411"/>
            <a:ext cx="233355" cy="233355"/>
          </a:xfrm>
          <a:prstGeom prst="rect">
            <a:avLst/>
          </a:prstGeom>
        </p:spPr>
      </p:pic>
      <p:sp>
        <p:nvSpPr>
          <p:cNvPr id="28" name="Text 20"/>
          <p:cNvSpPr/>
          <p:nvPr/>
        </p:nvSpPr>
        <p:spPr>
          <a:xfrm>
            <a:off x="9226296" y="361188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Travel Credits</a:t>
            </a:r>
            <a:endParaRPr lang="en-US" sz="1400" dirty="0"/>
          </a:p>
        </p:txBody>
      </p:sp>
      <p:sp>
        <p:nvSpPr>
          <p:cNvPr id="29" name="Text 21"/>
          <p:cNvSpPr/>
          <p:nvPr/>
        </p:nvSpPr>
        <p:spPr>
          <a:xfrm>
            <a:off x="822960" y="4892040"/>
            <a:ext cx="7315200" cy="274320"/>
          </a:xfrm>
          <a:prstGeom prst="rect">
            <a:avLst/>
          </a:prstGeom>
          <a:noFill/>
          <a:ln/>
        </p:spPr>
        <p:txBody>
          <a:bodyPr wrap="square" lIns="0" tIns="0" rIns="0" bIns="0" rtlCol="0" anchor="ctr"/>
          <a:lstStyle/>
          <a:p>
            <a:pPr marL="0" indent="0">
              <a:buNone/>
            </a:pPr>
            <a:r>
              <a:rPr lang="en-US" sz="1100" b="1" kern="0" spc="200" dirty="0">
                <a:solidFill>
                  <a:srgbClr val="C8A24A"/>
                </a:solidFill>
                <a:latin typeface="Calibri" pitchFamily="34" charset="0"/>
                <a:ea typeface="Calibri" pitchFamily="34" charset="-122"/>
                <a:cs typeface="Calibri" pitchFamily="34" charset="-120"/>
              </a:rPr>
              <a:t>THE TRAVELLER JOURNEY</a:t>
            </a:r>
            <a:endParaRPr lang="en-US" sz="1100" dirty="0"/>
          </a:p>
        </p:txBody>
      </p:sp>
      <p:sp>
        <p:nvSpPr>
          <p:cNvPr id="30" name="Text 22"/>
          <p:cNvSpPr/>
          <p:nvPr/>
        </p:nvSpPr>
        <p:spPr>
          <a:xfrm>
            <a:off x="8229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Purchase Pass</a:t>
            </a:r>
            <a:endParaRPr lang="en-US" sz="1150" dirty="0"/>
          </a:p>
        </p:txBody>
      </p:sp>
      <p:sp>
        <p:nvSpPr>
          <p:cNvPr id="31" name="Text 23"/>
          <p:cNvSpPr/>
          <p:nvPr/>
        </p:nvSpPr>
        <p:spPr>
          <a:xfrm>
            <a:off x="21915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2" name="Text 24"/>
          <p:cNvSpPr/>
          <p:nvPr/>
        </p:nvSpPr>
        <p:spPr>
          <a:xfrm>
            <a:off x="2575560" y="5316046"/>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Browse</a:t>
            </a:r>
            <a:endParaRPr lang="en-US" sz="1150" dirty="0"/>
          </a:p>
        </p:txBody>
      </p:sp>
      <p:sp>
        <p:nvSpPr>
          <p:cNvPr id="33" name="Text 25"/>
          <p:cNvSpPr/>
          <p:nvPr/>
        </p:nvSpPr>
        <p:spPr>
          <a:xfrm>
            <a:off x="39441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4" name="Text 26"/>
          <p:cNvSpPr/>
          <p:nvPr/>
        </p:nvSpPr>
        <p:spPr>
          <a:xfrm>
            <a:off x="43281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Book Instantly</a:t>
            </a:r>
            <a:endParaRPr lang="en-US" sz="1150" dirty="0"/>
          </a:p>
        </p:txBody>
      </p:sp>
      <p:sp>
        <p:nvSpPr>
          <p:cNvPr id="35" name="Text 27"/>
          <p:cNvSpPr/>
          <p:nvPr/>
        </p:nvSpPr>
        <p:spPr>
          <a:xfrm>
            <a:off x="56967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6" name="Text 28"/>
          <p:cNvSpPr/>
          <p:nvPr/>
        </p:nvSpPr>
        <p:spPr>
          <a:xfrm>
            <a:off x="60807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Redeem QR</a:t>
            </a:r>
            <a:endParaRPr lang="en-US" sz="1150" dirty="0"/>
          </a:p>
        </p:txBody>
      </p:sp>
      <p:sp>
        <p:nvSpPr>
          <p:cNvPr id="37" name="Text 29"/>
          <p:cNvSpPr/>
          <p:nvPr/>
        </p:nvSpPr>
        <p:spPr>
          <a:xfrm>
            <a:off x="74493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8" name="Text 30"/>
          <p:cNvSpPr/>
          <p:nvPr/>
        </p:nvSpPr>
        <p:spPr>
          <a:xfrm>
            <a:off x="78333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Enjoy Benefits</a:t>
            </a:r>
            <a:endParaRPr lang="en-US" sz="1150" dirty="0"/>
          </a:p>
        </p:txBody>
      </p:sp>
      <p:sp>
        <p:nvSpPr>
          <p:cNvPr id="39" name="Text 31"/>
          <p:cNvSpPr/>
          <p:nvPr/>
        </p:nvSpPr>
        <p:spPr>
          <a:xfrm>
            <a:off x="92019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40" name="Text 32"/>
          <p:cNvSpPr/>
          <p:nvPr/>
        </p:nvSpPr>
        <p:spPr>
          <a:xfrm>
            <a:off x="95859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Earn Rewards</a:t>
            </a:r>
            <a:endParaRPr lang="en-US" sz="1150" dirty="0"/>
          </a:p>
        </p:txBody>
      </p:sp>
      <p:sp>
        <p:nvSpPr>
          <p:cNvPr id="41" name="Text 33"/>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42" name="Text 34"/>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PRODUCT CONCEPT</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Attraction Detail Screen</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Use large, immersive photography to bring each destination to life.</a:t>
            </a:r>
            <a:endParaRPr lang="en-US" sz="1550" dirty="0"/>
          </a:p>
        </p:txBody>
      </p:sp>
      <p:sp>
        <p:nvSpPr>
          <p:cNvPr id="5" name="Shape 3"/>
          <p:cNvSpPr/>
          <p:nvPr/>
        </p:nvSpPr>
        <p:spPr>
          <a:xfrm>
            <a:off x="822960" y="2331720"/>
            <a:ext cx="4937760" cy="3959352"/>
          </a:xfrm>
          <a:prstGeom prst="roundRect">
            <a:avLst>
              <a:gd name="adj" fmla="val 2564"/>
            </a:avLst>
          </a:prstGeom>
          <a:solidFill>
            <a:srgbClr val="1C1F24"/>
          </a:solidFill>
          <a:ln w="12700">
            <a:solidFill>
              <a:srgbClr val="3A3E46"/>
            </a:solidFill>
            <a:prstDash val="solid"/>
          </a:ln>
        </p:spPr>
        <p:txBody>
          <a:bodyPr/>
          <a:lstStyle/>
          <a:p>
            <a:endParaRPr lang="en-US" dirty="0"/>
          </a:p>
        </p:txBody>
      </p:sp>
      <p:sp>
        <p:nvSpPr>
          <p:cNvPr id="6" name="Shape 4"/>
          <p:cNvSpPr/>
          <p:nvPr/>
        </p:nvSpPr>
        <p:spPr>
          <a:xfrm>
            <a:off x="1097280" y="2606040"/>
            <a:ext cx="4389120" cy="1371600"/>
          </a:xfrm>
          <a:prstGeom prst="roundRect">
            <a:avLst>
              <a:gd name="adj" fmla="val 4000"/>
            </a:avLst>
          </a:prstGeom>
          <a:solidFill>
            <a:srgbClr val="23272E"/>
          </a:solidFill>
          <a:ln w="12700">
            <a:solidFill>
              <a:srgbClr val="3A3E46"/>
            </a:solidFill>
            <a:prstDash val="solid"/>
          </a:ln>
        </p:spPr>
        <p:txBody>
          <a:bodyPr/>
          <a:lstStyle/>
          <a:p>
            <a:endParaRPr lang="en-US"/>
          </a:p>
        </p:txBody>
      </p:sp>
      <p:sp>
        <p:nvSpPr>
          <p:cNvPr id="7" name="Shape 5"/>
          <p:cNvSpPr/>
          <p:nvPr/>
        </p:nvSpPr>
        <p:spPr>
          <a:xfrm>
            <a:off x="3017520" y="3017520"/>
            <a:ext cx="548640" cy="548640"/>
          </a:xfrm>
          <a:prstGeom prst="ellipse">
            <a:avLst/>
          </a:prstGeom>
          <a:solidFill>
            <a:srgbClr val="23272E"/>
          </a:solidFill>
          <a:ln w="15875">
            <a:solidFill>
              <a:srgbClr val="C8A24A"/>
            </a:solidFill>
            <a:prstDash val="solid"/>
          </a:ln>
        </p:spPr>
        <p:txBody>
          <a:bodyPr/>
          <a:lstStyle/>
          <a:p>
            <a:endParaRPr lang="en-US"/>
          </a:p>
        </p:txBody>
      </p:sp>
      <p:pic>
        <p:nvPicPr>
          <p:cNvPr id="8" name="Image 0" descr="preencoded.png"/>
          <p:cNvPicPr>
            <a:picLocks noChangeAspect="1"/>
          </p:cNvPicPr>
          <p:nvPr/>
        </p:nvPicPr>
        <p:blipFill>
          <a:blip r:embed="rId2"/>
          <a:stretch>
            <a:fillRect/>
          </a:stretch>
        </p:blipFill>
        <p:spPr>
          <a:xfrm>
            <a:off x="3171139" y="3171139"/>
            <a:ext cx="241402" cy="241402"/>
          </a:xfrm>
          <a:prstGeom prst="rect">
            <a:avLst/>
          </a:prstGeom>
        </p:spPr>
      </p:pic>
      <p:sp>
        <p:nvSpPr>
          <p:cNvPr id="9" name="Text 6"/>
          <p:cNvSpPr/>
          <p:nvPr/>
        </p:nvSpPr>
        <p:spPr>
          <a:xfrm>
            <a:off x="1097280" y="4114800"/>
            <a:ext cx="4389120" cy="365760"/>
          </a:xfrm>
          <a:prstGeom prst="rect">
            <a:avLst/>
          </a:prstGeom>
          <a:noFill/>
          <a:ln/>
        </p:spPr>
        <p:txBody>
          <a:bodyPr wrap="square" lIns="0" tIns="0" rIns="0" bIns="0" rtlCol="0" anchor="ctr"/>
          <a:lstStyle/>
          <a:p>
            <a:pPr marL="0" indent="0">
              <a:buNone/>
            </a:pPr>
            <a:r>
              <a:rPr lang="en-US" sz="1800" b="1" dirty="0">
                <a:solidFill>
                  <a:srgbClr val="F2EEE6"/>
                </a:solidFill>
                <a:latin typeface="Georgia" pitchFamily="34" charset="0"/>
                <a:ea typeface="Georgia" pitchFamily="34" charset="-122"/>
                <a:cs typeface="Georgia" pitchFamily="34" charset="-120"/>
              </a:rPr>
              <a:t>Gardens by the Bay</a:t>
            </a:r>
            <a:endParaRPr lang="en-US" sz="1800" dirty="0"/>
          </a:p>
        </p:txBody>
      </p:sp>
      <p:sp>
        <p:nvSpPr>
          <p:cNvPr id="10" name="Text 7"/>
          <p:cNvSpPr/>
          <p:nvPr/>
        </p:nvSpPr>
        <p:spPr>
          <a:xfrm>
            <a:off x="1143000" y="4526280"/>
            <a:ext cx="4297680" cy="640080"/>
          </a:xfrm>
          <a:prstGeom prst="rect">
            <a:avLst/>
          </a:prstGeom>
          <a:noFill/>
          <a:ln/>
        </p:spPr>
        <p:txBody>
          <a:bodyPr wrap="square" lIns="0" tIns="0" rIns="0" bIns="0" rtlCol="0" anchor="ctr"/>
          <a:lstStyle/>
          <a:p>
            <a:pPr marL="342900" indent="-342900">
              <a:lnSpc>
                <a:spcPct val="105000"/>
              </a:lnSpc>
              <a:buSzPct val="100000"/>
              <a:buChar char="•"/>
            </a:pPr>
            <a:r>
              <a:rPr lang="en-US" sz="1250" dirty="0">
                <a:solidFill>
                  <a:srgbClr val="A7A296"/>
                </a:solidFill>
                <a:latin typeface="Calibri" pitchFamily="34" charset="0"/>
                <a:ea typeface="Calibri" pitchFamily="34" charset="-122"/>
                <a:cs typeface="Calibri" pitchFamily="34" charset="-120"/>
              </a:rPr>
              <a:t>About Attraction</a:t>
            </a:r>
            <a:endParaRPr lang="en-US" sz="1250" dirty="0"/>
          </a:p>
          <a:p>
            <a:pPr marL="342900" indent="-342900">
              <a:lnSpc>
                <a:spcPct val="105000"/>
              </a:lnSpc>
              <a:buSzPct val="100000"/>
              <a:buChar char="•"/>
            </a:pPr>
            <a:r>
              <a:rPr lang="en-US" sz="1250" dirty="0">
                <a:solidFill>
                  <a:srgbClr val="A7A296"/>
                </a:solidFill>
                <a:latin typeface="Calibri" pitchFamily="34" charset="0"/>
                <a:ea typeface="Calibri" pitchFamily="34" charset="-122"/>
                <a:cs typeface="Calibri" pitchFamily="34" charset="-120"/>
              </a:rPr>
              <a:t>Benefits Included</a:t>
            </a:r>
          </a:p>
          <a:p>
            <a:pPr marL="342900" indent="-342900">
              <a:lnSpc>
                <a:spcPct val="105000"/>
              </a:lnSpc>
              <a:buSzPct val="100000"/>
              <a:buChar char="•"/>
            </a:pPr>
            <a:r>
              <a:rPr lang="en-US" sz="1250" dirty="0">
                <a:solidFill>
                  <a:srgbClr val="A7A296"/>
                </a:solidFill>
                <a:latin typeface="Calibri" pitchFamily="34" charset="0"/>
                <a:cs typeface="Calibri" pitchFamily="34" charset="-120"/>
              </a:rPr>
              <a:t>Fine Print </a:t>
            </a:r>
            <a:endParaRPr lang="en-US" sz="1250" dirty="0"/>
          </a:p>
        </p:txBody>
      </p:sp>
      <p:sp>
        <p:nvSpPr>
          <p:cNvPr id="11" name="Shape 8"/>
          <p:cNvSpPr/>
          <p:nvPr/>
        </p:nvSpPr>
        <p:spPr>
          <a:xfrm>
            <a:off x="976579" y="5715000"/>
            <a:ext cx="4389120" cy="457200"/>
          </a:xfrm>
          <a:prstGeom prst="roundRect">
            <a:avLst>
              <a:gd name="adj" fmla="val 12000"/>
            </a:avLst>
          </a:prstGeom>
          <a:solidFill>
            <a:srgbClr val="C8A24A"/>
          </a:solidFill>
          <a:ln/>
        </p:spPr>
        <p:txBody>
          <a:bodyPr/>
          <a:lstStyle/>
          <a:p>
            <a:r>
              <a:rPr lang="en-US" dirty="0"/>
              <a:t>                              </a:t>
            </a:r>
            <a:r>
              <a:rPr lang="en-US" dirty="0">
                <a:solidFill>
                  <a:schemeClr val="bg1"/>
                </a:solidFill>
              </a:rPr>
              <a:t>35 </a:t>
            </a:r>
            <a:r>
              <a:rPr lang="en-US" dirty="0" err="1">
                <a:solidFill>
                  <a:schemeClr val="bg1"/>
                </a:solidFill>
              </a:rPr>
              <a:t>Creadits</a:t>
            </a:r>
            <a:r>
              <a:rPr lang="en-US" dirty="0">
                <a:solidFill>
                  <a:schemeClr val="bg1"/>
                </a:solidFill>
              </a:rPr>
              <a:t> </a:t>
            </a:r>
          </a:p>
        </p:txBody>
      </p:sp>
      <p:sp>
        <p:nvSpPr>
          <p:cNvPr id="12" name="Text 9"/>
          <p:cNvSpPr/>
          <p:nvPr/>
        </p:nvSpPr>
        <p:spPr>
          <a:xfrm>
            <a:off x="1097280" y="5257800"/>
            <a:ext cx="4389120" cy="457200"/>
          </a:xfrm>
          <a:prstGeom prst="rect">
            <a:avLst/>
          </a:prstGeom>
          <a:noFill/>
          <a:ln/>
        </p:spPr>
        <p:txBody>
          <a:bodyPr wrap="square" lIns="0" tIns="0" rIns="0" bIns="0" rtlCol="0" anchor="ctr"/>
          <a:lstStyle/>
          <a:p>
            <a:pPr marL="0" indent="0" algn="ctr">
              <a:buNone/>
            </a:pPr>
            <a:r>
              <a:rPr lang="en-US" sz="1300" b="1" dirty="0">
                <a:solidFill>
                  <a:srgbClr val="FFFF00"/>
                </a:solidFill>
                <a:latin typeface="Calibri" pitchFamily="34" charset="0"/>
                <a:ea typeface="Calibri" pitchFamily="34" charset="-122"/>
                <a:cs typeface="Calibri" pitchFamily="34" charset="-120"/>
              </a:rPr>
              <a:t>Redeem</a:t>
            </a:r>
            <a:endParaRPr lang="en-US" sz="1300" dirty="0">
              <a:solidFill>
                <a:srgbClr val="FFFF00"/>
              </a:solidFill>
            </a:endParaRPr>
          </a:p>
        </p:txBody>
      </p:sp>
      <p:sp>
        <p:nvSpPr>
          <p:cNvPr id="13" name="Text 10"/>
          <p:cNvSpPr/>
          <p:nvPr/>
        </p:nvSpPr>
        <p:spPr>
          <a:xfrm>
            <a:off x="6217920" y="2331720"/>
            <a:ext cx="512064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Possible Attraction Examples</a:t>
            </a:r>
            <a:endParaRPr lang="en-US" sz="1500" dirty="0"/>
          </a:p>
        </p:txBody>
      </p:sp>
      <p:sp>
        <p:nvSpPr>
          <p:cNvPr id="14" name="Shape 11"/>
          <p:cNvSpPr/>
          <p:nvPr/>
        </p:nvSpPr>
        <p:spPr>
          <a:xfrm>
            <a:off x="6217920" y="2926080"/>
            <a:ext cx="5120640" cy="777240"/>
          </a:xfrm>
          <a:prstGeom prst="roundRect">
            <a:avLst>
              <a:gd name="adj" fmla="val 7059"/>
            </a:avLst>
          </a:prstGeom>
          <a:solidFill>
            <a:srgbClr val="1C1F24"/>
          </a:solidFill>
          <a:ln w="12700">
            <a:solidFill>
              <a:srgbClr val="3A3E46"/>
            </a:solidFill>
            <a:prstDash val="solid"/>
          </a:ln>
        </p:spPr>
        <p:txBody>
          <a:bodyPr/>
          <a:lstStyle/>
          <a:p>
            <a:endParaRPr lang="en-US"/>
          </a:p>
        </p:txBody>
      </p:sp>
      <p:sp>
        <p:nvSpPr>
          <p:cNvPr id="15" name="Shape 12"/>
          <p:cNvSpPr/>
          <p:nvPr/>
        </p:nvSpPr>
        <p:spPr>
          <a:xfrm>
            <a:off x="6446520" y="3072384"/>
            <a:ext cx="475488" cy="475488"/>
          </a:xfrm>
          <a:prstGeom prst="ellipse">
            <a:avLst/>
          </a:prstGeom>
          <a:solidFill>
            <a:srgbClr val="23272E"/>
          </a:solidFill>
          <a:ln w="15875">
            <a:solidFill>
              <a:srgbClr val="C8A24A"/>
            </a:solidFill>
            <a:prstDash val="solid"/>
          </a:ln>
        </p:spPr>
        <p:txBody>
          <a:bodyPr/>
          <a:lstStyle/>
          <a:p>
            <a:endParaRPr lang="en-US"/>
          </a:p>
        </p:txBody>
      </p:sp>
      <p:pic>
        <p:nvPicPr>
          <p:cNvPr id="16" name="Image 1" descr="preencoded.png"/>
          <p:cNvPicPr>
            <a:picLocks noChangeAspect="1"/>
          </p:cNvPicPr>
          <p:nvPr/>
        </p:nvPicPr>
        <p:blipFill>
          <a:blip r:embed="rId2"/>
          <a:stretch>
            <a:fillRect/>
          </a:stretch>
        </p:blipFill>
        <p:spPr>
          <a:xfrm>
            <a:off x="6579657" y="3205521"/>
            <a:ext cx="209215" cy="209215"/>
          </a:xfrm>
          <a:prstGeom prst="rect">
            <a:avLst/>
          </a:prstGeom>
        </p:spPr>
      </p:pic>
      <p:sp>
        <p:nvSpPr>
          <p:cNvPr id="17" name="Text 13"/>
          <p:cNvSpPr/>
          <p:nvPr/>
        </p:nvSpPr>
        <p:spPr>
          <a:xfrm>
            <a:off x="7086600" y="2926080"/>
            <a:ext cx="4114800" cy="777240"/>
          </a:xfrm>
          <a:prstGeom prst="rect">
            <a:avLst/>
          </a:prstGeom>
          <a:noFill/>
          <a:ln/>
        </p:spPr>
        <p:txBody>
          <a:bodyPr wrap="square" lIns="0" tIns="0" rIns="0" bIns="0" rtlCol="0" anchor="ctr"/>
          <a:lstStyle/>
          <a:p>
            <a:pPr marL="0" indent="0">
              <a:buNone/>
            </a:pPr>
            <a:r>
              <a:rPr lang="en-US" sz="1350" b="1" dirty="0">
                <a:solidFill>
                  <a:srgbClr val="F2EEE6"/>
                </a:solidFill>
                <a:latin typeface="Calibri" pitchFamily="34" charset="0"/>
                <a:ea typeface="Calibri" pitchFamily="34" charset="-122"/>
                <a:cs typeface="Calibri" pitchFamily="34" charset="-120"/>
              </a:rPr>
              <a:t>Gardens by the Bay</a:t>
            </a:r>
            <a:endParaRPr lang="en-US" sz="1350" dirty="0"/>
          </a:p>
        </p:txBody>
      </p:sp>
      <p:sp>
        <p:nvSpPr>
          <p:cNvPr id="18" name="Shape 14"/>
          <p:cNvSpPr/>
          <p:nvPr/>
        </p:nvSpPr>
        <p:spPr>
          <a:xfrm>
            <a:off x="6217920" y="3886200"/>
            <a:ext cx="5120640" cy="777240"/>
          </a:xfrm>
          <a:prstGeom prst="roundRect">
            <a:avLst>
              <a:gd name="adj" fmla="val 7059"/>
            </a:avLst>
          </a:prstGeom>
          <a:solidFill>
            <a:srgbClr val="1C1F24"/>
          </a:solidFill>
          <a:ln w="12700">
            <a:solidFill>
              <a:srgbClr val="3A3E46"/>
            </a:solidFill>
            <a:prstDash val="solid"/>
          </a:ln>
        </p:spPr>
        <p:txBody>
          <a:bodyPr/>
          <a:lstStyle/>
          <a:p>
            <a:endParaRPr lang="en-US"/>
          </a:p>
        </p:txBody>
      </p:sp>
      <p:sp>
        <p:nvSpPr>
          <p:cNvPr id="19" name="Shape 15"/>
          <p:cNvSpPr/>
          <p:nvPr/>
        </p:nvSpPr>
        <p:spPr>
          <a:xfrm>
            <a:off x="6446520" y="4032504"/>
            <a:ext cx="475488" cy="475488"/>
          </a:xfrm>
          <a:prstGeom prst="ellipse">
            <a:avLst/>
          </a:prstGeom>
          <a:solidFill>
            <a:srgbClr val="23272E"/>
          </a:solidFill>
          <a:ln w="15875">
            <a:solidFill>
              <a:srgbClr val="C8A24A"/>
            </a:solidFill>
            <a:prstDash val="solid"/>
          </a:ln>
        </p:spPr>
        <p:txBody>
          <a:bodyPr/>
          <a:lstStyle/>
          <a:p>
            <a:endParaRPr lang="en-US"/>
          </a:p>
        </p:txBody>
      </p:sp>
      <p:pic>
        <p:nvPicPr>
          <p:cNvPr id="20" name="Image 2" descr="preencoded.png"/>
          <p:cNvPicPr>
            <a:picLocks noChangeAspect="1"/>
          </p:cNvPicPr>
          <p:nvPr/>
        </p:nvPicPr>
        <p:blipFill>
          <a:blip r:embed="rId3"/>
          <a:stretch>
            <a:fillRect/>
          </a:stretch>
        </p:blipFill>
        <p:spPr>
          <a:xfrm>
            <a:off x="6579657" y="4165641"/>
            <a:ext cx="209215" cy="209215"/>
          </a:xfrm>
          <a:prstGeom prst="rect">
            <a:avLst/>
          </a:prstGeom>
        </p:spPr>
      </p:pic>
      <p:sp>
        <p:nvSpPr>
          <p:cNvPr id="21" name="Text 16"/>
          <p:cNvSpPr/>
          <p:nvPr/>
        </p:nvSpPr>
        <p:spPr>
          <a:xfrm>
            <a:off x="7086600" y="3886200"/>
            <a:ext cx="4114800" cy="777240"/>
          </a:xfrm>
          <a:prstGeom prst="rect">
            <a:avLst/>
          </a:prstGeom>
          <a:noFill/>
          <a:ln/>
        </p:spPr>
        <p:txBody>
          <a:bodyPr wrap="square" lIns="0" tIns="0" rIns="0" bIns="0" rtlCol="0" anchor="ctr"/>
          <a:lstStyle/>
          <a:p>
            <a:pPr marL="0" indent="0">
              <a:buNone/>
            </a:pPr>
            <a:r>
              <a:rPr lang="en-US" sz="1350" b="1" dirty="0">
                <a:solidFill>
                  <a:srgbClr val="F2EEE6"/>
                </a:solidFill>
                <a:latin typeface="Calibri" pitchFamily="34" charset="0"/>
                <a:ea typeface="Calibri" pitchFamily="34" charset="-122"/>
                <a:cs typeface="Calibri" pitchFamily="34" charset="-120"/>
              </a:rPr>
              <a:t>Marina Bay Sands &amp; Downtown Core</a:t>
            </a:r>
            <a:endParaRPr lang="en-US" sz="1350" dirty="0"/>
          </a:p>
        </p:txBody>
      </p:sp>
      <p:sp>
        <p:nvSpPr>
          <p:cNvPr id="22" name="Shape 17"/>
          <p:cNvSpPr/>
          <p:nvPr/>
        </p:nvSpPr>
        <p:spPr>
          <a:xfrm>
            <a:off x="6217920" y="4846320"/>
            <a:ext cx="5120640" cy="777240"/>
          </a:xfrm>
          <a:prstGeom prst="roundRect">
            <a:avLst>
              <a:gd name="adj" fmla="val 7059"/>
            </a:avLst>
          </a:prstGeom>
          <a:solidFill>
            <a:srgbClr val="1C1F24"/>
          </a:solidFill>
          <a:ln w="12700">
            <a:solidFill>
              <a:srgbClr val="3A3E46"/>
            </a:solidFill>
            <a:prstDash val="solid"/>
          </a:ln>
        </p:spPr>
        <p:txBody>
          <a:bodyPr/>
          <a:lstStyle/>
          <a:p>
            <a:endParaRPr lang="en-US"/>
          </a:p>
        </p:txBody>
      </p:sp>
      <p:sp>
        <p:nvSpPr>
          <p:cNvPr id="23" name="Shape 18"/>
          <p:cNvSpPr/>
          <p:nvPr/>
        </p:nvSpPr>
        <p:spPr>
          <a:xfrm>
            <a:off x="6446520" y="4992624"/>
            <a:ext cx="475488" cy="475488"/>
          </a:xfrm>
          <a:prstGeom prst="ellipse">
            <a:avLst/>
          </a:prstGeom>
          <a:solidFill>
            <a:srgbClr val="23272E"/>
          </a:solidFill>
          <a:ln w="15875">
            <a:solidFill>
              <a:srgbClr val="C8A24A"/>
            </a:solidFill>
            <a:prstDash val="solid"/>
          </a:ln>
        </p:spPr>
        <p:txBody>
          <a:bodyPr/>
          <a:lstStyle/>
          <a:p>
            <a:endParaRPr lang="en-US"/>
          </a:p>
        </p:txBody>
      </p:sp>
      <p:pic>
        <p:nvPicPr>
          <p:cNvPr id="24" name="Image 3" descr="preencoded.png"/>
          <p:cNvPicPr>
            <a:picLocks noChangeAspect="1"/>
          </p:cNvPicPr>
          <p:nvPr/>
        </p:nvPicPr>
        <p:blipFill>
          <a:blip r:embed="rId4"/>
          <a:stretch>
            <a:fillRect/>
          </a:stretch>
        </p:blipFill>
        <p:spPr>
          <a:xfrm>
            <a:off x="6579657" y="5125761"/>
            <a:ext cx="209215" cy="209215"/>
          </a:xfrm>
          <a:prstGeom prst="rect">
            <a:avLst/>
          </a:prstGeom>
        </p:spPr>
      </p:pic>
      <p:sp>
        <p:nvSpPr>
          <p:cNvPr id="25" name="Text 19"/>
          <p:cNvSpPr/>
          <p:nvPr/>
        </p:nvSpPr>
        <p:spPr>
          <a:xfrm>
            <a:off x="7086600" y="4846320"/>
            <a:ext cx="4114800" cy="777240"/>
          </a:xfrm>
          <a:prstGeom prst="rect">
            <a:avLst/>
          </a:prstGeom>
          <a:noFill/>
          <a:ln/>
        </p:spPr>
        <p:txBody>
          <a:bodyPr wrap="square" lIns="0" tIns="0" rIns="0" bIns="0" rtlCol="0" anchor="ctr"/>
          <a:lstStyle/>
          <a:p>
            <a:pPr marL="0" indent="0">
              <a:buNone/>
            </a:pPr>
            <a:r>
              <a:rPr lang="en-US" sz="1350" b="1" dirty="0">
                <a:solidFill>
                  <a:srgbClr val="F2EEE6"/>
                </a:solidFill>
                <a:latin typeface="Calibri" pitchFamily="34" charset="0"/>
                <a:ea typeface="Calibri" pitchFamily="34" charset="-122"/>
                <a:cs typeface="Calibri" pitchFamily="34" charset="-120"/>
              </a:rPr>
              <a:t>Sentosa  Island </a:t>
            </a:r>
            <a:endParaRPr lang="en-US" sz="1350" dirty="0"/>
          </a:p>
        </p:txBody>
      </p:sp>
      <p:sp>
        <p:nvSpPr>
          <p:cNvPr id="26" name="Text 20"/>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27" name="Text 21"/>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TRAVELLER JOURNEY</a:t>
            </a:r>
            <a:endParaRPr lang="en-US" sz="1150" dirty="0"/>
          </a:p>
        </p:txBody>
      </p:sp>
      <p:sp>
        <p:nvSpPr>
          <p:cNvPr id="3" name="Text 1"/>
          <p:cNvSpPr/>
          <p:nvPr/>
        </p:nvSpPr>
        <p:spPr>
          <a:xfrm>
            <a:off x="777240" y="868680"/>
            <a:ext cx="100584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How customers discover you</a:t>
            </a:r>
            <a:endParaRPr lang="en-US" sz="3300" dirty="0"/>
          </a:p>
        </p:txBody>
      </p:sp>
      <p:sp>
        <p:nvSpPr>
          <p:cNvPr id="4" name="Shape 2"/>
          <p:cNvSpPr/>
          <p:nvPr/>
        </p:nvSpPr>
        <p:spPr>
          <a:xfrm>
            <a:off x="868680" y="1965960"/>
            <a:ext cx="566928" cy="566928"/>
          </a:xfrm>
          <a:prstGeom prst="ellipse">
            <a:avLst/>
          </a:prstGeom>
          <a:solidFill>
            <a:srgbClr val="23272E"/>
          </a:solidFill>
          <a:ln w="15875">
            <a:solidFill>
              <a:srgbClr val="C8A24A"/>
            </a:solidFill>
            <a:prstDash val="solid"/>
          </a:ln>
        </p:spPr>
        <p:txBody>
          <a:bodyPr/>
          <a:lstStyle/>
          <a:p>
            <a:endParaRPr lang="en-SG"/>
          </a:p>
        </p:txBody>
      </p:sp>
      <p:sp>
        <p:nvSpPr>
          <p:cNvPr id="5" name="Text 3"/>
          <p:cNvSpPr/>
          <p:nvPr/>
        </p:nvSpPr>
        <p:spPr>
          <a:xfrm>
            <a:off x="868680" y="1965960"/>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1645920" y="1920240"/>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Purchases the </a:t>
            </a:r>
            <a:r>
              <a:rPr lang="th-TH" sz="1450" dirty="0" err="1">
                <a:solidFill>
                  <a:srgbClr val="F2EEE6"/>
                </a:solidFill>
                <a:latin typeface="Calibri" pitchFamily="34" charset="0"/>
                <a:ea typeface="Calibri" pitchFamily="34" charset="-122"/>
                <a:cs typeface="Calibri" pitchFamily="34" charset="-120"/>
              </a:rPr>
              <a:t>AsiaGo</a:t>
            </a:r>
            <a:r>
              <a:rPr lang="en-US" sz="1450" dirty="0">
                <a:solidFill>
                  <a:srgbClr val="F2EEE6"/>
                </a:solidFill>
                <a:latin typeface="Calibri" pitchFamily="34" charset="0"/>
                <a:ea typeface="Calibri" pitchFamily="34" charset="-122"/>
                <a:cs typeface="Calibri" pitchFamily="34" charset="-120"/>
              </a:rPr>
              <a:t>! Pass</a:t>
            </a:r>
            <a:r>
              <a:rPr lang="th-TH" sz="1450" dirty="0">
                <a:solidFill>
                  <a:srgbClr val="F2EEE6"/>
                </a:solidFill>
                <a:latin typeface="Calibri" pitchFamily="34" charset="0"/>
                <a:ea typeface="Calibri" pitchFamily="34" charset="-122"/>
                <a:cs typeface="Calibri" pitchFamily="34" charset="-120"/>
              </a:rPr>
              <a:t> And </a:t>
            </a:r>
            <a:r>
              <a:rPr lang="th-TH" sz="1450" dirty="0" err="1">
                <a:solidFill>
                  <a:srgbClr val="F2EEE6"/>
                </a:solidFill>
                <a:latin typeface="Calibri" pitchFamily="34" charset="0"/>
                <a:ea typeface="Calibri" pitchFamily="34" charset="-122"/>
                <a:cs typeface="Calibri" pitchFamily="34" charset="-120"/>
              </a:rPr>
              <a:t>Redeem</a:t>
            </a:r>
            <a:r>
              <a:rPr lang="th-TH" sz="1450" dirty="0">
                <a:solidFill>
                  <a:srgbClr val="F2EEE6"/>
                </a:solidFill>
                <a:latin typeface="Calibri" pitchFamily="34" charset="0"/>
                <a:ea typeface="Calibri" pitchFamily="34" charset="-122"/>
                <a:cs typeface="Calibri" pitchFamily="34" charset="-120"/>
              </a:rPr>
              <a:t>  </a:t>
            </a:r>
            <a:r>
              <a:rPr lang="th-TH" sz="1450" dirty="0" err="1">
                <a:solidFill>
                  <a:srgbClr val="F2EEE6"/>
                </a:solidFill>
                <a:latin typeface="Calibri" pitchFamily="34" charset="0"/>
                <a:ea typeface="Calibri" pitchFamily="34" charset="-122"/>
                <a:cs typeface="Calibri" pitchFamily="34" charset="-120"/>
              </a:rPr>
              <a:t>the</a:t>
            </a:r>
            <a:r>
              <a:rPr lang="th-TH" sz="1450" dirty="0">
                <a:solidFill>
                  <a:srgbClr val="F2EEE6"/>
                </a:solidFill>
                <a:latin typeface="Calibri" pitchFamily="34" charset="0"/>
                <a:ea typeface="Calibri" pitchFamily="34" charset="-122"/>
                <a:cs typeface="Calibri" pitchFamily="34" charset="-120"/>
              </a:rPr>
              <a:t> </a:t>
            </a:r>
            <a:r>
              <a:rPr lang="th-TH" sz="1450" dirty="0" err="1">
                <a:solidFill>
                  <a:srgbClr val="F2EEE6"/>
                </a:solidFill>
                <a:latin typeface="Calibri" pitchFamily="34" charset="0"/>
                <a:ea typeface="Calibri" pitchFamily="34" charset="-122"/>
                <a:cs typeface="Calibri" pitchFamily="34" charset="-120"/>
              </a:rPr>
              <a:t>Attractions</a:t>
            </a:r>
            <a:r>
              <a:rPr lang="th-TH" sz="1450" dirty="0">
                <a:solidFill>
                  <a:srgbClr val="F2EEE6"/>
                </a:solidFill>
                <a:latin typeface="Calibri" pitchFamily="34" charset="0"/>
                <a:ea typeface="Calibri" pitchFamily="34" charset="-122"/>
                <a:cs typeface="Calibri" pitchFamily="34" charset="-120"/>
              </a:rPr>
              <a:t> </a:t>
            </a:r>
            <a:endParaRPr lang="en-US" sz="1450" dirty="0"/>
          </a:p>
        </p:txBody>
      </p:sp>
      <p:sp>
        <p:nvSpPr>
          <p:cNvPr id="7" name="Shape 5"/>
          <p:cNvSpPr/>
          <p:nvPr/>
        </p:nvSpPr>
        <p:spPr>
          <a:xfrm>
            <a:off x="1152144" y="2532888"/>
            <a:ext cx="0" cy="457200"/>
          </a:xfrm>
          <a:prstGeom prst="line">
            <a:avLst/>
          </a:prstGeom>
          <a:noFill/>
          <a:ln w="19050">
            <a:solidFill>
              <a:srgbClr val="3A3E46"/>
            </a:solidFill>
            <a:prstDash val="dash"/>
          </a:ln>
        </p:spPr>
        <p:txBody>
          <a:bodyPr/>
          <a:lstStyle/>
          <a:p>
            <a:endParaRPr lang="en-SG"/>
          </a:p>
        </p:txBody>
      </p:sp>
      <p:sp>
        <p:nvSpPr>
          <p:cNvPr id="8" name="Shape 6"/>
          <p:cNvSpPr/>
          <p:nvPr/>
        </p:nvSpPr>
        <p:spPr>
          <a:xfrm>
            <a:off x="868680" y="2990088"/>
            <a:ext cx="566928" cy="566928"/>
          </a:xfrm>
          <a:prstGeom prst="ellipse">
            <a:avLst/>
          </a:prstGeom>
          <a:solidFill>
            <a:srgbClr val="23272E"/>
          </a:solidFill>
          <a:ln w="15875">
            <a:solidFill>
              <a:srgbClr val="C8A24A"/>
            </a:solidFill>
            <a:prstDash val="solid"/>
          </a:ln>
        </p:spPr>
        <p:txBody>
          <a:bodyPr/>
          <a:lstStyle/>
          <a:p>
            <a:endParaRPr lang="en-SG"/>
          </a:p>
        </p:txBody>
      </p:sp>
      <p:sp>
        <p:nvSpPr>
          <p:cNvPr id="9" name="Text 7"/>
          <p:cNvSpPr/>
          <p:nvPr/>
        </p:nvSpPr>
        <p:spPr>
          <a:xfrm>
            <a:off x="868680" y="2990088"/>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1645920" y="2944368"/>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Browses curated dining experiences &amp; hidden gems</a:t>
            </a:r>
            <a:endParaRPr lang="en-US" sz="1450" dirty="0"/>
          </a:p>
        </p:txBody>
      </p:sp>
      <p:sp>
        <p:nvSpPr>
          <p:cNvPr id="11" name="Shape 9"/>
          <p:cNvSpPr/>
          <p:nvPr/>
        </p:nvSpPr>
        <p:spPr>
          <a:xfrm>
            <a:off x="1152144" y="3557016"/>
            <a:ext cx="0" cy="457200"/>
          </a:xfrm>
          <a:prstGeom prst="line">
            <a:avLst/>
          </a:prstGeom>
          <a:noFill/>
          <a:ln w="19050">
            <a:solidFill>
              <a:srgbClr val="3A3E46"/>
            </a:solidFill>
            <a:prstDash val="dash"/>
          </a:ln>
        </p:spPr>
        <p:txBody>
          <a:bodyPr/>
          <a:lstStyle/>
          <a:p>
            <a:endParaRPr lang="en-SG"/>
          </a:p>
        </p:txBody>
      </p:sp>
      <p:sp>
        <p:nvSpPr>
          <p:cNvPr id="12" name="Shape 10"/>
          <p:cNvSpPr/>
          <p:nvPr/>
        </p:nvSpPr>
        <p:spPr>
          <a:xfrm>
            <a:off x="868680" y="4014216"/>
            <a:ext cx="566928" cy="566928"/>
          </a:xfrm>
          <a:prstGeom prst="ellipse">
            <a:avLst/>
          </a:prstGeom>
          <a:solidFill>
            <a:srgbClr val="23272E"/>
          </a:solidFill>
          <a:ln w="15875">
            <a:solidFill>
              <a:srgbClr val="C8A24A"/>
            </a:solidFill>
            <a:prstDash val="solid"/>
          </a:ln>
        </p:spPr>
        <p:txBody>
          <a:bodyPr/>
          <a:lstStyle/>
          <a:p>
            <a:endParaRPr lang="en-SG"/>
          </a:p>
        </p:txBody>
      </p:sp>
      <p:sp>
        <p:nvSpPr>
          <p:cNvPr id="13" name="Text 11"/>
          <p:cNvSpPr/>
          <p:nvPr/>
        </p:nvSpPr>
        <p:spPr>
          <a:xfrm>
            <a:off x="868680" y="4014216"/>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1645920" y="3968496"/>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Reads your restaurant's story and highlights</a:t>
            </a:r>
            <a:endParaRPr lang="en-US" sz="1450" dirty="0"/>
          </a:p>
        </p:txBody>
      </p:sp>
      <p:sp>
        <p:nvSpPr>
          <p:cNvPr id="15" name="Shape 13"/>
          <p:cNvSpPr/>
          <p:nvPr/>
        </p:nvSpPr>
        <p:spPr>
          <a:xfrm>
            <a:off x="1152144" y="4581144"/>
            <a:ext cx="0" cy="457200"/>
          </a:xfrm>
          <a:prstGeom prst="line">
            <a:avLst/>
          </a:prstGeom>
          <a:noFill/>
          <a:ln w="19050">
            <a:solidFill>
              <a:srgbClr val="3A3E46"/>
            </a:solidFill>
            <a:prstDash val="dash"/>
          </a:ln>
        </p:spPr>
        <p:txBody>
          <a:bodyPr/>
          <a:lstStyle/>
          <a:p>
            <a:endParaRPr lang="en-SG"/>
          </a:p>
        </p:txBody>
      </p:sp>
      <p:sp>
        <p:nvSpPr>
          <p:cNvPr id="16" name="Shape 14"/>
          <p:cNvSpPr/>
          <p:nvPr/>
        </p:nvSpPr>
        <p:spPr>
          <a:xfrm>
            <a:off x="868680" y="5038344"/>
            <a:ext cx="566928" cy="566928"/>
          </a:xfrm>
          <a:prstGeom prst="ellipse">
            <a:avLst/>
          </a:prstGeom>
          <a:solidFill>
            <a:srgbClr val="23272E"/>
          </a:solidFill>
          <a:ln w="15875">
            <a:solidFill>
              <a:srgbClr val="C8A24A"/>
            </a:solidFill>
            <a:prstDash val="solid"/>
          </a:ln>
        </p:spPr>
        <p:txBody>
          <a:bodyPr/>
          <a:lstStyle/>
          <a:p>
            <a:endParaRPr lang="en-SG"/>
          </a:p>
        </p:txBody>
      </p:sp>
      <p:sp>
        <p:nvSpPr>
          <p:cNvPr id="17" name="Text 15"/>
          <p:cNvSpPr/>
          <p:nvPr/>
        </p:nvSpPr>
        <p:spPr>
          <a:xfrm>
            <a:off x="868680" y="5038344"/>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4</a:t>
            </a:r>
            <a:endParaRPr lang="en-US" sz="2200" dirty="0"/>
          </a:p>
        </p:txBody>
      </p:sp>
      <p:sp>
        <p:nvSpPr>
          <p:cNvPr id="18" name="Text 16"/>
          <p:cNvSpPr/>
          <p:nvPr/>
        </p:nvSpPr>
        <p:spPr>
          <a:xfrm>
            <a:off x="1645920" y="4992624"/>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Makes a reservation or visit</a:t>
            </a:r>
            <a:endParaRPr lang="en-US" sz="1450" dirty="0"/>
          </a:p>
        </p:txBody>
      </p:sp>
      <p:sp>
        <p:nvSpPr>
          <p:cNvPr id="19" name="Shape 17"/>
          <p:cNvSpPr/>
          <p:nvPr/>
        </p:nvSpPr>
        <p:spPr>
          <a:xfrm>
            <a:off x="6492240" y="1965960"/>
            <a:ext cx="566928" cy="566928"/>
          </a:xfrm>
          <a:prstGeom prst="ellipse">
            <a:avLst/>
          </a:prstGeom>
          <a:solidFill>
            <a:srgbClr val="23272E"/>
          </a:solidFill>
          <a:ln w="15875">
            <a:solidFill>
              <a:srgbClr val="C8A24A"/>
            </a:solidFill>
            <a:prstDash val="solid"/>
          </a:ln>
        </p:spPr>
        <p:txBody>
          <a:bodyPr/>
          <a:lstStyle/>
          <a:p>
            <a:endParaRPr lang="en-SG"/>
          </a:p>
        </p:txBody>
      </p:sp>
      <p:sp>
        <p:nvSpPr>
          <p:cNvPr id="20" name="Text 18"/>
          <p:cNvSpPr/>
          <p:nvPr/>
        </p:nvSpPr>
        <p:spPr>
          <a:xfrm>
            <a:off x="6492240" y="1965960"/>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5</a:t>
            </a:r>
            <a:endParaRPr lang="en-US" sz="2200" dirty="0"/>
          </a:p>
        </p:txBody>
      </p:sp>
      <p:sp>
        <p:nvSpPr>
          <p:cNvPr id="21" name="Text 19"/>
          <p:cNvSpPr/>
          <p:nvPr/>
        </p:nvSpPr>
        <p:spPr>
          <a:xfrm>
            <a:off x="7269480" y="1920240"/>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Redeems the benefit instantly via QR</a:t>
            </a:r>
            <a:endParaRPr lang="en-US" sz="1450" dirty="0"/>
          </a:p>
        </p:txBody>
      </p:sp>
      <p:sp>
        <p:nvSpPr>
          <p:cNvPr id="22" name="Shape 20"/>
          <p:cNvSpPr/>
          <p:nvPr/>
        </p:nvSpPr>
        <p:spPr>
          <a:xfrm>
            <a:off x="6775704" y="2532888"/>
            <a:ext cx="0" cy="457200"/>
          </a:xfrm>
          <a:prstGeom prst="line">
            <a:avLst/>
          </a:prstGeom>
          <a:noFill/>
          <a:ln w="19050">
            <a:solidFill>
              <a:srgbClr val="3A3E46"/>
            </a:solidFill>
            <a:prstDash val="dash"/>
          </a:ln>
        </p:spPr>
        <p:txBody>
          <a:bodyPr/>
          <a:lstStyle/>
          <a:p>
            <a:endParaRPr lang="en-SG"/>
          </a:p>
        </p:txBody>
      </p:sp>
      <p:sp>
        <p:nvSpPr>
          <p:cNvPr id="23" name="Shape 21"/>
          <p:cNvSpPr/>
          <p:nvPr/>
        </p:nvSpPr>
        <p:spPr>
          <a:xfrm>
            <a:off x="6492240" y="2990088"/>
            <a:ext cx="566928" cy="566928"/>
          </a:xfrm>
          <a:prstGeom prst="ellipse">
            <a:avLst/>
          </a:prstGeom>
          <a:solidFill>
            <a:srgbClr val="23272E"/>
          </a:solidFill>
          <a:ln w="15875">
            <a:solidFill>
              <a:srgbClr val="C8A24A"/>
            </a:solidFill>
            <a:prstDash val="solid"/>
          </a:ln>
        </p:spPr>
        <p:txBody>
          <a:bodyPr/>
          <a:lstStyle/>
          <a:p>
            <a:endParaRPr lang="en-SG"/>
          </a:p>
        </p:txBody>
      </p:sp>
      <p:sp>
        <p:nvSpPr>
          <p:cNvPr id="24" name="Text 22"/>
          <p:cNvSpPr/>
          <p:nvPr/>
        </p:nvSpPr>
        <p:spPr>
          <a:xfrm>
            <a:off x="6492240" y="2990088"/>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6</a:t>
            </a:r>
            <a:endParaRPr lang="en-US" sz="2200" dirty="0"/>
          </a:p>
        </p:txBody>
      </p:sp>
      <p:sp>
        <p:nvSpPr>
          <p:cNvPr id="25" name="Text 23"/>
          <p:cNvSpPr/>
          <p:nvPr/>
        </p:nvSpPr>
        <p:spPr>
          <a:xfrm>
            <a:off x="7269480" y="2944368"/>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Shares the experience online</a:t>
            </a:r>
            <a:endParaRPr lang="en-US" sz="1450" dirty="0"/>
          </a:p>
        </p:txBody>
      </p:sp>
      <p:sp>
        <p:nvSpPr>
          <p:cNvPr id="26" name="Shape 24"/>
          <p:cNvSpPr/>
          <p:nvPr/>
        </p:nvSpPr>
        <p:spPr>
          <a:xfrm>
            <a:off x="6775704" y="3557016"/>
            <a:ext cx="0" cy="457200"/>
          </a:xfrm>
          <a:prstGeom prst="line">
            <a:avLst/>
          </a:prstGeom>
          <a:noFill/>
          <a:ln w="19050">
            <a:solidFill>
              <a:srgbClr val="3A3E46"/>
            </a:solidFill>
            <a:prstDash val="dash"/>
          </a:ln>
        </p:spPr>
        <p:txBody>
          <a:bodyPr/>
          <a:lstStyle/>
          <a:p>
            <a:endParaRPr lang="en-SG"/>
          </a:p>
        </p:txBody>
      </p:sp>
      <p:sp>
        <p:nvSpPr>
          <p:cNvPr id="27" name="Shape 25"/>
          <p:cNvSpPr/>
          <p:nvPr/>
        </p:nvSpPr>
        <p:spPr>
          <a:xfrm>
            <a:off x="6492240" y="4014216"/>
            <a:ext cx="566928" cy="566928"/>
          </a:xfrm>
          <a:prstGeom prst="ellipse">
            <a:avLst/>
          </a:prstGeom>
          <a:solidFill>
            <a:srgbClr val="23272E"/>
          </a:solidFill>
          <a:ln w="15875">
            <a:solidFill>
              <a:srgbClr val="C8A24A"/>
            </a:solidFill>
            <a:prstDash val="solid"/>
          </a:ln>
        </p:spPr>
        <p:txBody>
          <a:bodyPr/>
          <a:lstStyle/>
          <a:p>
            <a:endParaRPr lang="en-SG"/>
          </a:p>
        </p:txBody>
      </p:sp>
      <p:sp>
        <p:nvSpPr>
          <p:cNvPr id="28" name="Text 26"/>
          <p:cNvSpPr/>
          <p:nvPr/>
        </p:nvSpPr>
        <p:spPr>
          <a:xfrm>
            <a:off x="6492240" y="4014216"/>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7</a:t>
            </a:r>
            <a:endParaRPr lang="en-US" sz="2200" dirty="0"/>
          </a:p>
        </p:txBody>
      </p:sp>
      <p:sp>
        <p:nvSpPr>
          <p:cNvPr id="29" name="Text 27"/>
          <p:cNvSpPr/>
          <p:nvPr/>
        </p:nvSpPr>
        <p:spPr>
          <a:xfrm>
            <a:off x="7269480" y="3968496"/>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Your restaurant gains a new customer</a:t>
            </a:r>
            <a:endParaRPr lang="en-US" sz="1450" dirty="0"/>
          </a:p>
        </p:txBody>
      </p:sp>
      <p:pic>
        <p:nvPicPr>
          <p:cNvPr id="30" name="Image 0" descr="/home/claude/deck/img/share.jpg"/>
          <p:cNvPicPr>
            <a:picLocks noChangeAspect="1"/>
          </p:cNvPicPr>
          <p:nvPr/>
        </p:nvPicPr>
        <p:blipFill>
          <a:blip r:embed="rId3"/>
          <a:srcRect/>
          <a:stretch/>
        </p:blipFill>
        <p:spPr>
          <a:xfrm>
            <a:off x="7269480" y="5029200"/>
            <a:ext cx="4069080" cy="1554480"/>
          </a:xfrm>
          <a:prstGeom prst="rect">
            <a:avLst/>
          </a:prstGeom>
          <a:effectLst>
            <a:outerShdw blurRad="114300" dist="38100" dir="8100000" algn="bl" rotWithShape="0">
              <a:srgbClr val="000000">
                <a:alpha val="45000"/>
              </a:srgbClr>
            </a:outerShdw>
          </a:effectLst>
        </p:spPr>
      </p:pic>
      <p:sp>
        <p:nvSpPr>
          <p:cNvPr id="31" name="Shape 28"/>
          <p:cNvSpPr/>
          <p:nvPr/>
        </p:nvSpPr>
        <p:spPr>
          <a:xfrm>
            <a:off x="7269480" y="5029200"/>
            <a:ext cx="4069080" cy="1554480"/>
          </a:xfrm>
          <a:prstGeom prst="rect">
            <a:avLst/>
          </a:prstGeom>
          <a:ln w="12700">
            <a:solidFill>
              <a:srgbClr val="C8A24A"/>
            </a:solidFill>
            <a:prstDash val="solid"/>
          </a:ln>
        </p:spPr>
        <p:txBody>
          <a:bodyPr/>
          <a:lstStyle/>
          <a:p>
            <a:endParaRPr lang="en-S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WHO WE TARGET</a:t>
            </a:r>
            <a:endParaRPr lang="en-US" sz="1150" dirty="0"/>
          </a:p>
        </p:txBody>
      </p:sp>
      <p:sp>
        <p:nvSpPr>
          <p:cNvPr id="3" name="Text 1"/>
          <p:cNvSpPr/>
          <p:nvPr/>
        </p:nvSpPr>
        <p:spPr>
          <a:xfrm>
            <a:off x="777240" y="868680"/>
            <a:ext cx="105156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The guests we bring to your</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Table</a:t>
            </a:r>
            <a:endParaRPr lang="en-US" sz="3300" dirty="0"/>
          </a:p>
        </p:txBody>
      </p:sp>
      <p:sp>
        <p:nvSpPr>
          <p:cNvPr id="4" name="Shape 2"/>
          <p:cNvSpPr/>
          <p:nvPr/>
        </p:nvSpPr>
        <p:spPr>
          <a:xfrm>
            <a:off x="822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5" name="Image 0" descr="/home/claude/deck/img/p_luxury.jpg"/>
          <p:cNvPicPr>
            <a:picLocks noChangeAspect="1"/>
          </p:cNvPicPr>
          <p:nvPr/>
        </p:nvPicPr>
        <p:blipFill>
          <a:blip r:embed="rId3"/>
          <a:srcRect/>
          <a:stretch/>
        </p:blipFill>
        <p:spPr>
          <a:xfrm>
            <a:off x="932688" y="1984248"/>
            <a:ext cx="1901952" cy="2331720"/>
          </a:xfrm>
          <a:prstGeom prst="rect">
            <a:avLst/>
          </a:prstGeom>
        </p:spPr>
      </p:pic>
      <p:sp>
        <p:nvSpPr>
          <p:cNvPr id="6" name="Shape 3"/>
          <p:cNvSpPr/>
          <p:nvPr/>
        </p:nvSpPr>
        <p:spPr>
          <a:xfrm>
            <a:off x="932688" y="1984248"/>
            <a:ext cx="1901952" cy="2331720"/>
          </a:xfrm>
          <a:prstGeom prst="rect">
            <a:avLst/>
          </a:prstGeom>
          <a:ln w="9525">
            <a:solidFill>
              <a:srgbClr val="C8A24A"/>
            </a:solidFill>
            <a:prstDash val="solid"/>
          </a:ln>
        </p:spPr>
        <p:txBody>
          <a:bodyPr/>
          <a:lstStyle/>
          <a:p>
            <a:endParaRPr lang="en-SG"/>
          </a:p>
        </p:txBody>
      </p:sp>
      <p:sp>
        <p:nvSpPr>
          <p:cNvPr id="7" name="Shape 4"/>
          <p:cNvSpPr/>
          <p:nvPr/>
        </p:nvSpPr>
        <p:spPr>
          <a:xfrm>
            <a:off x="987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8" name="Image 1" descr="preencoded.png"/>
          <p:cNvPicPr>
            <a:picLocks noChangeAspect="1"/>
          </p:cNvPicPr>
          <p:nvPr/>
        </p:nvPicPr>
        <p:blipFill>
          <a:blip r:embed="rId4"/>
          <a:stretch>
            <a:fillRect/>
          </a:stretch>
        </p:blipFill>
        <p:spPr>
          <a:xfrm>
            <a:off x="1115568" y="4535424"/>
            <a:ext cx="201168" cy="201168"/>
          </a:xfrm>
          <a:prstGeom prst="rect">
            <a:avLst/>
          </a:prstGeom>
        </p:spPr>
      </p:pic>
      <p:sp>
        <p:nvSpPr>
          <p:cNvPr id="9" name="Text 5"/>
          <p:cNvSpPr/>
          <p:nvPr/>
        </p:nvSpPr>
        <p:spPr>
          <a:xfrm>
            <a:off x="1536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Luxury Travellers</a:t>
            </a:r>
            <a:endParaRPr lang="en-US" sz="1250" dirty="0"/>
          </a:p>
        </p:txBody>
      </p:sp>
      <p:sp>
        <p:nvSpPr>
          <p:cNvPr id="10" name="Text 6"/>
          <p:cNvSpPr/>
          <p:nvPr/>
        </p:nvSpPr>
        <p:spPr>
          <a:xfrm>
            <a:off x="969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Seeking refined, exclusive dining</a:t>
            </a:r>
            <a:endParaRPr lang="en-US" sz="1050" dirty="0"/>
          </a:p>
        </p:txBody>
      </p:sp>
      <p:sp>
        <p:nvSpPr>
          <p:cNvPr id="11" name="Shape 7"/>
          <p:cNvSpPr/>
          <p:nvPr/>
        </p:nvSpPr>
        <p:spPr>
          <a:xfrm>
            <a:off x="3108960" y="1887046"/>
            <a:ext cx="2121408" cy="3429000"/>
          </a:xfrm>
          <a:prstGeom prst="rect">
            <a:avLst/>
          </a:prstGeom>
          <a:solidFill>
            <a:srgbClr val="1C1F24"/>
          </a:solidFill>
          <a:ln w="12700">
            <a:solidFill>
              <a:srgbClr val="3A3E46"/>
            </a:solidFill>
            <a:prstDash val="solid"/>
          </a:ln>
        </p:spPr>
        <p:txBody>
          <a:bodyPr/>
          <a:lstStyle/>
          <a:p>
            <a:endParaRPr lang="en-SG"/>
          </a:p>
        </p:txBody>
      </p:sp>
      <p:pic>
        <p:nvPicPr>
          <p:cNvPr id="12" name="Image 2" descr="/home/claude/deck/img/p_business.jpg"/>
          <p:cNvPicPr>
            <a:picLocks noChangeAspect="1"/>
          </p:cNvPicPr>
          <p:nvPr/>
        </p:nvPicPr>
        <p:blipFill>
          <a:blip r:embed="rId5"/>
          <a:srcRect/>
          <a:stretch/>
        </p:blipFill>
        <p:spPr>
          <a:xfrm>
            <a:off x="3218688" y="1984248"/>
            <a:ext cx="1901952" cy="2331720"/>
          </a:xfrm>
          <a:prstGeom prst="rect">
            <a:avLst/>
          </a:prstGeom>
        </p:spPr>
      </p:pic>
      <p:sp>
        <p:nvSpPr>
          <p:cNvPr id="13" name="Shape 8"/>
          <p:cNvSpPr/>
          <p:nvPr/>
        </p:nvSpPr>
        <p:spPr>
          <a:xfrm>
            <a:off x="3218688" y="1984248"/>
            <a:ext cx="1901952" cy="2331720"/>
          </a:xfrm>
          <a:prstGeom prst="rect">
            <a:avLst/>
          </a:prstGeom>
          <a:ln w="9525">
            <a:solidFill>
              <a:srgbClr val="C8A24A"/>
            </a:solidFill>
            <a:prstDash val="solid"/>
          </a:ln>
        </p:spPr>
        <p:txBody>
          <a:bodyPr/>
          <a:lstStyle/>
          <a:p>
            <a:endParaRPr lang="en-SG"/>
          </a:p>
        </p:txBody>
      </p:sp>
      <p:sp>
        <p:nvSpPr>
          <p:cNvPr id="14" name="Shape 9"/>
          <p:cNvSpPr/>
          <p:nvPr/>
        </p:nvSpPr>
        <p:spPr>
          <a:xfrm>
            <a:off x="3273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15" name="Image 3" descr="preencoded.png"/>
          <p:cNvPicPr>
            <a:picLocks noChangeAspect="1"/>
          </p:cNvPicPr>
          <p:nvPr/>
        </p:nvPicPr>
        <p:blipFill>
          <a:blip r:embed="rId6"/>
          <a:stretch>
            <a:fillRect/>
          </a:stretch>
        </p:blipFill>
        <p:spPr>
          <a:xfrm>
            <a:off x="3401568" y="4535424"/>
            <a:ext cx="201168" cy="201168"/>
          </a:xfrm>
          <a:prstGeom prst="rect">
            <a:avLst/>
          </a:prstGeom>
        </p:spPr>
      </p:pic>
      <p:sp>
        <p:nvSpPr>
          <p:cNvPr id="16" name="Text 10"/>
          <p:cNvSpPr/>
          <p:nvPr/>
        </p:nvSpPr>
        <p:spPr>
          <a:xfrm>
            <a:off x="3822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Business Travellers</a:t>
            </a:r>
            <a:endParaRPr lang="en-US" sz="1250" dirty="0"/>
          </a:p>
        </p:txBody>
      </p:sp>
      <p:sp>
        <p:nvSpPr>
          <p:cNvPr id="17" name="Text 11"/>
          <p:cNvSpPr/>
          <p:nvPr/>
        </p:nvSpPr>
        <p:spPr>
          <a:xfrm>
            <a:off x="3255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Premium evenings, limited time</a:t>
            </a:r>
            <a:endParaRPr lang="en-US" sz="1050" dirty="0"/>
          </a:p>
        </p:txBody>
      </p:sp>
      <p:sp>
        <p:nvSpPr>
          <p:cNvPr id="18" name="Shape 12"/>
          <p:cNvSpPr/>
          <p:nvPr/>
        </p:nvSpPr>
        <p:spPr>
          <a:xfrm>
            <a:off x="5394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19" name="Image 4" descr="/home/claude/deck/img/p_family.jpg"/>
          <p:cNvPicPr>
            <a:picLocks noChangeAspect="1"/>
          </p:cNvPicPr>
          <p:nvPr/>
        </p:nvPicPr>
        <p:blipFill>
          <a:blip r:embed="rId7"/>
          <a:srcRect/>
          <a:stretch/>
        </p:blipFill>
        <p:spPr>
          <a:xfrm>
            <a:off x="5504688" y="1984248"/>
            <a:ext cx="1901952" cy="2331720"/>
          </a:xfrm>
          <a:prstGeom prst="rect">
            <a:avLst/>
          </a:prstGeom>
        </p:spPr>
      </p:pic>
      <p:sp>
        <p:nvSpPr>
          <p:cNvPr id="20" name="Shape 13"/>
          <p:cNvSpPr/>
          <p:nvPr/>
        </p:nvSpPr>
        <p:spPr>
          <a:xfrm>
            <a:off x="5504688" y="1984248"/>
            <a:ext cx="1901952" cy="2331720"/>
          </a:xfrm>
          <a:prstGeom prst="rect">
            <a:avLst/>
          </a:prstGeom>
          <a:ln w="9525">
            <a:solidFill>
              <a:srgbClr val="C8A24A"/>
            </a:solidFill>
            <a:prstDash val="solid"/>
          </a:ln>
        </p:spPr>
        <p:txBody>
          <a:bodyPr/>
          <a:lstStyle/>
          <a:p>
            <a:endParaRPr lang="en-SG"/>
          </a:p>
        </p:txBody>
      </p:sp>
      <p:sp>
        <p:nvSpPr>
          <p:cNvPr id="21" name="Shape 14"/>
          <p:cNvSpPr/>
          <p:nvPr/>
        </p:nvSpPr>
        <p:spPr>
          <a:xfrm>
            <a:off x="5559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22" name="Image 5" descr="preencoded.png"/>
          <p:cNvPicPr>
            <a:picLocks noChangeAspect="1"/>
          </p:cNvPicPr>
          <p:nvPr/>
        </p:nvPicPr>
        <p:blipFill>
          <a:blip r:embed="rId8"/>
          <a:stretch>
            <a:fillRect/>
          </a:stretch>
        </p:blipFill>
        <p:spPr>
          <a:xfrm>
            <a:off x="5687568" y="4535424"/>
            <a:ext cx="201168" cy="201168"/>
          </a:xfrm>
          <a:prstGeom prst="rect">
            <a:avLst/>
          </a:prstGeom>
        </p:spPr>
      </p:pic>
      <p:sp>
        <p:nvSpPr>
          <p:cNvPr id="23" name="Text 15"/>
          <p:cNvSpPr/>
          <p:nvPr/>
        </p:nvSpPr>
        <p:spPr>
          <a:xfrm>
            <a:off x="6108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Families</a:t>
            </a:r>
            <a:endParaRPr lang="en-US" sz="1250" dirty="0"/>
          </a:p>
        </p:txBody>
      </p:sp>
      <p:sp>
        <p:nvSpPr>
          <p:cNvPr id="24" name="Text 16"/>
          <p:cNvSpPr/>
          <p:nvPr/>
        </p:nvSpPr>
        <p:spPr>
          <a:xfrm>
            <a:off x="5541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Memorable shared experiences</a:t>
            </a:r>
            <a:endParaRPr lang="en-US" sz="1050" dirty="0"/>
          </a:p>
        </p:txBody>
      </p:sp>
      <p:sp>
        <p:nvSpPr>
          <p:cNvPr id="25" name="Shape 17"/>
          <p:cNvSpPr/>
          <p:nvPr/>
        </p:nvSpPr>
        <p:spPr>
          <a:xfrm>
            <a:off x="7680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26" name="Image 6" descr="/home/claude/deck/img/p_foodie.jpg"/>
          <p:cNvPicPr>
            <a:picLocks noChangeAspect="1"/>
          </p:cNvPicPr>
          <p:nvPr/>
        </p:nvPicPr>
        <p:blipFill>
          <a:blip r:embed="rId9"/>
          <a:srcRect/>
          <a:stretch/>
        </p:blipFill>
        <p:spPr>
          <a:xfrm>
            <a:off x="7790688" y="1984248"/>
            <a:ext cx="1901952" cy="2331720"/>
          </a:xfrm>
          <a:prstGeom prst="rect">
            <a:avLst/>
          </a:prstGeom>
        </p:spPr>
      </p:pic>
      <p:sp>
        <p:nvSpPr>
          <p:cNvPr id="27" name="Shape 18"/>
          <p:cNvSpPr/>
          <p:nvPr/>
        </p:nvSpPr>
        <p:spPr>
          <a:xfrm>
            <a:off x="7790688" y="1984248"/>
            <a:ext cx="1901952" cy="2331720"/>
          </a:xfrm>
          <a:prstGeom prst="rect">
            <a:avLst/>
          </a:prstGeom>
          <a:ln w="9525">
            <a:solidFill>
              <a:srgbClr val="C8A24A"/>
            </a:solidFill>
            <a:prstDash val="solid"/>
          </a:ln>
        </p:spPr>
        <p:txBody>
          <a:bodyPr/>
          <a:lstStyle/>
          <a:p>
            <a:endParaRPr lang="en-SG"/>
          </a:p>
        </p:txBody>
      </p:sp>
      <p:sp>
        <p:nvSpPr>
          <p:cNvPr id="28" name="Shape 19"/>
          <p:cNvSpPr/>
          <p:nvPr/>
        </p:nvSpPr>
        <p:spPr>
          <a:xfrm>
            <a:off x="7845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29" name="Image 7" descr="preencoded.png"/>
          <p:cNvPicPr>
            <a:picLocks noChangeAspect="1"/>
          </p:cNvPicPr>
          <p:nvPr/>
        </p:nvPicPr>
        <p:blipFill>
          <a:blip r:embed="rId10"/>
          <a:stretch>
            <a:fillRect/>
          </a:stretch>
        </p:blipFill>
        <p:spPr>
          <a:xfrm>
            <a:off x="7973568" y="4535424"/>
            <a:ext cx="201168" cy="201168"/>
          </a:xfrm>
          <a:prstGeom prst="rect">
            <a:avLst/>
          </a:prstGeom>
        </p:spPr>
      </p:pic>
      <p:sp>
        <p:nvSpPr>
          <p:cNvPr id="30" name="Text 20"/>
          <p:cNvSpPr/>
          <p:nvPr/>
        </p:nvSpPr>
        <p:spPr>
          <a:xfrm>
            <a:off x="8394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Foodies</a:t>
            </a:r>
            <a:endParaRPr lang="en-US" sz="1250" dirty="0"/>
          </a:p>
        </p:txBody>
      </p:sp>
      <p:sp>
        <p:nvSpPr>
          <p:cNvPr id="31" name="Text 21"/>
          <p:cNvSpPr/>
          <p:nvPr/>
        </p:nvSpPr>
        <p:spPr>
          <a:xfrm>
            <a:off x="7827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Culinary stories worth sharing</a:t>
            </a:r>
            <a:endParaRPr lang="en-US" sz="1050" dirty="0"/>
          </a:p>
        </p:txBody>
      </p:sp>
      <p:sp>
        <p:nvSpPr>
          <p:cNvPr id="32" name="Shape 22"/>
          <p:cNvSpPr/>
          <p:nvPr/>
        </p:nvSpPr>
        <p:spPr>
          <a:xfrm>
            <a:off x="9966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33" name="Image 8" descr="/home/claude/deck/img/p_transit.jpg"/>
          <p:cNvPicPr>
            <a:picLocks noChangeAspect="1"/>
          </p:cNvPicPr>
          <p:nvPr/>
        </p:nvPicPr>
        <p:blipFill>
          <a:blip r:embed="rId11"/>
          <a:srcRect/>
          <a:stretch/>
        </p:blipFill>
        <p:spPr>
          <a:xfrm>
            <a:off x="10076688" y="1984248"/>
            <a:ext cx="1901952" cy="2331720"/>
          </a:xfrm>
          <a:prstGeom prst="rect">
            <a:avLst/>
          </a:prstGeom>
        </p:spPr>
      </p:pic>
      <p:sp>
        <p:nvSpPr>
          <p:cNvPr id="34" name="Shape 23"/>
          <p:cNvSpPr/>
          <p:nvPr/>
        </p:nvSpPr>
        <p:spPr>
          <a:xfrm>
            <a:off x="10076688" y="1984248"/>
            <a:ext cx="1901952" cy="2331720"/>
          </a:xfrm>
          <a:prstGeom prst="rect">
            <a:avLst/>
          </a:prstGeom>
          <a:ln w="9525">
            <a:solidFill>
              <a:srgbClr val="C8A24A"/>
            </a:solidFill>
            <a:prstDash val="solid"/>
          </a:ln>
        </p:spPr>
        <p:txBody>
          <a:bodyPr/>
          <a:lstStyle/>
          <a:p>
            <a:endParaRPr lang="en-SG"/>
          </a:p>
        </p:txBody>
      </p:sp>
      <p:sp>
        <p:nvSpPr>
          <p:cNvPr id="35" name="Shape 24"/>
          <p:cNvSpPr/>
          <p:nvPr/>
        </p:nvSpPr>
        <p:spPr>
          <a:xfrm>
            <a:off x="10131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36" name="Image 9" descr="preencoded.png"/>
          <p:cNvPicPr>
            <a:picLocks noChangeAspect="1"/>
          </p:cNvPicPr>
          <p:nvPr/>
        </p:nvPicPr>
        <p:blipFill>
          <a:blip r:embed="rId12"/>
          <a:stretch>
            <a:fillRect/>
          </a:stretch>
        </p:blipFill>
        <p:spPr>
          <a:xfrm>
            <a:off x="10259568" y="4535424"/>
            <a:ext cx="201168" cy="201168"/>
          </a:xfrm>
          <a:prstGeom prst="rect">
            <a:avLst/>
          </a:prstGeom>
        </p:spPr>
      </p:pic>
      <p:sp>
        <p:nvSpPr>
          <p:cNvPr id="37" name="Text 25"/>
          <p:cNvSpPr/>
          <p:nvPr/>
        </p:nvSpPr>
        <p:spPr>
          <a:xfrm>
            <a:off x="10680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Transit Visitors</a:t>
            </a:r>
            <a:endParaRPr lang="en-US" sz="1250" dirty="0"/>
          </a:p>
        </p:txBody>
      </p:sp>
      <p:sp>
        <p:nvSpPr>
          <p:cNvPr id="38" name="Text 26"/>
          <p:cNvSpPr/>
          <p:nvPr/>
        </p:nvSpPr>
        <p:spPr>
          <a:xfrm>
            <a:off x="10113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Via our travel-agency partners</a:t>
            </a:r>
            <a:endParaRPr lang="en-US" sz="1050" dirty="0"/>
          </a:p>
        </p:txBody>
      </p:sp>
      <p:sp>
        <p:nvSpPr>
          <p:cNvPr id="39" name="Text 27"/>
          <p:cNvSpPr/>
          <p:nvPr/>
        </p:nvSpPr>
        <p:spPr>
          <a:xfrm>
            <a:off x="822960" y="5897880"/>
            <a:ext cx="10515600" cy="457200"/>
          </a:xfrm>
          <a:prstGeom prst="rect">
            <a:avLst/>
          </a:prstGeom>
          <a:noFill/>
          <a:ln/>
        </p:spPr>
        <p:txBody>
          <a:bodyPr wrap="square" lIns="0" tIns="0" rIns="0" bIns="0" rtlCol="0" anchor="ctr"/>
          <a:lstStyle/>
          <a:p>
            <a:pPr marL="0" indent="0" algn="ctr">
              <a:buNone/>
            </a:pPr>
            <a:r>
              <a:rPr lang="en-US" sz="1600" i="1" dirty="0">
                <a:solidFill>
                  <a:srgbClr val="F2EEE6"/>
                </a:solidFill>
                <a:latin typeface="Georgia" pitchFamily="34" charset="0"/>
                <a:ea typeface="Georgia" pitchFamily="34" charset="-122"/>
                <a:cs typeface="Georgia" pitchFamily="34" charset="-120"/>
              </a:rPr>
              <a:t>These customers are actively searching for memorable dining experiences.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121316"/>
        </a:solidFill>
        <a:effectLst/>
      </p:bgPr>
    </p:bg>
    <p:spTree>
      <p:nvGrpSpPr>
        <p:cNvPr id="1" name=""/>
        <p:cNvGrpSpPr/>
        <p:nvPr/>
      </p:nvGrpSpPr>
      <p:grpSpPr>
        <a:xfrm>
          <a:off x="0" y="0"/>
          <a:ext cx="0" cy="0"/>
          <a:chOff x="0" y="0"/>
          <a:chExt cx="0" cy="0"/>
        </a:xfrm>
      </p:grpSpPr>
      <p:pic>
        <p:nvPicPr>
          <p:cNvPr id="2" name="Image 0" descr="/home/claude/deck/img/provides.jpg"/>
          <p:cNvPicPr>
            <a:picLocks noChangeAspect="1"/>
          </p:cNvPicPr>
          <p:nvPr/>
        </p:nvPicPr>
        <p:blipFill>
          <a:blip r:embed="rId3"/>
          <a:srcRect/>
          <a:stretch/>
        </p:blipFill>
        <p:spPr>
          <a:xfrm>
            <a:off x="8229600" y="566928"/>
            <a:ext cx="3154680" cy="5724144"/>
          </a:xfrm>
          <a:prstGeom prst="rect">
            <a:avLst/>
          </a:prstGeom>
          <a:effectLst>
            <a:outerShdw blurRad="114300" dist="38100" dir="8100000" algn="bl" rotWithShape="0">
              <a:srgbClr val="000000">
                <a:alpha val="45000"/>
              </a:srgbClr>
            </a:outerShdw>
          </a:effectLst>
        </p:spPr>
      </p:pic>
      <p:sp>
        <p:nvSpPr>
          <p:cNvPr id="3" name="Shape 0"/>
          <p:cNvSpPr/>
          <p:nvPr/>
        </p:nvSpPr>
        <p:spPr>
          <a:xfrm>
            <a:off x="8229600" y="566928"/>
            <a:ext cx="3154680" cy="5724144"/>
          </a:xfrm>
          <a:prstGeom prst="rect">
            <a:avLst/>
          </a:prstGeom>
          <a:ln w="12700">
            <a:solidFill>
              <a:srgbClr val="C8A24A"/>
            </a:solidFill>
            <a:prstDash val="solid"/>
          </a:ln>
        </p:spPr>
        <p:txBody>
          <a:bodyPr/>
          <a:lstStyle/>
          <a:p>
            <a:endParaRPr lang="en-SG"/>
          </a:p>
        </p:txBody>
      </p:sp>
      <p:sp>
        <p:nvSpPr>
          <p:cNvPr id="4" name="Text 1"/>
          <p:cNvSpPr/>
          <p:nvPr/>
        </p:nvSpPr>
        <p:spPr>
          <a:xfrm>
            <a:off x="822960" y="566928"/>
            <a:ext cx="64008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MARKETING SUPPORT</a:t>
            </a:r>
            <a:endParaRPr lang="en-US" sz="1150" dirty="0"/>
          </a:p>
        </p:txBody>
      </p:sp>
      <p:sp>
        <p:nvSpPr>
          <p:cNvPr id="5" name="Text 2"/>
          <p:cNvSpPr/>
          <p:nvPr/>
        </p:nvSpPr>
        <p:spPr>
          <a:xfrm>
            <a:off x="777240" y="868680"/>
            <a:ext cx="73152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What </a:t>
            </a:r>
            <a:r>
              <a:rPr lang="en-US" sz="3300" b="1" dirty="0" err="1">
                <a:solidFill>
                  <a:srgbClr val="F2EEE6"/>
                </a:solidFill>
                <a:latin typeface="Georgia" pitchFamily="34" charset="0"/>
                <a:ea typeface="Georgia" pitchFamily="34" charset="-122"/>
                <a:cs typeface="Georgia" pitchFamily="34" charset="-120"/>
              </a:rPr>
              <a:t>AsiaGO</a:t>
            </a:r>
            <a:r>
              <a:rPr lang="en-US" sz="3300" b="1" dirty="0">
                <a:solidFill>
                  <a:srgbClr val="F2EEE6"/>
                </a:solidFill>
                <a:latin typeface="Georgia" pitchFamily="34" charset="0"/>
                <a:ea typeface="Georgia" pitchFamily="34" charset="-122"/>
                <a:cs typeface="Georgia" pitchFamily="34" charset="-120"/>
              </a:rPr>
              <a:t>! Pass provides</a:t>
            </a:r>
            <a:endParaRPr lang="en-US" sz="3300" dirty="0"/>
          </a:p>
        </p:txBody>
      </p:sp>
      <p:sp>
        <p:nvSpPr>
          <p:cNvPr id="6" name="Shape 3"/>
          <p:cNvSpPr/>
          <p:nvPr/>
        </p:nvSpPr>
        <p:spPr>
          <a:xfrm>
            <a:off x="822960" y="1965960"/>
            <a:ext cx="3383280" cy="1024128"/>
          </a:xfrm>
          <a:prstGeom prst="rect">
            <a:avLst/>
          </a:prstGeom>
          <a:solidFill>
            <a:srgbClr val="1C1F24"/>
          </a:solidFill>
          <a:ln w="12700">
            <a:solidFill>
              <a:srgbClr val="3A3E46"/>
            </a:solidFill>
            <a:prstDash val="solid"/>
          </a:ln>
        </p:spPr>
        <p:txBody>
          <a:bodyPr/>
          <a:lstStyle/>
          <a:p>
            <a:endParaRPr lang="en-SG"/>
          </a:p>
        </p:txBody>
      </p:sp>
      <p:sp>
        <p:nvSpPr>
          <p:cNvPr id="7" name="Shape 4"/>
          <p:cNvSpPr/>
          <p:nvPr/>
        </p:nvSpPr>
        <p:spPr>
          <a:xfrm>
            <a:off x="1024128" y="222199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8" name="Image 1" descr="preencoded.png"/>
          <p:cNvPicPr>
            <a:picLocks noChangeAspect="1"/>
          </p:cNvPicPr>
          <p:nvPr/>
        </p:nvPicPr>
        <p:blipFill>
          <a:blip r:embed="rId4"/>
          <a:stretch>
            <a:fillRect/>
          </a:stretch>
        </p:blipFill>
        <p:spPr>
          <a:xfrm>
            <a:off x="1167506" y="2365370"/>
            <a:ext cx="225308" cy="225308"/>
          </a:xfrm>
          <a:prstGeom prst="rect">
            <a:avLst/>
          </a:prstGeom>
        </p:spPr>
      </p:pic>
      <p:sp>
        <p:nvSpPr>
          <p:cNvPr id="9" name="Text 5"/>
          <p:cNvSpPr/>
          <p:nvPr/>
        </p:nvSpPr>
        <p:spPr>
          <a:xfrm>
            <a:off x="1691640" y="2112264"/>
            <a:ext cx="2377440" cy="777240"/>
          </a:xfrm>
          <a:prstGeom prst="rect">
            <a:avLst/>
          </a:prstGeom>
          <a:noFill/>
          <a:ln/>
        </p:spPr>
        <p:txBody>
          <a:bodyPr wrap="square" lIns="0" tIns="0" rIns="0" bIns="0" rtlCol="0" anchor="ctr"/>
          <a:lstStyle/>
          <a:p>
            <a:r>
              <a:rPr lang="th-TH" sz="1400" dirty="0">
                <a:solidFill>
                  <a:schemeClr val="bg1"/>
                </a:solidFill>
                <a:latin typeface="Calibri" pitchFamily="34" charset="0"/>
                <a:ea typeface="Calibri" pitchFamily="34" charset="-122"/>
                <a:cs typeface="Calibri" pitchFamily="34" charset="-120"/>
              </a:rPr>
              <a:t>R</a:t>
            </a:r>
            <a:r>
              <a:rPr lang="en-SG" sz="1400" dirty="0">
                <a:solidFill>
                  <a:schemeClr val="bg1"/>
                </a:solidFill>
              </a:rPr>
              <a:t>es</a:t>
            </a:r>
            <a:r>
              <a:rPr lang="th-TH" sz="1400" dirty="0" err="1">
                <a:solidFill>
                  <a:schemeClr val="bg1"/>
                </a:solidFill>
              </a:rPr>
              <a:t>taurant</a:t>
            </a:r>
            <a:r>
              <a:rPr lang="th-TH" sz="1400" dirty="0">
                <a:solidFill>
                  <a:schemeClr val="bg1"/>
                </a:solidFill>
              </a:rPr>
              <a:t> </a:t>
            </a:r>
            <a:r>
              <a:rPr lang="th-TH" sz="1400" dirty="0" err="1">
                <a:solidFill>
                  <a:schemeClr val="bg1"/>
                </a:solidFill>
              </a:rPr>
              <a:t>Experience</a:t>
            </a:r>
            <a:r>
              <a:rPr lang="th-TH" sz="1400" dirty="0">
                <a:solidFill>
                  <a:schemeClr val="bg1"/>
                </a:solidFill>
              </a:rPr>
              <a:t>-</a:t>
            </a:r>
            <a:r>
              <a:rPr lang="th-TH" sz="1400" dirty="0" err="1">
                <a:solidFill>
                  <a:schemeClr val="bg1"/>
                </a:solidFill>
              </a:rPr>
              <a:t>base</a:t>
            </a:r>
            <a:r>
              <a:rPr lang="en-SG" sz="1400" dirty="0">
                <a:solidFill>
                  <a:schemeClr val="bg1"/>
                </a:solidFill>
              </a:rPr>
              <a:t> </a:t>
            </a:r>
            <a:r>
              <a:rPr lang="th-TH" sz="1400" dirty="0">
                <a:solidFill>
                  <a:schemeClr val="bg1"/>
                </a:solidFill>
              </a:rPr>
              <a:t> </a:t>
            </a:r>
            <a:r>
              <a:rPr lang="en-SG" sz="1400" dirty="0">
                <a:solidFill>
                  <a:schemeClr val="bg1"/>
                </a:solidFill>
              </a:rPr>
              <a:t>gimmick</a:t>
            </a:r>
            <a:endParaRPr lang="en-US" sz="1400" dirty="0">
              <a:solidFill>
                <a:schemeClr val="bg1"/>
              </a:solidFill>
            </a:endParaRPr>
          </a:p>
        </p:txBody>
      </p:sp>
      <p:sp>
        <p:nvSpPr>
          <p:cNvPr id="10" name="Shape 6"/>
          <p:cNvSpPr/>
          <p:nvPr/>
        </p:nvSpPr>
        <p:spPr>
          <a:xfrm>
            <a:off x="4389120" y="1965960"/>
            <a:ext cx="3383280" cy="1024128"/>
          </a:xfrm>
          <a:prstGeom prst="rect">
            <a:avLst/>
          </a:prstGeom>
          <a:solidFill>
            <a:srgbClr val="1C1F24"/>
          </a:solidFill>
          <a:ln w="12700">
            <a:solidFill>
              <a:srgbClr val="3A3E46"/>
            </a:solidFill>
            <a:prstDash val="solid"/>
          </a:ln>
        </p:spPr>
        <p:txBody>
          <a:bodyPr/>
          <a:lstStyle/>
          <a:p>
            <a:endParaRPr lang="en-SG"/>
          </a:p>
        </p:txBody>
      </p:sp>
      <p:sp>
        <p:nvSpPr>
          <p:cNvPr id="11" name="Shape 7"/>
          <p:cNvSpPr/>
          <p:nvPr/>
        </p:nvSpPr>
        <p:spPr>
          <a:xfrm>
            <a:off x="4590288" y="222199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12" name="Image 2" descr="preencoded.png"/>
          <p:cNvPicPr>
            <a:picLocks noChangeAspect="1"/>
          </p:cNvPicPr>
          <p:nvPr/>
        </p:nvPicPr>
        <p:blipFill>
          <a:blip r:embed="rId5"/>
          <a:stretch>
            <a:fillRect/>
          </a:stretch>
        </p:blipFill>
        <p:spPr>
          <a:xfrm>
            <a:off x="4733666" y="2365370"/>
            <a:ext cx="225308" cy="225308"/>
          </a:xfrm>
          <a:prstGeom prst="rect">
            <a:avLst/>
          </a:prstGeom>
        </p:spPr>
      </p:pic>
      <p:sp>
        <p:nvSpPr>
          <p:cNvPr id="13" name="Text 8"/>
          <p:cNvSpPr/>
          <p:nvPr/>
        </p:nvSpPr>
        <p:spPr>
          <a:xfrm>
            <a:off x="5257800" y="211226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Storytelling content &amp; social promotion</a:t>
            </a:r>
            <a:endParaRPr lang="en-US" sz="1350" dirty="0"/>
          </a:p>
        </p:txBody>
      </p:sp>
      <p:sp>
        <p:nvSpPr>
          <p:cNvPr id="14" name="Shape 9"/>
          <p:cNvSpPr/>
          <p:nvPr/>
        </p:nvSpPr>
        <p:spPr>
          <a:xfrm>
            <a:off x="822960" y="3154680"/>
            <a:ext cx="3383280" cy="1024128"/>
          </a:xfrm>
          <a:prstGeom prst="rect">
            <a:avLst/>
          </a:prstGeom>
          <a:solidFill>
            <a:srgbClr val="1C1F24"/>
          </a:solidFill>
          <a:ln w="12700">
            <a:solidFill>
              <a:srgbClr val="3A3E46"/>
            </a:solidFill>
            <a:prstDash val="solid"/>
          </a:ln>
        </p:spPr>
        <p:txBody>
          <a:bodyPr/>
          <a:lstStyle/>
          <a:p>
            <a:endParaRPr lang="en-SG"/>
          </a:p>
        </p:txBody>
      </p:sp>
      <p:sp>
        <p:nvSpPr>
          <p:cNvPr id="15" name="Shape 10"/>
          <p:cNvSpPr/>
          <p:nvPr/>
        </p:nvSpPr>
        <p:spPr>
          <a:xfrm>
            <a:off x="1024128" y="341071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16" name="Image 3" descr="preencoded.png"/>
          <p:cNvPicPr>
            <a:picLocks noChangeAspect="1"/>
          </p:cNvPicPr>
          <p:nvPr/>
        </p:nvPicPr>
        <p:blipFill>
          <a:blip r:embed="rId6"/>
          <a:stretch>
            <a:fillRect/>
          </a:stretch>
        </p:blipFill>
        <p:spPr>
          <a:xfrm>
            <a:off x="1167506" y="3554090"/>
            <a:ext cx="225308" cy="225308"/>
          </a:xfrm>
          <a:prstGeom prst="rect">
            <a:avLst/>
          </a:prstGeom>
        </p:spPr>
      </p:pic>
      <p:sp>
        <p:nvSpPr>
          <p:cNvPr id="17" name="Text 11"/>
          <p:cNvSpPr/>
          <p:nvPr/>
        </p:nvSpPr>
        <p:spPr>
          <a:xfrm>
            <a:off x="1691640" y="330098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Travel itinerary inclusion</a:t>
            </a:r>
            <a:endParaRPr lang="en-US" sz="1350" dirty="0"/>
          </a:p>
        </p:txBody>
      </p:sp>
      <p:sp>
        <p:nvSpPr>
          <p:cNvPr id="18" name="Shape 12"/>
          <p:cNvSpPr/>
          <p:nvPr/>
        </p:nvSpPr>
        <p:spPr>
          <a:xfrm>
            <a:off x="4389120" y="3154680"/>
            <a:ext cx="3383280" cy="1024128"/>
          </a:xfrm>
          <a:prstGeom prst="rect">
            <a:avLst/>
          </a:prstGeom>
          <a:solidFill>
            <a:srgbClr val="1C1F24"/>
          </a:solidFill>
          <a:ln w="12700">
            <a:solidFill>
              <a:srgbClr val="3A3E46"/>
            </a:solidFill>
            <a:prstDash val="solid"/>
          </a:ln>
        </p:spPr>
        <p:txBody>
          <a:bodyPr/>
          <a:lstStyle/>
          <a:p>
            <a:endParaRPr lang="en-SG"/>
          </a:p>
        </p:txBody>
      </p:sp>
      <p:sp>
        <p:nvSpPr>
          <p:cNvPr id="19" name="Shape 13"/>
          <p:cNvSpPr/>
          <p:nvPr/>
        </p:nvSpPr>
        <p:spPr>
          <a:xfrm>
            <a:off x="4590288" y="341071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20" name="Image 4" descr="preencoded.png"/>
          <p:cNvPicPr>
            <a:picLocks noChangeAspect="1"/>
          </p:cNvPicPr>
          <p:nvPr/>
        </p:nvPicPr>
        <p:blipFill>
          <a:blip r:embed="rId7"/>
          <a:stretch>
            <a:fillRect/>
          </a:stretch>
        </p:blipFill>
        <p:spPr>
          <a:xfrm>
            <a:off x="4733666" y="3554090"/>
            <a:ext cx="225308" cy="225308"/>
          </a:xfrm>
          <a:prstGeom prst="rect">
            <a:avLst/>
          </a:prstGeom>
        </p:spPr>
      </p:pic>
      <p:sp>
        <p:nvSpPr>
          <p:cNvPr id="21" name="Text 14"/>
          <p:cNvSpPr/>
          <p:nvPr/>
        </p:nvSpPr>
        <p:spPr>
          <a:xfrm>
            <a:off x="5257800" y="330098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Destination guides</a:t>
            </a:r>
            <a:endParaRPr lang="en-US" sz="1350" dirty="0"/>
          </a:p>
        </p:txBody>
      </p:sp>
      <p:sp>
        <p:nvSpPr>
          <p:cNvPr id="22" name="Shape 15"/>
          <p:cNvSpPr/>
          <p:nvPr/>
        </p:nvSpPr>
        <p:spPr>
          <a:xfrm>
            <a:off x="822960" y="4368452"/>
            <a:ext cx="3383280" cy="1024128"/>
          </a:xfrm>
          <a:prstGeom prst="rect">
            <a:avLst/>
          </a:prstGeom>
          <a:solidFill>
            <a:srgbClr val="1C1F24"/>
          </a:solidFill>
          <a:ln w="12700">
            <a:solidFill>
              <a:srgbClr val="3A3E46"/>
            </a:solidFill>
            <a:prstDash val="solid"/>
          </a:ln>
        </p:spPr>
        <p:txBody>
          <a:bodyPr/>
          <a:lstStyle/>
          <a:p>
            <a:endParaRPr lang="en-SG"/>
          </a:p>
        </p:txBody>
      </p:sp>
      <p:sp>
        <p:nvSpPr>
          <p:cNvPr id="23" name="Shape 16"/>
          <p:cNvSpPr/>
          <p:nvPr/>
        </p:nvSpPr>
        <p:spPr>
          <a:xfrm>
            <a:off x="1024128" y="459943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24" name="Image 5" descr="preencoded.png"/>
          <p:cNvPicPr>
            <a:picLocks noChangeAspect="1"/>
          </p:cNvPicPr>
          <p:nvPr/>
        </p:nvPicPr>
        <p:blipFill>
          <a:blip r:embed="rId8"/>
          <a:stretch>
            <a:fillRect/>
          </a:stretch>
        </p:blipFill>
        <p:spPr>
          <a:xfrm>
            <a:off x="1167506" y="4742810"/>
            <a:ext cx="225308" cy="225308"/>
          </a:xfrm>
          <a:prstGeom prst="rect">
            <a:avLst/>
          </a:prstGeom>
        </p:spPr>
      </p:pic>
      <p:sp>
        <p:nvSpPr>
          <p:cNvPr id="25" name="Text 17"/>
          <p:cNvSpPr/>
          <p:nvPr/>
        </p:nvSpPr>
        <p:spPr>
          <a:xfrm>
            <a:off x="1691640" y="448970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Partner spotlight campaigns</a:t>
            </a:r>
            <a:endParaRPr lang="en-US" sz="1350" dirty="0"/>
          </a:p>
        </p:txBody>
      </p:sp>
      <p:sp>
        <p:nvSpPr>
          <p:cNvPr id="26" name="Shape 18"/>
          <p:cNvSpPr/>
          <p:nvPr/>
        </p:nvSpPr>
        <p:spPr>
          <a:xfrm>
            <a:off x="4251960" y="4343400"/>
            <a:ext cx="3383280" cy="1024128"/>
          </a:xfrm>
          <a:prstGeom prst="rect">
            <a:avLst/>
          </a:prstGeom>
          <a:solidFill>
            <a:srgbClr val="1C1F24"/>
          </a:solidFill>
          <a:ln w="12700">
            <a:solidFill>
              <a:srgbClr val="3A3E46"/>
            </a:solidFill>
            <a:prstDash val="solid"/>
          </a:ln>
        </p:spPr>
        <p:txBody>
          <a:bodyPr/>
          <a:lstStyle/>
          <a:p>
            <a:endParaRPr lang="en-SG"/>
          </a:p>
        </p:txBody>
      </p:sp>
      <p:sp>
        <p:nvSpPr>
          <p:cNvPr id="27" name="Shape 19"/>
          <p:cNvSpPr/>
          <p:nvPr/>
        </p:nvSpPr>
        <p:spPr>
          <a:xfrm>
            <a:off x="4590288" y="459943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28" name="Image 6" descr="preencoded.png"/>
          <p:cNvPicPr>
            <a:picLocks noChangeAspect="1"/>
          </p:cNvPicPr>
          <p:nvPr/>
        </p:nvPicPr>
        <p:blipFill>
          <a:blip r:embed="rId9"/>
          <a:stretch>
            <a:fillRect/>
          </a:stretch>
        </p:blipFill>
        <p:spPr>
          <a:xfrm>
            <a:off x="4733666" y="4742810"/>
            <a:ext cx="225308" cy="225308"/>
          </a:xfrm>
          <a:prstGeom prst="rect">
            <a:avLst/>
          </a:prstGeom>
        </p:spPr>
      </p:pic>
      <p:sp>
        <p:nvSpPr>
          <p:cNvPr id="29" name="Text 20"/>
          <p:cNvSpPr/>
          <p:nvPr/>
        </p:nvSpPr>
        <p:spPr>
          <a:xfrm>
            <a:off x="5257800" y="448970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Exposure to international markets</a:t>
            </a:r>
            <a:endParaRPr lang="en-US" sz="1350" dirty="0"/>
          </a:p>
        </p:txBody>
      </p:sp>
      <p:sp>
        <p:nvSpPr>
          <p:cNvPr id="30" name="Text 21"/>
          <p:cNvSpPr/>
          <p:nvPr/>
        </p:nvSpPr>
        <p:spPr>
          <a:xfrm>
            <a:off x="822960" y="5897880"/>
            <a:ext cx="7040880" cy="457200"/>
          </a:xfrm>
          <a:prstGeom prst="rect">
            <a:avLst/>
          </a:prstGeom>
          <a:noFill/>
          <a:ln/>
        </p:spPr>
        <p:txBody>
          <a:bodyPr wrap="square" lIns="0" tIns="0" rIns="0" bIns="0" rtlCol="0" anchor="ctr"/>
          <a:lstStyle/>
          <a:p>
            <a:pPr marL="0" indent="0">
              <a:buNone/>
            </a:pPr>
            <a:r>
              <a:rPr lang="en-US" sz="1600" i="1" dirty="0">
                <a:solidFill>
                  <a:srgbClr val="E6CE8F"/>
                </a:solidFill>
                <a:latin typeface="Georgia" pitchFamily="34" charset="0"/>
                <a:ea typeface="Georgia" pitchFamily="34" charset="-122"/>
                <a:cs typeface="Georgia" pitchFamily="34" charset="-120"/>
              </a:rPr>
              <a:t>Your restaurant becomes part of the Singapore experience.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OUR DIFFERENCE</a:t>
            </a:r>
            <a:endParaRPr lang="en-US" sz="1150" dirty="0"/>
          </a:p>
        </p:txBody>
      </p:sp>
      <p:sp>
        <p:nvSpPr>
          <p:cNvPr id="3" name="Text 1"/>
          <p:cNvSpPr/>
          <p:nvPr/>
        </p:nvSpPr>
        <p:spPr>
          <a:xfrm>
            <a:off x="777240" y="868680"/>
            <a:ext cx="100584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We sell experiences, not discounts</a:t>
            </a:r>
            <a:endParaRPr lang="en-US" sz="3300" dirty="0"/>
          </a:p>
        </p:txBody>
      </p:sp>
      <p:sp>
        <p:nvSpPr>
          <p:cNvPr id="4" name="Shape 2"/>
          <p:cNvSpPr/>
          <p:nvPr/>
        </p:nvSpPr>
        <p:spPr>
          <a:xfrm>
            <a:off x="822960" y="1874520"/>
            <a:ext cx="3429000" cy="2331720"/>
          </a:xfrm>
          <a:prstGeom prst="rect">
            <a:avLst/>
          </a:prstGeom>
          <a:solidFill>
            <a:srgbClr val="1C1F24"/>
          </a:solidFill>
          <a:ln w="12700">
            <a:solidFill>
              <a:srgbClr val="3A3E46"/>
            </a:solidFill>
            <a:prstDash val="solid"/>
          </a:ln>
        </p:spPr>
        <p:txBody>
          <a:bodyPr/>
          <a:lstStyle/>
          <a:p>
            <a:endParaRPr lang="en-SG"/>
          </a:p>
        </p:txBody>
      </p:sp>
      <p:sp>
        <p:nvSpPr>
          <p:cNvPr id="5" name="Text 3"/>
          <p:cNvSpPr/>
          <p:nvPr/>
        </p:nvSpPr>
        <p:spPr>
          <a:xfrm>
            <a:off x="1005840" y="2057400"/>
            <a:ext cx="3063240" cy="320040"/>
          </a:xfrm>
          <a:prstGeom prst="rect">
            <a:avLst/>
          </a:prstGeom>
          <a:noFill/>
          <a:ln/>
        </p:spPr>
        <p:txBody>
          <a:bodyPr wrap="square" lIns="0" tIns="0" rIns="0" bIns="0" rtlCol="0" anchor="ctr"/>
          <a:lstStyle/>
          <a:p>
            <a:pPr marL="0" indent="0">
              <a:buNone/>
            </a:pPr>
            <a:r>
              <a:rPr lang="en-US" sz="1200" b="1" kern="0" spc="150" dirty="0">
                <a:solidFill>
                  <a:srgbClr val="A7A296"/>
                </a:solidFill>
                <a:latin typeface="Calibri" pitchFamily="34" charset="0"/>
                <a:ea typeface="Calibri" pitchFamily="34" charset="-122"/>
                <a:cs typeface="Calibri" pitchFamily="34" charset="-120"/>
              </a:rPr>
              <a:t>TRADITIONAL PLATFORMS</a:t>
            </a:r>
            <a:endParaRPr lang="en-US" sz="1200" dirty="0"/>
          </a:p>
        </p:txBody>
      </p:sp>
      <p:sp>
        <p:nvSpPr>
          <p:cNvPr id="6" name="Text 4"/>
          <p:cNvSpPr/>
          <p:nvPr/>
        </p:nvSpPr>
        <p:spPr>
          <a:xfrm>
            <a:off x="1005840" y="2468880"/>
            <a:ext cx="3063240" cy="155448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F2EEE6"/>
                </a:solidFill>
                <a:latin typeface="Calibri" pitchFamily="34" charset="0"/>
                <a:ea typeface="Calibri" pitchFamily="34" charset="-122"/>
                <a:cs typeface="Calibri" pitchFamily="34" charset="-120"/>
              </a:rPr>
              <a:t>Compete on price</a:t>
            </a:r>
            <a:endParaRPr lang="en-US" sz="1450" dirty="0"/>
          </a:p>
          <a:p>
            <a:pPr marL="342900" indent="-342900">
              <a:spcAft>
                <a:spcPts val="800"/>
              </a:spcAft>
              <a:buSzPct val="100000"/>
              <a:buChar char="–"/>
            </a:pPr>
            <a:r>
              <a:rPr lang="en-US" sz="1450" dirty="0">
                <a:solidFill>
                  <a:srgbClr val="F2EEE6"/>
                </a:solidFill>
                <a:latin typeface="Calibri" pitchFamily="34" charset="0"/>
                <a:ea typeface="Calibri" pitchFamily="34" charset="-122"/>
                <a:cs typeface="Calibri" pitchFamily="34" charset="-120"/>
              </a:rPr>
              <a:t>Promote discounts</a:t>
            </a:r>
            <a:endParaRPr lang="en-US" sz="1450" dirty="0"/>
          </a:p>
          <a:p>
            <a:pPr marL="342900" indent="-342900">
              <a:spcAft>
                <a:spcPts val="800"/>
              </a:spcAft>
              <a:buSzPct val="100000"/>
              <a:buChar char="–"/>
            </a:pPr>
            <a:r>
              <a:rPr lang="en-US" sz="1450" dirty="0">
                <a:solidFill>
                  <a:srgbClr val="F2EEE6"/>
                </a:solidFill>
                <a:latin typeface="Calibri" pitchFamily="34" charset="0"/>
                <a:ea typeface="Calibri" pitchFamily="34" charset="-122"/>
                <a:cs typeface="Calibri" pitchFamily="34" charset="-120"/>
              </a:rPr>
              <a:t>Transaction-focused</a:t>
            </a:r>
            <a:endParaRPr lang="en-US" sz="1450" dirty="0"/>
          </a:p>
        </p:txBody>
      </p:sp>
      <p:sp>
        <p:nvSpPr>
          <p:cNvPr id="7" name="Shape 5"/>
          <p:cNvSpPr/>
          <p:nvPr/>
        </p:nvSpPr>
        <p:spPr>
          <a:xfrm>
            <a:off x="4572000" y="1884680"/>
            <a:ext cx="3429000" cy="2331720"/>
          </a:xfrm>
          <a:prstGeom prst="rect">
            <a:avLst/>
          </a:prstGeom>
          <a:solidFill>
            <a:srgbClr val="23272E"/>
          </a:solidFill>
          <a:ln w="15875">
            <a:solidFill>
              <a:srgbClr val="C8A24A"/>
            </a:solidFill>
            <a:prstDash val="solid"/>
          </a:ln>
        </p:spPr>
        <p:txBody>
          <a:bodyPr/>
          <a:lstStyle/>
          <a:p>
            <a:endParaRPr lang="en-SG"/>
          </a:p>
        </p:txBody>
      </p:sp>
      <p:sp>
        <p:nvSpPr>
          <p:cNvPr id="8" name="Text 6"/>
          <p:cNvSpPr/>
          <p:nvPr/>
        </p:nvSpPr>
        <p:spPr>
          <a:xfrm>
            <a:off x="4754880" y="2057400"/>
            <a:ext cx="3063240" cy="320040"/>
          </a:xfrm>
          <a:prstGeom prst="rect">
            <a:avLst/>
          </a:prstGeom>
          <a:noFill/>
          <a:ln/>
        </p:spPr>
        <p:txBody>
          <a:bodyPr wrap="square" lIns="0" tIns="0" rIns="0" bIns="0" rtlCol="0" anchor="ctr"/>
          <a:lstStyle/>
          <a:p>
            <a:pPr marL="0" indent="0">
              <a:buNone/>
            </a:pPr>
            <a:r>
              <a:rPr lang="en-US" sz="1200" b="1" kern="0" spc="150" dirty="0" err="1">
                <a:solidFill>
                  <a:srgbClr val="C8A24A"/>
                </a:solidFill>
                <a:latin typeface="Calibri" pitchFamily="34" charset="0"/>
                <a:ea typeface="Calibri" pitchFamily="34" charset="-122"/>
                <a:cs typeface="Calibri" pitchFamily="34" charset="-120"/>
              </a:rPr>
              <a:t>AsiaGO</a:t>
            </a:r>
            <a:r>
              <a:rPr lang="en-US" sz="1200" b="1" kern="0" spc="150" dirty="0">
                <a:solidFill>
                  <a:srgbClr val="C8A24A"/>
                </a:solidFill>
                <a:latin typeface="Calibri" pitchFamily="34" charset="0"/>
                <a:ea typeface="Calibri" pitchFamily="34" charset="-122"/>
                <a:cs typeface="Calibri" pitchFamily="34" charset="-120"/>
              </a:rPr>
              <a:t> pass!</a:t>
            </a:r>
            <a:endParaRPr lang="en-US" sz="1200" dirty="0"/>
          </a:p>
        </p:txBody>
      </p:sp>
      <p:sp>
        <p:nvSpPr>
          <p:cNvPr id="9" name="Text 7"/>
          <p:cNvSpPr/>
          <p:nvPr/>
        </p:nvSpPr>
        <p:spPr>
          <a:xfrm>
            <a:off x="4754880" y="2468880"/>
            <a:ext cx="3063240" cy="15544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Promotes experiences</a:t>
            </a:r>
            <a:endParaRPr lang="en-US" sz="1450" dirty="0"/>
          </a:p>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Highlights culinary stories</a:t>
            </a:r>
            <a:endParaRPr lang="en-US" sz="1450" dirty="0"/>
          </a:p>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Creates destination dining moments</a:t>
            </a:r>
            <a:endParaRPr lang="en-US" sz="1450" dirty="0"/>
          </a:p>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Enhances brand prestige</a:t>
            </a:r>
            <a:endParaRPr lang="en-US" sz="1450" dirty="0"/>
          </a:p>
        </p:txBody>
      </p:sp>
      <p:sp>
        <p:nvSpPr>
          <p:cNvPr id="10" name="Shape 8"/>
          <p:cNvSpPr/>
          <p:nvPr/>
        </p:nvSpPr>
        <p:spPr>
          <a:xfrm>
            <a:off x="822960" y="4526280"/>
            <a:ext cx="6949440" cy="1783080"/>
          </a:xfrm>
          <a:prstGeom prst="rect">
            <a:avLst/>
          </a:prstGeom>
          <a:solidFill>
            <a:srgbClr val="1C1F24"/>
          </a:solidFill>
          <a:ln w="12700">
            <a:solidFill>
              <a:srgbClr val="3A3E46"/>
            </a:solidFill>
            <a:prstDash val="solid"/>
          </a:ln>
        </p:spPr>
        <p:txBody>
          <a:bodyPr/>
          <a:lstStyle/>
          <a:p>
            <a:endParaRPr lang="en-SG"/>
          </a:p>
        </p:txBody>
      </p:sp>
      <p:sp>
        <p:nvSpPr>
          <p:cNvPr id="11" name="Shape 9"/>
          <p:cNvSpPr/>
          <p:nvPr/>
        </p:nvSpPr>
        <p:spPr>
          <a:xfrm>
            <a:off x="822960" y="4526280"/>
            <a:ext cx="64008" cy="1783080"/>
          </a:xfrm>
          <a:prstGeom prst="rect">
            <a:avLst/>
          </a:prstGeom>
          <a:solidFill>
            <a:srgbClr val="C8A24A"/>
          </a:solidFill>
          <a:ln/>
        </p:spPr>
        <p:txBody>
          <a:bodyPr/>
          <a:lstStyle/>
          <a:p>
            <a:endParaRPr lang="en-SG"/>
          </a:p>
        </p:txBody>
      </p:sp>
      <p:sp>
        <p:nvSpPr>
          <p:cNvPr id="12" name="Shape 10"/>
          <p:cNvSpPr/>
          <p:nvPr/>
        </p:nvSpPr>
        <p:spPr>
          <a:xfrm>
            <a:off x="1051560" y="4754880"/>
            <a:ext cx="530352" cy="530352"/>
          </a:xfrm>
          <a:prstGeom prst="ellipse">
            <a:avLst/>
          </a:prstGeom>
          <a:solidFill>
            <a:srgbClr val="23272E"/>
          </a:solidFill>
          <a:ln w="15875">
            <a:solidFill>
              <a:srgbClr val="C8A24A"/>
            </a:solidFill>
            <a:prstDash val="solid"/>
          </a:ln>
        </p:spPr>
        <p:txBody>
          <a:bodyPr/>
          <a:lstStyle/>
          <a:p>
            <a:endParaRPr lang="en-SG"/>
          </a:p>
        </p:txBody>
      </p:sp>
      <p:pic>
        <p:nvPicPr>
          <p:cNvPr id="13" name="Image 0" descr="preencoded.png"/>
          <p:cNvPicPr>
            <a:picLocks noChangeAspect="1"/>
          </p:cNvPicPr>
          <p:nvPr/>
        </p:nvPicPr>
        <p:blipFill>
          <a:blip r:embed="rId3"/>
          <a:stretch>
            <a:fillRect/>
          </a:stretch>
        </p:blipFill>
        <p:spPr>
          <a:xfrm>
            <a:off x="1200059" y="4903379"/>
            <a:ext cx="233355" cy="233355"/>
          </a:xfrm>
          <a:prstGeom prst="rect">
            <a:avLst/>
          </a:prstGeom>
        </p:spPr>
      </p:pic>
      <p:sp>
        <p:nvSpPr>
          <p:cNvPr id="14" name="Text 11"/>
          <p:cNvSpPr/>
          <p:nvPr/>
        </p:nvSpPr>
        <p:spPr>
          <a:xfrm>
            <a:off x="1783080" y="4773168"/>
            <a:ext cx="5760720" cy="320040"/>
          </a:xfrm>
          <a:prstGeom prst="rect">
            <a:avLst/>
          </a:prstGeom>
          <a:noFill/>
          <a:ln/>
        </p:spPr>
        <p:txBody>
          <a:bodyPr wrap="square" lIns="0" tIns="0" rIns="0" bIns="0" rtlCol="0" anchor="ctr"/>
          <a:lstStyle/>
          <a:p>
            <a:pPr marL="0" indent="0">
              <a:buNone/>
            </a:pPr>
            <a:r>
              <a:rPr lang="en-US" sz="1300" b="1" kern="0" spc="100" dirty="0">
                <a:solidFill>
                  <a:srgbClr val="E6CE8F"/>
                </a:solidFill>
                <a:latin typeface="Calibri" pitchFamily="34" charset="0"/>
                <a:ea typeface="Calibri" pitchFamily="34" charset="-122"/>
                <a:cs typeface="Calibri" pitchFamily="34" charset="-120"/>
              </a:rPr>
              <a:t>EXAMPLE — WELCOME LUXURY TREAT</a:t>
            </a:r>
            <a:endParaRPr lang="en-US" sz="1300" dirty="0"/>
          </a:p>
        </p:txBody>
      </p:sp>
      <p:sp>
        <p:nvSpPr>
          <p:cNvPr id="15" name="Text 12"/>
          <p:cNvSpPr/>
          <p:nvPr/>
        </p:nvSpPr>
        <p:spPr>
          <a:xfrm>
            <a:off x="1783080" y="5148072"/>
            <a:ext cx="5806440" cy="1005840"/>
          </a:xfrm>
          <a:prstGeom prst="rect">
            <a:avLst/>
          </a:prstGeom>
          <a:noFill/>
          <a:ln/>
        </p:spPr>
        <p:txBody>
          <a:bodyPr wrap="square" lIns="0" tIns="0" rIns="0" bIns="0" rtlCol="0" anchor="t"/>
          <a:lstStyle/>
          <a:p>
            <a:pPr marL="0" indent="0">
              <a:spcAft>
                <a:spcPts val="600"/>
              </a:spcAft>
              <a:buNone/>
            </a:pPr>
            <a:r>
              <a:rPr lang="en-US" sz="1350" i="1" dirty="0">
                <a:solidFill>
                  <a:srgbClr val="F2EEE6"/>
                </a:solidFill>
                <a:latin typeface="Calibri" pitchFamily="34" charset="0"/>
                <a:ea typeface="Calibri" pitchFamily="34" charset="-122"/>
                <a:cs typeface="Calibri" pitchFamily="34" charset="-120"/>
              </a:rPr>
              <a:t>“A complimentary welcome cocktail or premium mocktail on arrival.”</a:t>
            </a:r>
            <a:endParaRPr lang="en-US" sz="1350" dirty="0"/>
          </a:p>
          <a:p>
            <a:pPr marL="0" indent="0">
              <a:spcAft>
                <a:spcPts val="600"/>
              </a:spcAft>
              <a:buNone/>
            </a:pPr>
            <a:r>
              <a:rPr lang="en-US" sz="1350" i="1" dirty="0">
                <a:solidFill>
                  <a:srgbClr val="A7A296"/>
                </a:solidFill>
                <a:latin typeface="Calibri" pitchFamily="34" charset="0"/>
                <a:ea typeface="Calibri" pitchFamily="34" charset="-122"/>
                <a:cs typeface="Calibri" pitchFamily="34" charset="-120"/>
              </a:rPr>
              <a:t>Complimentary signature Peking duck tasting for two with a minimum dining spend.</a:t>
            </a:r>
            <a:endParaRPr lang="en-US" sz="1350" dirty="0"/>
          </a:p>
        </p:txBody>
      </p:sp>
      <p:pic>
        <p:nvPicPr>
          <p:cNvPr id="16" name="Image 1" descr="/home/claude/deck/img/dish.jpg"/>
          <p:cNvPicPr>
            <a:picLocks noChangeAspect="1"/>
          </p:cNvPicPr>
          <p:nvPr/>
        </p:nvPicPr>
        <p:blipFill>
          <a:blip r:embed="rId4"/>
          <a:srcRect/>
          <a:stretch/>
        </p:blipFill>
        <p:spPr>
          <a:xfrm>
            <a:off x="8183880" y="1874520"/>
            <a:ext cx="3200400" cy="4434840"/>
          </a:xfrm>
          <a:prstGeom prst="rect">
            <a:avLst/>
          </a:prstGeom>
          <a:effectLst>
            <a:outerShdw blurRad="114300" dist="38100" dir="8100000" algn="bl" rotWithShape="0">
              <a:srgbClr val="000000">
                <a:alpha val="45000"/>
              </a:srgbClr>
            </a:outerShdw>
          </a:effectLst>
        </p:spPr>
      </p:pic>
      <p:sp>
        <p:nvSpPr>
          <p:cNvPr id="17" name="Shape 13"/>
          <p:cNvSpPr/>
          <p:nvPr/>
        </p:nvSpPr>
        <p:spPr>
          <a:xfrm>
            <a:off x="8183880" y="1874520"/>
            <a:ext cx="3200400" cy="4434840"/>
          </a:xfrm>
          <a:prstGeom prst="rect">
            <a:avLst/>
          </a:prstGeom>
          <a:ln w="12700">
            <a:solidFill>
              <a:srgbClr val="C8A24A"/>
            </a:solidFill>
            <a:prstDash val="solid"/>
          </a:ln>
        </p:spPr>
        <p:txBody>
          <a:bodyPr/>
          <a:lstStyle/>
          <a:p>
            <a:endParaRPr lang="en-S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121316"/>
        </a:solidFill>
        <a:effectLst/>
      </p:bgPr>
    </p:bg>
    <p:spTree>
      <p:nvGrpSpPr>
        <p:cNvPr id="1" name=""/>
        <p:cNvGrpSpPr/>
        <p:nvPr/>
      </p:nvGrpSpPr>
      <p:grpSpPr>
        <a:xfrm>
          <a:off x="0" y="0"/>
          <a:ext cx="0" cy="0"/>
          <a:chOff x="0" y="0"/>
          <a:chExt cx="0" cy="0"/>
        </a:xfrm>
      </p:grpSpPr>
      <p:pic>
        <p:nvPicPr>
          <p:cNvPr id="2" name="Image 0" descr="/home/claude/deck/img/diff.jpg"/>
          <p:cNvPicPr>
            <a:picLocks noChangeAspect="1"/>
          </p:cNvPicPr>
          <p:nvPr/>
        </p:nvPicPr>
        <p:blipFill>
          <a:blip r:embed="rId3"/>
          <a:srcRect/>
          <a:stretch/>
        </p:blipFill>
        <p:spPr>
          <a:xfrm>
            <a:off x="0" y="-87682"/>
            <a:ext cx="12191695" cy="6858000"/>
          </a:xfrm>
          <a:prstGeom prst="rect">
            <a:avLst/>
          </a:prstGeom>
        </p:spPr>
      </p:pic>
      <p:sp>
        <p:nvSpPr>
          <p:cNvPr id="3" name="Text 0"/>
          <p:cNvSpPr/>
          <p:nvPr/>
        </p:nvSpPr>
        <p:spPr>
          <a:xfrm>
            <a:off x="822960" y="640080"/>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DISTINCTION</a:t>
            </a:r>
            <a:endParaRPr lang="en-US" sz="1150" dirty="0"/>
          </a:p>
        </p:txBody>
      </p:sp>
      <p:sp>
        <p:nvSpPr>
          <p:cNvPr id="4" name="Text 1"/>
          <p:cNvSpPr/>
          <p:nvPr/>
        </p:nvSpPr>
        <p:spPr>
          <a:xfrm>
            <a:off x="777240" y="960120"/>
            <a:ext cx="8229600" cy="640080"/>
          </a:xfrm>
          <a:prstGeom prst="rect">
            <a:avLst/>
          </a:prstGeom>
          <a:noFill/>
          <a:ln/>
        </p:spPr>
        <p:txBody>
          <a:bodyPr wrap="square" lIns="0" tIns="0" rIns="0" bIns="0" rtlCol="0" anchor="ctr"/>
          <a:lstStyle/>
          <a:p>
            <a:pPr marL="0" indent="0">
              <a:buNone/>
            </a:pPr>
            <a:r>
              <a:rPr lang="en-US" sz="3400" b="1" dirty="0">
                <a:solidFill>
                  <a:srgbClr val="F2EEE6"/>
                </a:solidFill>
                <a:latin typeface="Georgia" pitchFamily="34" charset="0"/>
                <a:ea typeface="Georgia" pitchFamily="34" charset="-122"/>
                <a:cs typeface="Georgia" pitchFamily="34" charset="-120"/>
              </a:rPr>
              <a:t>Why </a:t>
            </a:r>
            <a:r>
              <a:rPr lang="en-US" sz="3400" b="1" dirty="0" err="1">
                <a:solidFill>
                  <a:srgbClr val="F2EEE6"/>
                </a:solidFill>
                <a:latin typeface="Georgia" pitchFamily="34" charset="0"/>
                <a:ea typeface="Georgia" pitchFamily="34" charset="-122"/>
                <a:cs typeface="Georgia" pitchFamily="34" charset="-120"/>
              </a:rPr>
              <a:t>AsiaGo</a:t>
            </a:r>
            <a:r>
              <a:rPr lang="en-US" sz="3400" b="1" dirty="0">
                <a:solidFill>
                  <a:srgbClr val="F2EEE6"/>
                </a:solidFill>
                <a:latin typeface="Georgia" pitchFamily="34" charset="0"/>
                <a:ea typeface="Georgia" pitchFamily="34" charset="-122"/>
                <a:cs typeface="Georgia" pitchFamily="34" charset="-120"/>
              </a:rPr>
              <a:t> Pass! is different</a:t>
            </a:r>
            <a:endParaRPr lang="en-US" sz="3400" dirty="0"/>
          </a:p>
        </p:txBody>
      </p:sp>
      <p:sp>
        <p:nvSpPr>
          <p:cNvPr id="5" name="Shape 2"/>
          <p:cNvSpPr/>
          <p:nvPr/>
        </p:nvSpPr>
        <p:spPr>
          <a:xfrm>
            <a:off x="822960" y="2011680"/>
            <a:ext cx="3749040" cy="3108960"/>
          </a:xfrm>
          <a:prstGeom prst="rect">
            <a:avLst/>
          </a:prstGeom>
          <a:solidFill>
            <a:srgbClr val="1C1F24">
              <a:alpha val="92000"/>
            </a:srgbClr>
          </a:solidFill>
          <a:ln w="12700">
            <a:solidFill>
              <a:srgbClr val="3A3E46"/>
            </a:solidFill>
            <a:prstDash val="solid"/>
          </a:ln>
        </p:spPr>
        <p:txBody>
          <a:bodyPr/>
          <a:lstStyle/>
          <a:p>
            <a:endParaRPr lang="en-SG"/>
          </a:p>
        </p:txBody>
      </p:sp>
      <p:sp>
        <p:nvSpPr>
          <p:cNvPr id="6" name="Text 3"/>
          <p:cNvSpPr/>
          <p:nvPr/>
        </p:nvSpPr>
        <p:spPr>
          <a:xfrm>
            <a:off x="1024128" y="2212848"/>
            <a:ext cx="3383280" cy="320040"/>
          </a:xfrm>
          <a:prstGeom prst="rect">
            <a:avLst/>
          </a:prstGeom>
          <a:noFill/>
          <a:ln/>
        </p:spPr>
        <p:txBody>
          <a:bodyPr wrap="square" lIns="0" tIns="0" rIns="0" bIns="0" rtlCol="0" anchor="ctr"/>
          <a:lstStyle/>
          <a:p>
            <a:pPr marL="0" indent="0">
              <a:buNone/>
            </a:pPr>
            <a:r>
              <a:rPr lang="en-US" sz="1250" b="1" kern="0" spc="150" dirty="0">
                <a:solidFill>
                  <a:srgbClr val="A7A296"/>
                </a:solidFill>
                <a:latin typeface="Calibri" pitchFamily="34" charset="0"/>
                <a:ea typeface="Calibri" pitchFamily="34" charset="-122"/>
                <a:cs typeface="Calibri" pitchFamily="34" charset="-120"/>
              </a:rPr>
              <a:t>OTHER PLATFORMS</a:t>
            </a:r>
            <a:endParaRPr lang="en-US" sz="1250" dirty="0"/>
          </a:p>
        </p:txBody>
      </p:sp>
      <p:sp>
        <p:nvSpPr>
          <p:cNvPr id="7" name="Text 4"/>
          <p:cNvSpPr/>
          <p:nvPr/>
        </p:nvSpPr>
        <p:spPr>
          <a:xfrm>
            <a:off x="1024128" y="2697480"/>
            <a:ext cx="333756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2EEE6"/>
                </a:solidFill>
                <a:latin typeface="Calibri" pitchFamily="34" charset="0"/>
                <a:ea typeface="Calibri" pitchFamily="34" charset="-122"/>
                <a:cs typeface="Calibri" pitchFamily="34" charset="-120"/>
              </a:rPr>
              <a:t>Restaurant listings</a:t>
            </a:r>
            <a:endParaRPr lang="en-US" sz="1500" dirty="0"/>
          </a:p>
          <a:p>
            <a:pPr marL="342900" indent="-342900">
              <a:spcAft>
                <a:spcPts val="1000"/>
              </a:spcAft>
              <a:buSzPct val="100000"/>
              <a:buChar char="–"/>
            </a:pPr>
            <a:r>
              <a:rPr lang="en-US" sz="1500" dirty="0">
                <a:solidFill>
                  <a:srgbClr val="F2EEE6"/>
                </a:solidFill>
                <a:latin typeface="Calibri" pitchFamily="34" charset="0"/>
                <a:ea typeface="Calibri" pitchFamily="34" charset="-122"/>
                <a:cs typeface="Calibri" pitchFamily="34" charset="-120"/>
              </a:rPr>
              <a:t>Discount marketplaces</a:t>
            </a:r>
            <a:endParaRPr lang="en-US" sz="1500" dirty="0"/>
          </a:p>
          <a:p>
            <a:pPr marL="342900" indent="-342900">
              <a:spcAft>
                <a:spcPts val="1000"/>
              </a:spcAft>
              <a:buSzPct val="100000"/>
              <a:buChar char="–"/>
            </a:pPr>
            <a:r>
              <a:rPr lang="en-US" sz="1500" dirty="0">
                <a:solidFill>
                  <a:srgbClr val="F2EEE6"/>
                </a:solidFill>
                <a:latin typeface="Calibri" pitchFamily="34" charset="0"/>
                <a:ea typeface="Calibri" pitchFamily="34" charset="-122"/>
                <a:cs typeface="Calibri" pitchFamily="34" charset="-120"/>
              </a:rPr>
              <a:t>Voucher websites</a:t>
            </a:r>
            <a:endParaRPr lang="en-US" sz="1500" dirty="0"/>
          </a:p>
        </p:txBody>
      </p:sp>
      <p:sp>
        <p:nvSpPr>
          <p:cNvPr id="8" name="Shape 5"/>
          <p:cNvSpPr/>
          <p:nvPr/>
        </p:nvSpPr>
        <p:spPr>
          <a:xfrm>
            <a:off x="4937760" y="2011680"/>
            <a:ext cx="4069080" cy="3675136"/>
          </a:xfrm>
          <a:prstGeom prst="rect">
            <a:avLst/>
          </a:prstGeom>
          <a:solidFill>
            <a:srgbClr val="23272E">
              <a:alpha val="96000"/>
            </a:srgbClr>
          </a:solidFill>
          <a:ln w="19050">
            <a:solidFill>
              <a:srgbClr val="C8A24A"/>
            </a:solidFill>
            <a:prstDash val="solid"/>
          </a:ln>
        </p:spPr>
        <p:txBody>
          <a:bodyPr/>
          <a:lstStyle/>
          <a:p>
            <a:endParaRPr lang="en-SG"/>
          </a:p>
        </p:txBody>
      </p:sp>
      <p:sp>
        <p:nvSpPr>
          <p:cNvPr id="9" name="Text 6"/>
          <p:cNvSpPr/>
          <p:nvPr/>
        </p:nvSpPr>
        <p:spPr>
          <a:xfrm>
            <a:off x="5138928" y="2212848"/>
            <a:ext cx="3383280" cy="320040"/>
          </a:xfrm>
          <a:prstGeom prst="rect">
            <a:avLst/>
          </a:prstGeom>
          <a:noFill/>
          <a:ln/>
        </p:spPr>
        <p:txBody>
          <a:bodyPr wrap="square" lIns="0" tIns="0" rIns="0" bIns="0" rtlCol="0" anchor="ctr"/>
          <a:lstStyle/>
          <a:p>
            <a:pPr marL="0" indent="0">
              <a:buNone/>
            </a:pPr>
            <a:r>
              <a:rPr lang="en-US" sz="1400" b="1" kern="0" spc="150" dirty="0" err="1">
                <a:solidFill>
                  <a:srgbClr val="C8A24A"/>
                </a:solidFill>
                <a:latin typeface="Calibri" pitchFamily="34" charset="0"/>
                <a:ea typeface="Calibri" pitchFamily="34" charset="-122"/>
                <a:cs typeface="Calibri" pitchFamily="34" charset="-120"/>
              </a:rPr>
              <a:t>AsiaGO</a:t>
            </a:r>
            <a:r>
              <a:rPr lang="en-US" sz="1400" b="1" kern="0" spc="150" dirty="0">
                <a:solidFill>
                  <a:srgbClr val="C8A24A"/>
                </a:solidFill>
                <a:latin typeface="Calibri" pitchFamily="34" charset="0"/>
                <a:ea typeface="Calibri" pitchFamily="34" charset="-122"/>
                <a:cs typeface="Calibri" pitchFamily="34" charset="-120"/>
              </a:rPr>
              <a:t> Pass!</a:t>
            </a:r>
            <a:endParaRPr lang="en-US" sz="1400" dirty="0"/>
          </a:p>
        </p:txBody>
      </p:sp>
      <p:sp>
        <p:nvSpPr>
          <p:cNvPr id="10" name="Text 7"/>
          <p:cNvSpPr/>
          <p:nvPr/>
        </p:nvSpPr>
        <p:spPr>
          <a:xfrm>
            <a:off x="5138928" y="2697480"/>
            <a:ext cx="333756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92D050"/>
                </a:solidFill>
                <a:latin typeface="Calibri" pitchFamily="34" charset="0"/>
                <a:cs typeface="Calibri" pitchFamily="34" charset="-120"/>
              </a:rPr>
              <a:t>Beyond Attractions </a:t>
            </a:r>
            <a:endParaRPr lang="en-US" sz="1500" dirty="0">
              <a:solidFill>
                <a:srgbClr val="92D050"/>
              </a:solidFill>
            </a:endParaRPr>
          </a:p>
          <a:p>
            <a:pPr marL="342900" indent="-342900">
              <a:spcAft>
                <a:spcPts val="800"/>
              </a:spcAft>
              <a:buSzPct val="100000"/>
              <a:buChar char="–"/>
            </a:pPr>
            <a:r>
              <a:rPr lang="en-US" sz="1500" dirty="0">
                <a:solidFill>
                  <a:srgbClr val="92D050"/>
                </a:solidFill>
                <a:latin typeface="Calibri" pitchFamily="34" charset="0"/>
                <a:ea typeface="Calibri" pitchFamily="34" charset="-122"/>
                <a:cs typeface="Calibri" pitchFamily="34" charset="-120"/>
              </a:rPr>
              <a:t>Dining + Attractions + Experiences</a:t>
            </a:r>
          </a:p>
          <a:p>
            <a:pPr marL="342900" indent="-342900">
              <a:spcAft>
                <a:spcPts val="800"/>
              </a:spcAft>
              <a:buSzPct val="100000"/>
              <a:buChar char="–"/>
            </a:pPr>
            <a:r>
              <a:rPr lang="en-US" sz="1500" dirty="0">
                <a:solidFill>
                  <a:srgbClr val="92D050"/>
                </a:solidFill>
                <a:latin typeface="Calibri" pitchFamily="34" charset="0"/>
                <a:cs typeface="Calibri" pitchFamily="34" charset="-120"/>
              </a:rPr>
              <a:t>Best-Valued Hotel Packages in Asia</a:t>
            </a:r>
          </a:p>
          <a:p>
            <a:pPr marL="342900" indent="-342900">
              <a:spcAft>
                <a:spcPts val="800"/>
              </a:spcAft>
              <a:buSzPct val="100000"/>
              <a:buChar char="–"/>
            </a:pPr>
            <a:r>
              <a:rPr lang="en-US" sz="1500" dirty="0">
                <a:solidFill>
                  <a:srgbClr val="92D050"/>
                </a:solidFill>
                <a:latin typeface="Calibri" pitchFamily="34" charset="0"/>
                <a:cs typeface="Calibri" pitchFamily="34" charset="-120"/>
              </a:rPr>
              <a:t>Hotel Package with Guided Tours </a:t>
            </a:r>
            <a:endParaRPr lang="en-US" sz="1500" dirty="0">
              <a:solidFill>
                <a:srgbClr val="92D050"/>
              </a:solidFill>
            </a:endParaRPr>
          </a:p>
          <a:p>
            <a:pPr marL="342900" indent="-342900">
              <a:spcAft>
                <a:spcPts val="800"/>
              </a:spcAft>
              <a:buSzPct val="100000"/>
              <a:buChar char="–"/>
            </a:pPr>
            <a:r>
              <a:rPr lang="en-US" sz="1500" dirty="0">
                <a:solidFill>
                  <a:srgbClr val="92D050"/>
                </a:solidFill>
                <a:latin typeface="Calibri" pitchFamily="34" charset="0"/>
                <a:ea typeface="Calibri" pitchFamily="34" charset="-122"/>
                <a:cs typeface="Calibri" pitchFamily="34" charset="-120"/>
              </a:rPr>
              <a:t>Story-driven discovery</a:t>
            </a:r>
            <a:endParaRPr lang="en-US" sz="1500" dirty="0">
              <a:solidFill>
                <a:srgbClr val="92D050"/>
              </a:solidFill>
            </a:endParaRPr>
          </a:p>
          <a:p>
            <a:pPr marL="342900" indent="-342900">
              <a:spcAft>
                <a:spcPts val="800"/>
              </a:spcAft>
              <a:buSzPct val="100000"/>
              <a:buChar char="–"/>
            </a:pPr>
            <a:r>
              <a:rPr lang="en-US" sz="1500" dirty="0">
                <a:solidFill>
                  <a:srgbClr val="92D050"/>
                </a:solidFill>
                <a:latin typeface="Calibri" pitchFamily="34" charset="0"/>
                <a:cs typeface="Calibri" pitchFamily="34" charset="-120"/>
              </a:rPr>
              <a:t>Exclusive Member Privilege </a:t>
            </a:r>
            <a:endParaRPr lang="en-US" sz="1500" dirty="0">
              <a:solidFill>
                <a:srgbClr val="92D050"/>
              </a:solidFill>
            </a:endParaRPr>
          </a:p>
        </p:txBody>
      </p:sp>
      <p:sp>
        <p:nvSpPr>
          <p:cNvPr id="11" name="Text 8"/>
          <p:cNvSpPr/>
          <p:nvPr/>
        </p:nvSpPr>
        <p:spPr>
          <a:xfrm>
            <a:off x="822960" y="5923554"/>
            <a:ext cx="8229600" cy="640080"/>
          </a:xfrm>
          <a:prstGeom prst="rect">
            <a:avLst/>
          </a:prstGeom>
          <a:noFill/>
          <a:ln/>
        </p:spPr>
        <p:txBody>
          <a:bodyPr wrap="square" lIns="0" tIns="0" rIns="0" bIns="0" rtlCol="0" anchor="ctr"/>
          <a:lstStyle/>
          <a:p>
            <a:pPr marL="0" indent="0">
              <a:buNone/>
            </a:pPr>
            <a:r>
              <a:rPr lang="en-US" sz="1800" i="1" dirty="0">
                <a:solidFill>
                  <a:srgbClr val="E6CE8F"/>
                </a:solidFill>
                <a:latin typeface="Georgia" pitchFamily="34" charset="0"/>
                <a:ea typeface="Georgia" pitchFamily="34" charset="-122"/>
                <a:cs typeface="Georgia" pitchFamily="34" charset="-120"/>
              </a:rPr>
              <a:t>We bring diners who are already exploring Singapore.</a:t>
            </a:r>
            <a:endParaRPr lang="en-US" sz="1800" dirty="0"/>
          </a:p>
        </p:txBody>
      </p:sp>
      <p:sp>
        <p:nvSpPr>
          <p:cNvPr id="12" name="Rectangle 1">
            <a:extLst>
              <a:ext uri="{FF2B5EF4-FFF2-40B4-BE49-F238E27FC236}">
                <a16:creationId xmlns:a16="http://schemas.microsoft.com/office/drawing/2014/main" id="{CF32C96D-F1CB-4233-2B54-41BE66294D4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webkit-standard"/>
              </a:rPr>
              <a:t>🎟️ </a:t>
            </a:r>
            <a:r>
              <a:rPr kumimoji="0" lang="en-US" altLang="en-US" sz="1800" b="1" i="0" u="none" strike="noStrike" cap="none" normalizeH="0" baseline="0">
                <a:ln>
                  <a:noFill/>
                </a:ln>
                <a:solidFill>
                  <a:srgbClr val="000000"/>
                </a:solidFill>
                <a:effectLst/>
              </a:rPr>
              <a:t>Beyond Attractions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WHY PARTNER WITH SG GO!?</a:t>
            </a:r>
            <a:endParaRPr lang="en-US" sz="1150" dirty="0"/>
          </a:p>
        </p:txBody>
      </p:sp>
      <p:sp>
        <p:nvSpPr>
          <p:cNvPr id="3" name="Text 1"/>
          <p:cNvSpPr/>
          <p:nvPr/>
        </p:nvSpPr>
        <p:spPr>
          <a:xfrm>
            <a:off x="777240" y="868680"/>
            <a:ext cx="7315200" cy="118872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Turn tourist traffic into</a:t>
            </a:r>
            <a:endParaRPr lang="en-US" sz="3300" dirty="0"/>
          </a:p>
          <a:p>
            <a:pPr marL="0" indent="0">
              <a:buNone/>
            </a:pPr>
            <a:r>
              <a:rPr lang="en-US" sz="3300" b="1" dirty="0">
                <a:solidFill>
                  <a:srgbClr val="F2EEE6"/>
                </a:solidFill>
                <a:latin typeface="Georgia" pitchFamily="34" charset="0"/>
                <a:ea typeface="Georgia" pitchFamily="34" charset="-122"/>
                <a:cs typeface="Georgia" pitchFamily="34" charset="-120"/>
              </a:rPr>
              <a:t>restaurant revenue</a:t>
            </a:r>
            <a:endParaRPr lang="en-US" sz="3300" dirty="0"/>
          </a:p>
        </p:txBody>
      </p:sp>
      <p:sp>
        <p:nvSpPr>
          <p:cNvPr id="4" name="Shape 2"/>
          <p:cNvSpPr/>
          <p:nvPr/>
        </p:nvSpPr>
        <p:spPr>
          <a:xfrm>
            <a:off x="868680" y="2350008"/>
            <a:ext cx="292608" cy="292608"/>
          </a:xfrm>
          <a:prstGeom prst="ellipse">
            <a:avLst/>
          </a:prstGeom>
          <a:solidFill>
            <a:srgbClr val="C8A24A"/>
          </a:solidFill>
          <a:ln/>
        </p:spPr>
        <p:txBody>
          <a:bodyPr/>
          <a:lstStyle/>
          <a:p>
            <a:endParaRPr lang="en-SG"/>
          </a:p>
        </p:txBody>
      </p:sp>
      <p:pic>
        <p:nvPicPr>
          <p:cNvPr id="5" name="Image 0" descr="preencoded.png"/>
          <p:cNvPicPr>
            <a:picLocks noChangeAspect="1"/>
          </p:cNvPicPr>
          <p:nvPr/>
        </p:nvPicPr>
        <p:blipFill>
          <a:blip r:embed="rId3"/>
          <a:stretch>
            <a:fillRect/>
          </a:stretch>
        </p:blipFill>
        <p:spPr>
          <a:xfrm>
            <a:off x="947684" y="2429012"/>
            <a:ext cx="134600" cy="134600"/>
          </a:xfrm>
          <a:prstGeom prst="rect">
            <a:avLst/>
          </a:prstGeom>
        </p:spPr>
      </p:pic>
      <p:sp>
        <p:nvSpPr>
          <p:cNvPr id="6" name="Text 3"/>
          <p:cNvSpPr/>
          <p:nvPr/>
        </p:nvSpPr>
        <p:spPr>
          <a:xfrm>
            <a:off x="1325880" y="2286000"/>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New customer acquisition from a global audience</a:t>
            </a:r>
            <a:endParaRPr lang="en-US" sz="1500" dirty="0"/>
          </a:p>
        </p:txBody>
      </p:sp>
      <p:sp>
        <p:nvSpPr>
          <p:cNvPr id="7" name="Shape 4"/>
          <p:cNvSpPr/>
          <p:nvPr/>
        </p:nvSpPr>
        <p:spPr>
          <a:xfrm>
            <a:off x="868680" y="2880360"/>
            <a:ext cx="292608" cy="292608"/>
          </a:xfrm>
          <a:prstGeom prst="ellipse">
            <a:avLst/>
          </a:prstGeom>
          <a:solidFill>
            <a:srgbClr val="C8A24A"/>
          </a:solidFill>
          <a:ln/>
        </p:spPr>
        <p:txBody>
          <a:bodyPr/>
          <a:lstStyle/>
          <a:p>
            <a:endParaRPr lang="en-SG"/>
          </a:p>
        </p:txBody>
      </p:sp>
      <p:pic>
        <p:nvPicPr>
          <p:cNvPr id="8" name="Image 1" descr="preencoded.png"/>
          <p:cNvPicPr>
            <a:picLocks noChangeAspect="1"/>
          </p:cNvPicPr>
          <p:nvPr/>
        </p:nvPicPr>
        <p:blipFill>
          <a:blip r:embed="rId3"/>
          <a:stretch>
            <a:fillRect/>
          </a:stretch>
        </p:blipFill>
        <p:spPr>
          <a:xfrm>
            <a:off x="947684" y="2959364"/>
            <a:ext cx="134600" cy="134600"/>
          </a:xfrm>
          <a:prstGeom prst="rect">
            <a:avLst/>
          </a:prstGeom>
        </p:spPr>
      </p:pic>
      <p:sp>
        <p:nvSpPr>
          <p:cNvPr id="9" name="Text 5"/>
          <p:cNvSpPr/>
          <p:nvPr/>
        </p:nvSpPr>
        <p:spPr>
          <a:xfrm>
            <a:off x="1325880" y="2816352"/>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Increased occupancy during off-peak hours</a:t>
            </a:r>
            <a:endParaRPr lang="en-US" sz="1500" dirty="0"/>
          </a:p>
        </p:txBody>
      </p:sp>
      <p:sp>
        <p:nvSpPr>
          <p:cNvPr id="10" name="Shape 6"/>
          <p:cNvSpPr/>
          <p:nvPr/>
        </p:nvSpPr>
        <p:spPr>
          <a:xfrm>
            <a:off x="868680" y="3410712"/>
            <a:ext cx="292608" cy="292608"/>
          </a:xfrm>
          <a:prstGeom prst="ellipse">
            <a:avLst/>
          </a:prstGeom>
          <a:solidFill>
            <a:srgbClr val="C8A24A"/>
          </a:solidFill>
          <a:ln/>
        </p:spPr>
        <p:txBody>
          <a:bodyPr/>
          <a:lstStyle/>
          <a:p>
            <a:endParaRPr lang="en-SG"/>
          </a:p>
        </p:txBody>
      </p:sp>
      <p:pic>
        <p:nvPicPr>
          <p:cNvPr id="11" name="Image 2" descr="preencoded.png"/>
          <p:cNvPicPr>
            <a:picLocks noChangeAspect="1"/>
          </p:cNvPicPr>
          <p:nvPr/>
        </p:nvPicPr>
        <p:blipFill>
          <a:blip r:embed="rId3"/>
          <a:stretch>
            <a:fillRect/>
          </a:stretch>
        </p:blipFill>
        <p:spPr>
          <a:xfrm>
            <a:off x="947684" y="3489716"/>
            <a:ext cx="134600" cy="134600"/>
          </a:xfrm>
          <a:prstGeom prst="rect">
            <a:avLst/>
          </a:prstGeom>
        </p:spPr>
      </p:pic>
      <p:sp>
        <p:nvSpPr>
          <p:cNvPr id="12" name="Text 7"/>
          <p:cNvSpPr/>
          <p:nvPr/>
        </p:nvSpPr>
        <p:spPr>
          <a:xfrm>
            <a:off x="1325880" y="3346704"/>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Exposure to international travellers before arrival</a:t>
            </a:r>
            <a:endParaRPr lang="en-US" sz="1500" dirty="0"/>
          </a:p>
        </p:txBody>
      </p:sp>
      <p:sp>
        <p:nvSpPr>
          <p:cNvPr id="13" name="Shape 8"/>
          <p:cNvSpPr/>
          <p:nvPr/>
        </p:nvSpPr>
        <p:spPr>
          <a:xfrm>
            <a:off x="868680" y="3941064"/>
            <a:ext cx="292608" cy="292608"/>
          </a:xfrm>
          <a:prstGeom prst="ellipse">
            <a:avLst/>
          </a:prstGeom>
          <a:solidFill>
            <a:srgbClr val="C8A24A"/>
          </a:solidFill>
          <a:ln/>
        </p:spPr>
        <p:txBody>
          <a:bodyPr/>
          <a:lstStyle/>
          <a:p>
            <a:endParaRPr lang="en-SG"/>
          </a:p>
        </p:txBody>
      </p:sp>
      <p:pic>
        <p:nvPicPr>
          <p:cNvPr id="14" name="Image 3" descr="preencoded.png"/>
          <p:cNvPicPr>
            <a:picLocks noChangeAspect="1"/>
          </p:cNvPicPr>
          <p:nvPr/>
        </p:nvPicPr>
        <p:blipFill>
          <a:blip r:embed="rId3"/>
          <a:stretch>
            <a:fillRect/>
          </a:stretch>
        </p:blipFill>
        <p:spPr>
          <a:xfrm>
            <a:off x="947684" y="4020068"/>
            <a:ext cx="134600" cy="134600"/>
          </a:xfrm>
          <a:prstGeom prst="rect">
            <a:avLst/>
          </a:prstGeom>
        </p:spPr>
      </p:pic>
      <p:sp>
        <p:nvSpPr>
          <p:cNvPr id="15" name="Text 9"/>
          <p:cNvSpPr/>
          <p:nvPr/>
        </p:nvSpPr>
        <p:spPr>
          <a:xfrm>
            <a:off x="1325880" y="3877056"/>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Featured storytelling and content marketing</a:t>
            </a:r>
            <a:endParaRPr lang="en-US" sz="1500" dirty="0"/>
          </a:p>
        </p:txBody>
      </p:sp>
      <p:sp>
        <p:nvSpPr>
          <p:cNvPr id="16" name="Shape 10"/>
          <p:cNvSpPr/>
          <p:nvPr/>
        </p:nvSpPr>
        <p:spPr>
          <a:xfrm>
            <a:off x="868680" y="4471416"/>
            <a:ext cx="292608" cy="292608"/>
          </a:xfrm>
          <a:prstGeom prst="ellipse">
            <a:avLst/>
          </a:prstGeom>
          <a:solidFill>
            <a:srgbClr val="C8A24A"/>
          </a:solidFill>
          <a:ln/>
        </p:spPr>
        <p:txBody>
          <a:bodyPr/>
          <a:lstStyle/>
          <a:p>
            <a:endParaRPr lang="en-SG"/>
          </a:p>
        </p:txBody>
      </p:sp>
      <p:pic>
        <p:nvPicPr>
          <p:cNvPr id="17" name="Image 4" descr="preencoded.png"/>
          <p:cNvPicPr>
            <a:picLocks noChangeAspect="1"/>
          </p:cNvPicPr>
          <p:nvPr/>
        </p:nvPicPr>
        <p:blipFill>
          <a:blip r:embed="rId3"/>
          <a:stretch>
            <a:fillRect/>
          </a:stretch>
        </p:blipFill>
        <p:spPr>
          <a:xfrm>
            <a:off x="947684" y="4550420"/>
            <a:ext cx="134600" cy="134600"/>
          </a:xfrm>
          <a:prstGeom prst="rect">
            <a:avLst/>
          </a:prstGeom>
        </p:spPr>
      </p:pic>
      <p:sp>
        <p:nvSpPr>
          <p:cNvPr id="18" name="Text 11"/>
          <p:cNvSpPr/>
          <p:nvPr/>
        </p:nvSpPr>
        <p:spPr>
          <a:xfrm>
            <a:off x="1325880" y="4407408"/>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Direct digital redemption system</a:t>
            </a:r>
            <a:endParaRPr lang="en-US" sz="1500" dirty="0"/>
          </a:p>
        </p:txBody>
      </p:sp>
      <p:sp>
        <p:nvSpPr>
          <p:cNvPr id="19" name="Shape 12"/>
          <p:cNvSpPr/>
          <p:nvPr/>
        </p:nvSpPr>
        <p:spPr>
          <a:xfrm>
            <a:off x="868680" y="5001768"/>
            <a:ext cx="292608" cy="292608"/>
          </a:xfrm>
          <a:prstGeom prst="ellipse">
            <a:avLst/>
          </a:prstGeom>
          <a:solidFill>
            <a:srgbClr val="C8A24A"/>
          </a:solidFill>
          <a:ln/>
        </p:spPr>
        <p:txBody>
          <a:bodyPr/>
          <a:lstStyle/>
          <a:p>
            <a:endParaRPr lang="en-SG"/>
          </a:p>
        </p:txBody>
      </p:sp>
      <p:pic>
        <p:nvPicPr>
          <p:cNvPr id="20" name="Image 5" descr="preencoded.png"/>
          <p:cNvPicPr>
            <a:picLocks noChangeAspect="1"/>
          </p:cNvPicPr>
          <p:nvPr/>
        </p:nvPicPr>
        <p:blipFill>
          <a:blip r:embed="rId3"/>
          <a:stretch>
            <a:fillRect/>
          </a:stretch>
        </p:blipFill>
        <p:spPr>
          <a:xfrm>
            <a:off x="947684" y="5080772"/>
            <a:ext cx="134600" cy="134600"/>
          </a:xfrm>
          <a:prstGeom prst="rect">
            <a:avLst/>
          </a:prstGeom>
        </p:spPr>
      </p:pic>
      <p:sp>
        <p:nvSpPr>
          <p:cNvPr id="21" name="Text 13"/>
          <p:cNvSpPr/>
          <p:nvPr/>
        </p:nvSpPr>
        <p:spPr>
          <a:xfrm>
            <a:off x="1325880" y="4937760"/>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Performance-based partnership model</a:t>
            </a:r>
            <a:endParaRPr lang="en-US" sz="1500" dirty="0"/>
          </a:p>
        </p:txBody>
      </p:sp>
      <p:sp>
        <p:nvSpPr>
          <p:cNvPr id="22" name="Shape 14"/>
          <p:cNvSpPr/>
          <p:nvPr/>
        </p:nvSpPr>
        <p:spPr>
          <a:xfrm>
            <a:off x="868680" y="5532120"/>
            <a:ext cx="292608" cy="292608"/>
          </a:xfrm>
          <a:prstGeom prst="ellipse">
            <a:avLst/>
          </a:prstGeom>
          <a:solidFill>
            <a:srgbClr val="C8A24A"/>
          </a:solidFill>
          <a:ln/>
        </p:spPr>
        <p:txBody>
          <a:bodyPr/>
          <a:lstStyle/>
          <a:p>
            <a:endParaRPr lang="en-SG"/>
          </a:p>
        </p:txBody>
      </p:sp>
      <p:pic>
        <p:nvPicPr>
          <p:cNvPr id="23" name="Image 6" descr="preencoded.png"/>
          <p:cNvPicPr>
            <a:picLocks noChangeAspect="1"/>
          </p:cNvPicPr>
          <p:nvPr/>
        </p:nvPicPr>
        <p:blipFill>
          <a:blip r:embed="rId3"/>
          <a:stretch>
            <a:fillRect/>
          </a:stretch>
        </p:blipFill>
        <p:spPr>
          <a:xfrm>
            <a:off x="947684" y="5611124"/>
            <a:ext cx="134600" cy="134600"/>
          </a:xfrm>
          <a:prstGeom prst="rect">
            <a:avLst/>
          </a:prstGeom>
        </p:spPr>
      </p:pic>
      <p:sp>
        <p:nvSpPr>
          <p:cNvPr id="24" name="Text 15"/>
          <p:cNvSpPr/>
          <p:nvPr/>
        </p:nvSpPr>
        <p:spPr>
          <a:xfrm>
            <a:off x="1325880" y="5468112"/>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No large advertising spend required</a:t>
            </a:r>
            <a:endParaRPr lang="en-US" sz="1500" dirty="0"/>
          </a:p>
        </p:txBody>
      </p:sp>
      <p:pic>
        <p:nvPicPr>
          <p:cNvPr id="25" name="Image 7" descr="/home/claude/deck/img/partner.jpg"/>
          <p:cNvPicPr>
            <a:picLocks noChangeAspect="1"/>
          </p:cNvPicPr>
          <p:nvPr/>
        </p:nvPicPr>
        <p:blipFill>
          <a:blip r:embed="rId4"/>
          <a:srcRect/>
          <a:stretch/>
        </p:blipFill>
        <p:spPr>
          <a:xfrm>
            <a:off x="8229600" y="566928"/>
            <a:ext cx="3154680" cy="5724144"/>
          </a:xfrm>
          <a:prstGeom prst="rect">
            <a:avLst/>
          </a:prstGeom>
          <a:effectLst>
            <a:outerShdw blurRad="114300" dist="38100" dir="8100000" algn="bl" rotWithShape="0">
              <a:srgbClr val="000000">
                <a:alpha val="45000"/>
              </a:srgbClr>
            </a:outerShdw>
          </a:effectLst>
        </p:spPr>
      </p:pic>
      <p:sp>
        <p:nvSpPr>
          <p:cNvPr id="26" name="Shape 16"/>
          <p:cNvSpPr/>
          <p:nvPr/>
        </p:nvSpPr>
        <p:spPr>
          <a:xfrm>
            <a:off x="8229600" y="566928"/>
            <a:ext cx="3154680" cy="5724144"/>
          </a:xfrm>
          <a:prstGeom prst="rect">
            <a:avLst/>
          </a:prstGeom>
          <a:ln w="12700">
            <a:solidFill>
              <a:srgbClr val="C8A24A"/>
            </a:solidFill>
            <a:prstDash val="solid"/>
          </a:ln>
        </p:spPr>
        <p:txBody>
          <a:bodyPr/>
          <a:lstStyle/>
          <a:p>
            <a:endParaRPr lang="en-S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PRODUCT CONCEPT</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Dining Experience Screen</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Focus on storytelling, not discounts.</a:t>
            </a:r>
            <a:endParaRPr lang="en-US" sz="1550" dirty="0"/>
          </a:p>
        </p:txBody>
      </p:sp>
      <p:sp>
        <p:nvSpPr>
          <p:cNvPr id="5" name="Shape 3"/>
          <p:cNvSpPr/>
          <p:nvPr/>
        </p:nvSpPr>
        <p:spPr>
          <a:xfrm>
            <a:off x="822960" y="2331720"/>
            <a:ext cx="6035040" cy="3566160"/>
          </a:xfrm>
          <a:prstGeom prst="roundRect">
            <a:avLst>
              <a:gd name="adj" fmla="val 2564"/>
            </a:avLst>
          </a:prstGeom>
          <a:solidFill>
            <a:srgbClr val="1C1F24"/>
          </a:solidFill>
          <a:ln w="12700">
            <a:solidFill>
              <a:srgbClr val="3A3E46"/>
            </a:solidFill>
            <a:prstDash val="solid"/>
          </a:ln>
        </p:spPr>
        <p:txBody>
          <a:bodyPr/>
          <a:lstStyle/>
          <a:p>
            <a:endParaRPr lang="en-US"/>
          </a:p>
        </p:txBody>
      </p:sp>
      <p:sp>
        <p:nvSpPr>
          <p:cNvPr id="6" name="Shape 4"/>
          <p:cNvSpPr/>
          <p:nvPr/>
        </p:nvSpPr>
        <p:spPr>
          <a:xfrm>
            <a:off x="1097280" y="2606040"/>
            <a:ext cx="5486400" cy="1097280"/>
          </a:xfrm>
          <a:prstGeom prst="roundRect">
            <a:avLst>
              <a:gd name="adj" fmla="val 5000"/>
            </a:avLst>
          </a:prstGeom>
          <a:solidFill>
            <a:srgbClr val="23272E"/>
          </a:solidFill>
          <a:ln w="12700">
            <a:solidFill>
              <a:srgbClr val="3A3E46"/>
            </a:solidFill>
            <a:prstDash val="solid"/>
          </a:ln>
        </p:spPr>
        <p:txBody>
          <a:bodyPr/>
          <a:lstStyle/>
          <a:p>
            <a:endParaRPr lang="en-US"/>
          </a:p>
        </p:txBody>
      </p:sp>
      <p:sp>
        <p:nvSpPr>
          <p:cNvPr id="7" name="Shape 5"/>
          <p:cNvSpPr/>
          <p:nvPr/>
        </p:nvSpPr>
        <p:spPr>
          <a:xfrm>
            <a:off x="3566160" y="2880360"/>
            <a:ext cx="548640" cy="548640"/>
          </a:xfrm>
          <a:prstGeom prst="ellipse">
            <a:avLst/>
          </a:prstGeom>
          <a:solidFill>
            <a:srgbClr val="23272E"/>
          </a:solidFill>
          <a:ln w="15875">
            <a:solidFill>
              <a:srgbClr val="C8A24A"/>
            </a:solidFill>
            <a:prstDash val="solid"/>
          </a:ln>
        </p:spPr>
        <p:txBody>
          <a:bodyPr/>
          <a:lstStyle/>
          <a:p>
            <a:endParaRPr lang="en-US"/>
          </a:p>
        </p:txBody>
      </p:sp>
      <p:pic>
        <p:nvPicPr>
          <p:cNvPr id="8" name="Image 0" descr="preencoded.png"/>
          <p:cNvPicPr>
            <a:picLocks noChangeAspect="1"/>
          </p:cNvPicPr>
          <p:nvPr/>
        </p:nvPicPr>
        <p:blipFill>
          <a:blip r:embed="rId2"/>
          <a:stretch>
            <a:fillRect/>
          </a:stretch>
        </p:blipFill>
        <p:spPr>
          <a:xfrm>
            <a:off x="3719779" y="3033979"/>
            <a:ext cx="241402" cy="241402"/>
          </a:xfrm>
          <a:prstGeom prst="rect">
            <a:avLst/>
          </a:prstGeom>
        </p:spPr>
      </p:pic>
      <p:sp>
        <p:nvSpPr>
          <p:cNvPr id="9" name="Text 6"/>
          <p:cNvSpPr/>
          <p:nvPr/>
        </p:nvSpPr>
        <p:spPr>
          <a:xfrm>
            <a:off x="1097280" y="3813048"/>
            <a:ext cx="5486400" cy="32004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Story About the Restaurant</a:t>
            </a:r>
            <a:endParaRPr lang="en-US" sz="1400" dirty="0"/>
          </a:p>
        </p:txBody>
      </p:sp>
      <p:sp>
        <p:nvSpPr>
          <p:cNvPr id="10" name="Text 7"/>
          <p:cNvSpPr/>
          <p:nvPr/>
        </p:nvSpPr>
        <p:spPr>
          <a:xfrm>
            <a:off x="1097280" y="4160520"/>
            <a:ext cx="5486400" cy="1554480"/>
          </a:xfrm>
          <a:prstGeom prst="rect">
            <a:avLst/>
          </a:prstGeom>
          <a:noFill/>
          <a:ln/>
        </p:spPr>
        <p:txBody>
          <a:bodyPr wrap="square" lIns="0" tIns="0" rIns="0" bIns="0" rtlCol="0" anchor="t"/>
          <a:lstStyle/>
          <a:p>
            <a:pPr marL="0" indent="0">
              <a:lnSpc>
                <a:spcPct val="112000"/>
              </a:lnSpc>
              <a:buNone/>
            </a:pPr>
            <a:r>
              <a:rPr lang="en-US" sz="1250" dirty="0">
                <a:solidFill>
                  <a:srgbClr val="A7A296"/>
                </a:solidFill>
                <a:latin typeface="Calibri" pitchFamily="34" charset="0"/>
                <a:ea typeface="Calibri" pitchFamily="34" charset="-122"/>
                <a:cs typeface="Calibri" pitchFamily="34" charset="-120"/>
              </a:rPr>
              <a:t>This all-day Marina Bay buffet restaurant reflects the journey and aesthetic of British colonial times, with local and Asian cuisines from seven ‘live’ kitchens. The popular Sunday brunch features unlimited pours of champagne.</a:t>
            </a:r>
            <a:endParaRPr lang="en-US" sz="1250" dirty="0"/>
          </a:p>
        </p:txBody>
      </p:sp>
      <p:sp>
        <p:nvSpPr>
          <p:cNvPr id="11" name="Shape 8"/>
          <p:cNvSpPr/>
          <p:nvPr/>
        </p:nvSpPr>
        <p:spPr>
          <a:xfrm>
            <a:off x="7315200" y="2514600"/>
            <a:ext cx="4023360" cy="868680"/>
          </a:xfrm>
          <a:prstGeom prst="roundRect">
            <a:avLst>
              <a:gd name="adj" fmla="val 6316"/>
            </a:avLst>
          </a:prstGeom>
          <a:solidFill>
            <a:srgbClr val="1C1F24"/>
          </a:solidFill>
          <a:ln w="12700">
            <a:solidFill>
              <a:srgbClr val="3A3E46"/>
            </a:solidFill>
            <a:prstDash val="solid"/>
          </a:ln>
        </p:spPr>
        <p:txBody>
          <a:bodyPr/>
          <a:lstStyle/>
          <a:p>
            <a:endParaRPr lang="en-US"/>
          </a:p>
        </p:txBody>
      </p:sp>
      <p:sp>
        <p:nvSpPr>
          <p:cNvPr id="12" name="Shape 9"/>
          <p:cNvSpPr/>
          <p:nvPr/>
        </p:nvSpPr>
        <p:spPr>
          <a:xfrm>
            <a:off x="7543800" y="2715768"/>
            <a:ext cx="457200" cy="457200"/>
          </a:xfrm>
          <a:prstGeom prst="ellipse">
            <a:avLst/>
          </a:prstGeom>
          <a:solidFill>
            <a:srgbClr val="23272E"/>
          </a:solidFill>
          <a:ln w="15875">
            <a:solidFill>
              <a:srgbClr val="C8A24A"/>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7671816" y="2843784"/>
            <a:ext cx="201168" cy="201168"/>
          </a:xfrm>
          <a:prstGeom prst="rect">
            <a:avLst/>
          </a:prstGeom>
        </p:spPr>
      </p:pic>
      <p:sp>
        <p:nvSpPr>
          <p:cNvPr id="14" name="Text 10"/>
          <p:cNvSpPr/>
          <p:nvPr/>
        </p:nvSpPr>
        <p:spPr>
          <a:xfrm>
            <a:off x="8183880" y="2514600"/>
            <a:ext cx="3017520" cy="86868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Chef Highlights</a:t>
            </a:r>
            <a:endParaRPr lang="en-US" sz="1400" dirty="0"/>
          </a:p>
        </p:txBody>
      </p:sp>
      <p:sp>
        <p:nvSpPr>
          <p:cNvPr id="15" name="Shape 11"/>
          <p:cNvSpPr/>
          <p:nvPr/>
        </p:nvSpPr>
        <p:spPr>
          <a:xfrm>
            <a:off x="7315200" y="3611880"/>
            <a:ext cx="4023360" cy="868680"/>
          </a:xfrm>
          <a:prstGeom prst="roundRect">
            <a:avLst>
              <a:gd name="adj" fmla="val 6316"/>
            </a:avLst>
          </a:prstGeom>
          <a:solidFill>
            <a:srgbClr val="1C1F24"/>
          </a:solidFill>
          <a:ln w="12700">
            <a:solidFill>
              <a:srgbClr val="3A3E46"/>
            </a:solidFill>
            <a:prstDash val="solid"/>
          </a:ln>
        </p:spPr>
        <p:txBody>
          <a:bodyPr/>
          <a:lstStyle/>
          <a:p>
            <a:endParaRPr lang="en-US"/>
          </a:p>
        </p:txBody>
      </p:sp>
      <p:sp>
        <p:nvSpPr>
          <p:cNvPr id="16" name="Shape 12"/>
          <p:cNvSpPr/>
          <p:nvPr/>
        </p:nvSpPr>
        <p:spPr>
          <a:xfrm>
            <a:off x="7543800" y="3813048"/>
            <a:ext cx="457200" cy="457200"/>
          </a:xfrm>
          <a:prstGeom prst="ellipse">
            <a:avLst/>
          </a:prstGeom>
          <a:solidFill>
            <a:srgbClr val="23272E"/>
          </a:solidFill>
          <a:ln w="15875">
            <a:solidFill>
              <a:srgbClr val="C8A24A"/>
            </a:solidFill>
            <a:prstDash val="solid"/>
          </a:ln>
        </p:spPr>
        <p:txBody>
          <a:bodyPr/>
          <a:lstStyle/>
          <a:p>
            <a:endParaRPr lang="en-US"/>
          </a:p>
        </p:txBody>
      </p:sp>
      <p:pic>
        <p:nvPicPr>
          <p:cNvPr id="17" name="Image 2" descr="preencoded.png"/>
          <p:cNvPicPr>
            <a:picLocks noChangeAspect="1"/>
          </p:cNvPicPr>
          <p:nvPr/>
        </p:nvPicPr>
        <p:blipFill>
          <a:blip r:embed="rId4"/>
          <a:stretch>
            <a:fillRect/>
          </a:stretch>
        </p:blipFill>
        <p:spPr>
          <a:xfrm>
            <a:off x="7671816" y="3941064"/>
            <a:ext cx="201168" cy="201168"/>
          </a:xfrm>
          <a:prstGeom prst="rect">
            <a:avLst/>
          </a:prstGeom>
        </p:spPr>
      </p:pic>
      <p:sp>
        <p:nvSpPr>
          <p:cNvPr id="18" name="Text 13"/>
          <p:cNvSpPr/>
          <p:nvPr/>
        </p:nvSpPr>
        <p:spPr>
          <a:xfrm>
            <a:off x="8183880" y="3611880"/>
            <a:ext cx="3017520" cy="86868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Menu Preview</a:t>
            </a:r>
            <a:endParaRPr lang="en-US" sz="1400" dirty="0"/>
          </a:p>
        </p:txBody>
      </p:sp>
      <p:sp>
        <p:nvSpPr>
          <p:cNvPr id="19" name="Shape 14"/>
          <p:cNvSpPr/>
          <p:nvPr/>
        </p:nvSpPr>
        <p:spPr>
          <a:xfrm>
            <a:off x="7315200" y="4709160"/>
            <a:ext cx="4023360" cy="868680"/>
          </a:xfrm>
          <a:prstGeom prst="roundRect">
            <a:avLst>
              <a:gd name="adj" fmla="val 6316"/>
            </a:avLst>
          </a:prstGeom>
          <a:solidFill>
            <a:srgbClr val="C8A24A"/>
          </a:solidFill>
          <a:ln w="12700">
            <a:solidFill>
              <a:srgbClr val="C8A24A"/>
            </a:solidFill>
            <a:prstDash val="solid"/>
          </a:ln>
        </p:spPr>
        <p:txBody>
          <a:bodyPr/>
          <a:lstStyle/>
          <a:p>
            <a:endParaRPr lang="en-US"/>
          </a:p>
        </p:txBody>
      </p:sp>
      <p:pic>
        <p:nvPicPr>
          <p:cNvPr id="20" name="Image 3" descr="preencoded.png"/>
          <p:cNvPicPr>
            <a:picLocks noChangeAspect="1"/>
          </p:cNvPicPr>
          <p:nvPr/>
        </p:nvPicPr>
        <p:blipFill>
          <a:blip r:embed="rId5"/>
          <a:stretch>
            <a:fillRect/>
          </a:stretch>
        </p:blipFill>
        <p:spPr>
          <a:xfrm>
            <a:off x="7589520" y="4946904"/>
            <a:ext cx="384048" cy="384048"/>
          </a:xfrm>
          <a:prstGeom prst="rect">
            <a:avLst/>
          </a:prstGeom>
        </p:spPr>
      </p:pic>
      <p:sp>
        <p:nvSpPr>
          <p:cNvPr id="21" name="Text 15"/>
          <p:cNvSpPr/>
          <p:nvPr/>
        </p:nvSpPr>
        <p:spPr>
          <a:xfrm>
            <a:off x="8138160" y="4709160"/>
            <a:ext cx="3108960" cy="868680"/>
          </a:xfrm>
          <a:prstGeom prst="rect">
            <a:avLst/>
          </a:prstGeom>
          <a:noFill/>
          <a:ln/>
        </p:spPr>
        <p:txBody>
          <a:bodyPr wrap="square" lIns="0" tIns="0" rIns="0" bIns="0" rtlCol="0" anchor="ctr"/>
          <a:lstStyle/>
          <a:p>
            <a:pPr marL="0" indent="0">
              <a:buNone/>
            </a:pPr>
            <a:r>
              <a:rPr lang="en-US" sz="1400" b="1" dirty="0">
                <a:solidFill>
                  <a:srgbClr val="121316"/>
                </a:solidFill>
                <a:latin typeface="Calibri" pitchFamily="34" charset="0"/>
                <a:ea typeface="Calibri" pitchFamily="34" charset="-122"/>
                <a:cs typeface="Calibri" pitchFamily="34" charset="-120"/>
              </a:rPr>
              <a:t>Redeem Credits</a:t>
            </a:r>
            <a:endParaRPr lang="en-US" sz="1400" dirty="0"/>
          </a:p>
        </p:txBody>
      </p:sp>
      <p:sp>
        <p:nvSpPr>
          <p:cNvPr id="22" name="Text 16"/>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23" name="Text 17"/>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121316"/>
        </a:solidFill>
        <a:effectLst/>
      </p:bgPr>
    </p:bg>
    <p:spTree>
      <p:nvGrpSpPr>
        <p:cNvPr id="1" name=""/>
        <p:cNvGrpSpPr/>
        <p:nvPr/>
      </p:nvGrpSpPr>
      <p:grpSpPr>
        <a:xfrm>
          <a:off x="0" y="0"/>
          <a:ext cx="0" cy="0"/>
          <a:chOff x="0" y="0"/>
          <a:chExt cx="0" cy="0"/>
        </a:xfrm>
      </p:grpSpPr>
      <p:pic>
        <p:nvPicPr>
          <p:cNvPr id="2" name="Image 0" descr="/home/claude/deck/img/closing.jpg"/>
          <p:cNvPicPr>
            <a:picLocks noChangeAspect="1"/>
          </p:cNvPicPr>
          <p:nvPr/>
        </p:nvPicPr>
        <p:blipFill>
          <a:blip r:embed="rId3"/>
          <a:srcRect/>
          <a:stretch/>
        </p:blipFill>
        <p:spPr>
          <a:xfrm>
            <a:off x="0" y="10160"/>
            <a:ext cx="12191695" cy="6858000"/>
          </a:xfrm>
          <a:prstGeom prst="rect">
            <a:avLst/>
          </a:prstGeom>
        </p:spPr>
      </p:pic>
      <p:sp>
        <p:nvSpPr>
          <p:cNvPr id="3" name="Text 0"/>
          <p:cNvSpPr/>
          <p:nvPr/>
        </p:nvSpPr>
        <p:spPr>
          <a:xfrm>
            <a:off x="822960" y="914400"/>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PARTNERSHIP INVITATION</a:t>
            </a:r>
            <a:endParaRPr lang="en-US" sz="1150" dirty="0"/>
          </a:p>
        </p:txBody>
      </p:sp>
      <p:sp>
        <p:nvSpPr>
          <p:cNvPr id="4" name="Text 1"/>
          <p:cNvSpPr/>
          <p:nvPr/>
        </p:nvSpPr>
        <p:spPr>
          <a:xfrm>
            <a:off x="777240" y="1280160"/>
            <a:ext cx="10058400" cy="1371600"/>
          </a:xfrm>
          <a:prstGeom prst="rect">
            <a:avLst/>
          </a:prstGeom>
          <a:noFill/>
          <a:ln/>
        </p:spPr>
        <p:txBody>
          <a:bodyPr wrap="square" lIns="0" tIns="0" rIns="0" bIns="0" rtlCol="0" anchor="ctr"/>
          <a:lstStyle/>
          <a:p>
            <a:pPr marL="0" indent="0">
              <a:buNone/>
            </a:pPr>
            <a:r>
              <a:rPr lang="en-US" sz="3600" b="1" dirty="0">
                <a:solidFill>
                  <a:srgbClr val="F2EEE6"/>
                </a:solidFill>
                <a:latin typeface="Georgia" pitchFamily="34" charset="0"/>
                <a:ea typeface="Georgia" pitchFamily="34" charset="-122"/>
                <a:cs typeface="Georgia" pitchFamily="34" charset="-120"/>
              </a:rPr>
              <a:t>Let's showcase the best of</a:t>
            </a:r>
            <a:endParaRPr lang="en-US" sz="3600" dirty="0"/>
          </a:p>
          <a:p>
            <a:pPr marL="0" indent="0">
              <a:buNone/>
            </a:pPr>
            <a:r>
              <a:rPr lang="en-US" sz="3600" b="1" dirty="0">
                <a:solidFill>
                  <a:srgbClr val="F2EEE6"/>
                </a:solidFill>
                <a:latin typeface="Georgia" pitchFamily="34" charset="0"/>
                <a:ea typeface="Georgia" pitchFamily="34" charset="-122"/>
                <a:cs typeface="Georgia" pitchFamily="34" charset="-120"/>
              </a:rPr>
              <a:t>Singapore's culinary excellence</a:t>
            </a:r>
            <a:endParaRPr lang="en-US" sz="3600" dirty="0"/>
          </a:p>
        </p:txBody>
      </p:sp>
      <p:sp>
        <p:nvSpPr>
          <p:cNvPr id="5" name="Text 2"/>
          <p:cNvSpPr/>
          <p:nvPr/>
        </p:nvSpPr>
        <p:spPr>
          <a:xfrm>
            <a:off x="822960" y="2788920"/>
            <a:ext cx="7772400" cy="548640"/>
          </a:xfrm>
          <a:prstGeom prst="rect">
            <a:avLst/>
          </a:prstGeom>
          <a:noFill/>
          <a:ln/>
        </p:spPr>
        <p:txBody>
          <a:bodyPr wrap="square" lIns="0" tIns="0" rIns="0" bIns="0" rtlCol="0" anchor="ctr"/>
          <a:lstStyle/>
          <a:p>
            <a:pPr marL="0" indent="0">
              <a:buNone/>
            </a:pPr>
            <a:r>
              <a:rPr lang="en-US" sz="1600" dirty="0">
                <a:solidFill>
                  <a:srgbClr val="F2EEE6"/>
                </a:solidFill>
                <a:latin typeface="Calibri" pitchFamily="34" charset="0"/>
                <a:ea typeface="Calibri" pitchFamily="34" charset="-122"/>
                <a:cs typeface="Calibri" pitchFamily="34" charset="-120"/>
              </a:rPr>
              <a:t>We would be honoured to feature your restaurant as one of SG GO!'s curated dining partners.</a:t>
            </a:r>
            <a:endParaRPr lang="en-US" sz="1600" dirty="0"/>
          </a:p>
        </p:txBody>
      </p:sp>
      <p:sp>
        <p:nvSpPr>
          <p:cNvPr id="6" name="Text 3"/>
          <p:cNvSpPr/>
          <p:nvPr/>
        </p:nvSpPr>
        <p:spPr>
          <a:xfrm>
            <a:off x="822960" y="3429000"/>
            <a:ext cx="7315200" cy="457200"/>
          </a:xfrm>
          <a:prstGeom prst="rect">
            <a:avLst/>
          </a:prstGeom>
          <a:noFill/>
          <a:ln/>
        </p:spPr>
        <p:txBody>
          <a:bodyPr wrap="square" lIns="0" tIns="0" rIns="0" bIns="0" rtlCol="0" anchor="ctr"/>
          <a:lstStyle/>
          <a:p>
            <a:pPr marL="0" indent="0">
              <a:buNone/>
            </a:pPr>
            <a:r>
              <a:rPr lang="en-US" sz="2200" i="1" dirty="0">
                <a:solidFill>
                  <a:srgbClr val="E6CE8F"/>
                </a:solidFill>
                <a:latin typeface="Georgia" pitchFamily="34" charset="0"/>
                <a:ea typeface="Georgia" pitchFamily="34" charset="-122"/>
                <a:cs typeface="Georgia" pitchFamily="34" charset="-120"/>
              </a:rPr>
              <a:t>Taste the City. Live the Story.</a:t>
            </a:r>
            <a:endParaRPr lang="en-US" sz="2200" dirty="0"/>
          </a:p>
        </p:txBody>
      </p:sp>
      <p:sp>
        <p:nvSpPr>
          <p:cNvPr id="7" name="Shape 4"/>
          <p:cNvSpPr/>
          <p:nvPr/>
        </p:nvSpPr>
        <p:spPr>
          <a:xfrm>
            <a:off x="822960" y="4434840"/>
            <a:ext cx="5852160" cy="1600200"/>
          </a:xfrm>
          <a:prstGeom prst="rect">
            <a:avLst/>
          </a:prstGeom>
          <a:solidFill>
            <a:srgbClr val="1C1F24">
              <a:alpha val="94000"/>
            </a:srgbClr>
          </a:solidFill>
          <a:ln w="15875">
            <a:solidFill>
              <a:srgbClr val="C8A24A"/>
            </a:solidFill>
            <a:prstDash val="solid"/>
          </a:ln>
        </p:spPr>
        <p:txBody>
          <a:bodyPr/>
          <a:lstStyle/>
          <a:p>
            <a:endParaRPr lang="en-SG"/>
          </a:p>
        </p:txBody>
      </p:sp>
      <p:sp>
        <p:nvSpPr>
          <p:cNvPr id="8" name="Shape 5"/>
          <p:cNvSpPr/>
          <p:nvPr/>
        </p:nvSpPr>
        <p:spPr>
          <a:xfrm>
            <a:off x="822960" y="4434840"/>
            <a:ext cx="64008" cy="1600200"/>
          </a:xfrm>
          <a:prstGeom prst="rect">
            <a:avLst/>
          </a:prstGeom>
          <a:solidFill>
            <a:srgbClr val="C8A24A"/>
          </a:solidFill>
          <a:ln/>
        </p:spPr>
        <p:txBody>
          <a:bodyPr/>
          <a:lstStyle/>
          <a:p>
            <a:endParaRPr lang="en-SG"/>
          </a:p>
        </p:txBody>
      </p:sp>
      <p:sp>
        <p:nvSpPr>
          <p:cNvPr id="9" name="Text 6"/>
          <p:cNvSpPr/>
          <p:nvPr/>
        </p:nvSpPr>
        <p:spPr>
          <a:xfrm>
            <a:off x="1097280" y="4636008"/>
            <a:ext cx="3657600" cy="274320"/>
          </a:xfrm>
          <a:prstGeom prst="rect">
            <a:avLst/>
          </a:prstGeom>
          <a:noFill/>
          <a:ln/>
        </p:spPr>
        <p:txBody>
          <a:bodyPr wrap="square" lIns="0" tIns="0" rIns="0" bIns="0" rtlCol="0" anchor="ctr"/>
          <a:lstStyle/>
          <a:p>
            <a:pPr marL="0" indent="0">
              <a:buNone/>
            </a:pPr>
            <a:r>
              <a:rPr lang="en-US" sz="1100" b="1" kern="0" spc="200" dirty="0">
                <a:solidFill>
                  <a:srgbClr val="C8A24A"/>
                </a:solidFill>
                <a:latin typeface="Calibri" pitchFamily="34" charset="0"/>
                <a:ea typeface="Calibri" pitchFamily="34" charset="-122"/>
                <a:cs typeface="Calibri" pitchFamily="34" charset="-120"/>
              </a:rPr>
              <a:t>CONTACT</a:t>
            </a:r>
            <a:endParaRPr lang="en-US" sz="1100" dirty="0"/>
          </a:p>
        </p:txBody>
      </p:sp>
      <p:sp>
        <p:nvSpPr>
          <p:cNvPr id="10" name="Text 7"/>
          <p:cNvSpPr/>
          <p:nvPr/>
        </p:nvSpPr>
        <p:spPr>
          <a:xfrm>
            <a:off x="1097280" y="4937760"/>
            <a:ext cx="4572000" cy="411480"/>
          </a:xfrm>
          <a:prstGeom prst="rect">
            <a:avLst/>
          </a:prstGeom>
          <a:noFill/>
          <a:ln/>
        </p:spPr>
        <p:txBody>
          <a:bodyPr wrap="square" lIns="0" tIns="0" rIns="0" bIns="0" rtlCol="0" anchor="ctr"/>
          <a:lstStyle/>
          <a:p>
            <a:pPr marL="0" indent="0">
              <a:buNone/>
            </a:pPr>
            <a:r>
              <a:rPr lang="en-US" sz="2200" b="1" dirty="0">
                <a:solidFill>
                  <a:srgbClr val="F2EEE6"/>
                </a:solidFill>
                <a:latin typeface="Georgia" pitchFamily="34" charset="0"/>
                <a:ea typeface="Georgia" pitchFamily="34" charset="-122"/>
                <a:cs typeface="Georgia" pitchFamily="34" charset="-120"/>
              </a:rPr>
              <a:t>Chayada Jumrean</a:t>
            </a:r>
            <a:endParaRPr lang="en-US" sz="2200" dirty="0"/>
          </a:p>
        </p:txBody>
      </p:sp>
      <p:sp>
        <p:nvSpPr>
          <p:cNvPr id="11" name="Text 8"/>
          <p:cNvSpPr/>
          <p:nvPr/>
        </p:nvSpPr>
        <p:spPr>
          <a:xfrm>
            <a:off x="1097280" y="5367528"/>
            <a:ext cx="4572000" cy="292608"/>
          </a:xfrm>
          <a:prstGeom prst="rect">
            <a:avLst/>
          </a:prstGeom>
          <a:noFill/>
          <a:ln/>
        </p:spPr>
        <p:txBody>
          <a:bodyPr wrap="square" lIns="0" tIns="0" rIns="0" bIns="0" rtlCol="0" anchor="ctr"/>
          <a:lstStyle/>
          <a:p>
            <a:pPr marL="0" indent="0">
              <a:buNone/>
            </a:pPr>
            <a:r>
              <a:rPr lang="en-US" sz="1350" dirty="0">
                <a:solidFill>
                  <a:srgbClr val="A7A296"/>
                </a:solidFill>
                <a:latin typeface="Calibri" pitchFamily="34" charset="0"/>
                <a:ea typeface="Calibri" pitchFamily="34" charset="-122"/>
                <a:cs typeface="Calibri" pitchFamily="34" charset="-120"/>
              </a:rPr>
              <a:t>Business Development Manager</a:t>
            </a:r>
            <a:endParaRPr lang="en-US" sz="1350" dirty="0"/>
          </a:p>
        </p:txBody>
      </p:sp>
      <p:sp>
        <p:nvSpPr>
          <p:cNvPr id="12" name="Text 9"/>
          <p:cNvSpPr/>
          <p:nvPr/>
        </p:nvSpPr>
        <p:spPr>
          <a:xfrm>
            <a:off x="1097280" y="5641848"/>
            <a:ext cx="4572000" cy="292608"/>
          </a:xfrm>
          <a:prstGeom prst="rect">
            <a:avLst/>
          </a:prstGeom>
          <a:noFill/>
          <a:ln/>
        </p:spPr>
        <p:txBody>
          <a:bodyPr wrap="square" lIns="0" tIns="0" rIns="0" bIns="0" rtlCol="0" anchor="ctr"/>
          <a:lstStyle/>
          <a:p>
            <a:pPr marL="0" indent="0">
              <a:buNone/>
            </a:pPr>
            <a:r>
              <a:rPr lang="en-US" sz="1400" b="1" dirty="0">
                <a:solidFill>
                  <a:srgbClr val="E6CE8F"/>
                </a:solidFill>
                <a:latin typeface="Calibri" pitchFamily="34" charset="0"/>
                <a:ea typeface="Calibri" pitchFamily="34" charset="-122"/>
                <a:cs typeface="Calibri" pitchFamily="34" charset="-120"/>
              </a:rPr>
              <a:t>+65 9165 3089</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8086</TotalTime>
  <Words>1374</Words>
  <Application>Microsoft Macintosh PowerPoint</Application>
  <PresentationFormat>Widescreen</PresentationFormat>
  <Paragraphs>314</Paragraphs>
  <Slides>21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-webkit-standard</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 GO! Partner Presentation</dc:title>
  <dc:subject>PptxGenJS Presentation</dc:subject>
  <dc:creator>SG GO!</dc:creator>
  <cp:lastModifiedBy>chayada jumrean</cp:lastModifiedBy>
  <cp:revision>54</cp:revision>
  <dcterms:created xsi:type="dcterms:W3CDTF">2026-06-08T17:09:50Z</dcterms:created>
  <dcterms:modified xsi:type="dcterms:W3CDTF">2026-06-25T08:02:30Z</dcterms:modified>
</cp:coreProperties>
</file>