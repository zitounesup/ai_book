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400">
          <a:solidFill>
            <a:srgbClr val="FFFFFF"/>
          </a:solidFill>
          <a:latin typeface="Calibri"/>
        </a:defRPr>
      </a:lvl1pPr>
    </p:titleStyle>
    <p:bodyStyle>
      <a:lvl1pPr>
        <a:defRPr sz="1400">
          <a:solidFill>
            <a:srgbClr val="DCE7F6"/>
          </a:solidFill>
          <a:latin typeface="Calibri"/>
        </a:defRPr>
      </a:lvl1pPr>
    </p:bodyStyle>
    <p:otherStyle>
      <a:lvl1pPr>
        <a:defRPr sz="1400">
          <a:latin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E1B33"/>
              </a:gs>
              <a:gs pos="100000">
                <a:srgbClr val="1C3A66"/>
              </a:gs>
            </a:gsLst>
            <a:lin ang="2700000" scaled="1"/>
          </a:gradFill>
        </p:spPr>
        <p:txBody>
          <a:bodyPr anchor="ctr" lIns="0" tIns="0" rIns="0" bIns="0"/>
          <a:lstStyle/>
          <a:p/>
        </p:txBody>
      </p:sp>
      <p:sp>
        <p:nvSpPr>
          <p:cNvPr id="4" name="tx5"/>
          <p:cNvSpPr txBox="1"/>
          <p:nvPr/>
        </p:nvSpPr>
        <p:spPr>
          <a:xfrm>
            <a:off x="502920" y="310896"/>
            <a:ext cx="8778240" cy="502920"/>
          </a:xfrm>
          <a:prstGeom prst="rect">
            <a:avLst/>
          </a:prstGeom>
        </p:spPr>
        <p:txBody>
          <a:bodyPr wrap="square" lIns="18288" tIns="18288" rIns="54864" bIns="18288" anchor="t"/>
          <a:lstStyle/>
          <a:p>
            <a:pPr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/>
              </a:rPr>
              <a:t>SCB — Five-Year Business Plan</a:t>
            </a:r>
          </a:p>
        </p:txBody>
      </p:sp>
      <p:sp>
        <p:nvSpPr>
          <p:cNvPr id="6" name="tx7"/>
          <p:cNvSpPr txBox="1"/>
          <p:nvPr/>
        </p:nvSpPr>
        <p:spPr>
          <a:xfrm>
            <a:off x="521208" y="841248"/>
            <a:ext cx="8778240" cy="292608"/>
          </a:xfrm>
          <a:prstGeom prst="rect">
            <a:avLst/>
          </a:prstGeom>
        </p:spPr>
        <p:txBody>
          <a:bodyPr wrap="square" lIns="18288" tIns="18288" rIns="54864" bIns="18288" anchor="t"/>
          <a:lstStyle/>
          <a:p>
            <a:pPr algn="l">
              <a:buNone/>
            </a:pPr>
            <a:r>
              <a:rPr lang="en-US" sz="1250" dirty="0">
                <a:solidFill>
                  <a:srgbClr val="9DB2D2"/>
                </a:solidFill>
                <a:latin typeface="Calibri"/>
              </a:rPr>
              <a:t>A phased journey across seven strategic directions</a:t>
            </a:r>
          </a:p>
        </p:txBody>
      </p:sp>
      <p:sp>
        <p:nvSpPr>
          <p:cNvPr id="8" name="s9"/>
          <p:cNvSpPr/>
          <p:nvPr/>
        </p:nvSpPr>
        <p:spPr>
          <a:xfrm>
            <a:off x="8805672" y="402336"/>
            <a:ext cx="2880360" cy="475488"/>
          </a:xfrm>
          <a:prstGeom prst="roundRect">
            <a:avLst>
              <a:gd name="adj" fmla="val 50000"/>
            </a:avLst>
          </a:prstGeom>
          <a:solidFill>
            <a:srgbClr val="1B3358"/>
          </a:solidFill>
          <a:ln w="12700">
            <a:solidFill>
              <a:srgbClr val="33517E"/>
            </a:solidFill>
          </a:ln>
        </p:spPr>
        <p:txBody>
          <a:bodyPr anchor="ctr" lIns="0" tIns="0" rIns="0" bIns="0"/>
          <a:lstStyle/>
          <a:p>
            <a:pPr algn="ctr">
              <a:buNone/>
            </a:pPr>
            <a:r>
              <a:rPr lang="en-US" sz="1050" b="1" spc="40" dirty="0">
                <a:solidFill>
                  <a:srgbClr val="45C4D4"/>
                </a:solidFill>
                <a:latin typeface="Calibri"/>
              </a:rPr>
              <a:t>SECURE </a:t>
            </a:r>
            <a:r>
              <a:rPr lang="en-US" sz="1050" b="1" spc="40" dirty="0">
                <a:solidFill>
                  <a:srgbClr val="17A2B8"/>
                </a:solidFill>
                <a:latin typeface="Calibri"/>
              </a:rPr>
              <a:t>→ TRANSFORM </a:t>
            </a:r>
            <a:r>
              <a:rPr lang="en-US" sz="1050" b="1" spc="40" dirty="0">
                <a:solidFill>
                  <a:srgbClr val="E0A93B"/>
                </a:solidFill>
                <a:latin typeface="Calibri"/>
              </a:rPr>
              <a:t>→ SCALE</a:t>
            </a:r>
          </a:p>
        </p:txBody>
      </p:sp>
      <p:sp>
        <p:nvSpPr>
          <p:cNvPr id="10" name="tx11"/>
          <p:cNvSpPr txBox="1"/>
          <p:nvPr/>
        </p:nvSpPr>
        <p:spPr>
          <a:xfrm>
            <a:off x="502920" y="1225296"/>
            <a:ext cx="8229600" cy="237744"/>
          </a:xfrm>
          <a:prstGeom prst="rect">
            <a:avLst/>
          </a:prstGeom>
        </p:spPr>
        <p:txBody>
          <a:bodyPr wrap="square" lIns="18288" tIns="18288" rIns="54864" bIns="18288" anchor="t"/>
          <a:lstStyle/>
          <a:p>
            <a:pPr algn="l">
              <a:buNone/>
            </a:pPr>
            <a:r>
              <a:rPr lang="en-US" sz="1000" b="1" spc="200" dirty="0">
                <a:solidFill>
                  <a:srgbClr val="45C4D4"/>
                </a:solidFill>
                <a:latin typeface="Calibri"/>
              </a:rPr>
              <a:t>SEVEN STRATEGIC DIRECTIONS</a:t>
            </a:r>
          </a:p>
        </p:txBody>
      </p:sp>
      <p:sp>
        <p:nvSpPr>
          <p:cNvPr id="12" name="s13"/>
          <p:cNvSpPr/>
          <p:nvPr/>
        </p:nvSpPr>
        <p:spPr>
          <a:xfrm>
            <a:off x="502920" y="1517904"/>
            <a:ext cx="1496089" cy="512064"/>
          </a:xfrm>
          <a:prstGeom prst="roundRect">
            <a:avLst>
              <a:gd name="adj" fmla="val 16000"/>
            </a:avLst>
          </a:prstGeom>
          <a:solidFill>
            <a:srgbClr val="213A60"/>
          </a:solidFill>
          <a:ln w="12700">
            <a:solidFill>
              <a:srgbClr val="35547F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14" name="s15"/>
          <p:cNvSpPr/>
          <p:nvPr/>
        </p:nvSpPr>
        <p:spPr>
          <a:xfrm>
            <a:off x="612648" y="1728216"/>
            <a:ext cx="91440" cy="91440"/>
          </a:xfrm>
          <a:prstGeom prst="ellipse">
            <a:avLst/>
          </a:prstGeom>
          <a:solidFill>
            <a:srgbClr val="17A2B8"/>
          </a:solidFill>
        </p:spPr>
        <p:txBody>
          <a:bodyPr anchor="ctr" lIns="0" tIns="0" rIns="0" bIns="0"/>
          <a:lstStyle/>
          <a:p/>
        </p:txBody>
      </p:sp>
      <p:sp>
        <p:nvSpPr>
          <p:cNvPr id="16" name="tx17"/>
          <p:cNvSpPr txBox="1"/>
          <p:nvPr/>
        </p:nvSpPr>
        <p:spPr>
          <a:xfrm>
            <a:off x="740664" y="1517904"/>
            <a:ext cx="1203481" cy="512064"/>
          </a:xfrm>
          <a:prstGeom prst="rect">
            <a:avLst/>
          </a:prstGeom>
        </p:spPr>
        <p:txBody>
          <a:bodyPr wrap="square" lIns="0" tIns="18288" rIns="18288" bIns="18288" anchor="ctr"/>
          <a:lstStyle/>
          <a:p>
            <a:pPr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DCE7F6"/>
                </a:solidFill>
                <a:latin typeface="Calibri"/>
              </a:rPr>
              <a:t>Digital Assets</a:t>
            </a:r>
          </a:p>
        </p:txBody>
      </p:sp>
      <p:sp>
        <p:nvSpPr>
          <p:cNvPr id="18" name="s19"/>
          <p:cNvSpPr/>
          <p:nvPr/>
        </p:nvSpPr>
        <p:spPr>
          <a:xfrm>
            <a:off x="2117881" y="1517904"/>
            <a:ext cx="1496089" cy="512064"/>
          </a:xfrm>
          <a:prstGeom prst="roundRect">
            <a:avLst>
              <a:gd name="adj" fmla="val 16000"/>
            </a:avLst>
          </a:prstGeom>
          <a:solidFill>
            <a:srgbClr val="213A60"/>
          </a:solidFill>
          <a:ln w="12700">
            <a:solidFill>
              <a:srgbClr val="35547F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20" name="s21"/>
          <p:cNvSpPr/>
          <p:nvPr/>
        </p:nvSpPr>
        <p:spPr>
          <a:xfrm>
            <a:off x="2227609" y="1728216"/>
            <a:ext cx="91440" cy="91440"/>
          </a:xfrm>
          <a:prstGeom prst="ellipse">
            <a:avLst/>
          </a:prstGeom>
          <a:solidFill>
            <a:srgbClr val="17A2B8"/>
          </a:solidFill>
        </p:spPr>
        <p:txBody>
          <a:bodyPr anchor="ctr" lIns="0" tIns="0" rIns="0" bIns="0"/>
          <a:lstStyle/>
          <a:p/>
        </p:txBody>
      </p:sp>
      <p:sp>
        <p:nvSpPr>
          <p:cNvPr id="22" name="tx23"/>
          <p:cNvSpPr txBox="1"/>
          <p:nvPr/>
        </p:nvSpPr>
        <p:spPr>
          <a:xfrm>
            <a:off x="2355625" y="1517904"/>
            <a:ext cx="1203481" cy="512064"/>
          </a:xfrm>
          <a:prstGeom prst="rect">
            <a:avLst/>
          </a:prstGeom>
        </p:spPr>
        <p:txBody>
          <a:bodyPr wrap="square" lIns="0" tIns="18288" rIns="18288" bIns="18288" anchor="ctr"/>
          <a:lstStyle/>
          <a:p>
            <a:pPr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DCE7F6"/>
                </a:solidFill>
                <a:latin typeface="Calibri"/>
              </a:rPr>
              <a:t>24×7 Architecture</a:t>
            </a:r>
          </a:p>
        </p:txBody>
      </p:sp>
      <p:sp>
        <p:nvSpPr>
          <p:cNvPr id="24" name="s25"/>
          <p:cNvSpPr/>
          <p:nvPr/>
        </p:nvSpPr>
        <p:spPr>
          <a:xfrm>
            <a:off x="3732842" y="1517904"/>
            <a:ext cx="1496089" cy="512064"/>
          </a:xfrm>
          <a:prstGeom prst="roundRect">
            <a:avLst>
              <a:gd name="adj" fmla="val 16000"/>
            </a:avLst>
          </a:prstGeom>
          <a:solidFill>
            <a:srgbClr val="213A60"/>
          </a:solidFill>
          <a:ln w="12700">
            <a:solidFill>
              <a:srgbClr val="35547F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26" name="s27"/>
          <p:cNvSpPr/>
          <p:nvPr/>
        </p:nvSpPr>
        <p:spPr>
          <a:xfrm>
            <a:off x="3842570" y="1728216"/>
            <a:ext cx="91440" cy="91440"/>
          </a:xfrm>
          <a:prstGeom prst="ellipse">
            <a:avLst/>
          </a:prstGeom>
          <a:solidFill>
            <a:srgbClr val="17A2B8"/>
          </a:solidFill>
        </p:spPr>
        <p:txBody>
          <a:bodyPr anchor="ctr" lIns="0" tIns="0" rIns="0" bIns="0"/>
          <a:lstStyle/>
          <a:p/>
        </p:txBody>
      </p:sp>
      <p:sp>
        <p:nvSpPr>
          <p:cNvPr id="28" name="tx29"/>
          <p:cNvSpPr txBox="1"/>
          <p:nvPr/>
        </p:nvSpPr>
        <p:spPr>
          <a:xfrm>
            <a:off x="3970586" y="1517904"/>
            <a:ext cx="1203481" cy="512064"/>
          </a:xfrm>
          <a:prstGeom prst="rect">
            <a:avLst/>
          </a:prstGeom>
        </p:spPr>
        <p:txBody>
          <a:bodyPr wrap="square" lIns="0" tIns="18288" rIns="18288" bIns="18288" anchor="ctr"/>
          <a:lstStyle/>
          <a:p>
            <a:pPr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DCE7F6"/>
                </a:solidFill>
                <a:latin typeface="Calibri"/>
              </a:rPr>
              <a:t>Derivatives</a:t>
            </a:r>
          </a:p>
        </p:txBody>
      </p:sp>
      <p:sp>
        <p:nvSpPr>
          <p:cNvPr id="30" name="s31"/>
          <p:cNvSpPr/>
          <p:nvPr/>
        </p:nvSpPr>
        <p:spPr>
          <a:xfrm>
            <a:off x="5347803" y="1517904"/>
            <a:ext cx="1496089" cy="512064"/>
          </a:xfrm>
          <a:prstGeom prst="roundRect">
            <a:avLst>
              <a:gd name="adj" fmla="val 16000"/>
            </a:avLst>
          </a:prstGeom>
          <a:solidFill>
            <a:srgbClr val="213A60"/>
          </a:solidFill>
          <a:ln w="12700">
            <a:solidFill>
              <a:srgbClr val="35547F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32" name="s33"/>
          <p:cNvSpPr/>
          <p:nvPr/>
        </p:nvSpPr>
        <p:spPr>
          <a:xfrm>
            <a:off x="5457531" y="1728216"/>
            <a:ext cx="91440" cy="91440"/>
          </a:xfrm>
          <a:prstGeom prst="ellipse">
            <a:avLst/>
          </a:prstGeom>
          <a:solidFill>
            <a:srgbClr val="17A2B8"/>
          </a:solidFill>
        </p:spPr>
        <p:txBody>
          <a:bodyPr anchor="ctr" lIns="0" tIns="0" rIns="0" bIns="0"/>
          <a:lstStyle/>
          <a:p/>
        </p:txBody>
      </p:sp>
      <p:sp>
        <p:nvSpPr>
          <p:cNvPr id="34" name="tx35"/>
          <p:cNvSpPr txBox="1"/>
          <p:nvPr/>
        </p:nvSpPr>
        <p:spPr>
          <a:xfrm>
            <a:off x="5585547" y="1517904"/>
            <a:ext cx="1203481" cy="512064"/>
          </a:xfrm>
          <a:prstGeom prst="rect">
            <a:avLst/>
          </a:prstGeom>
        </p:spPr>
        <p:txBody>
          <a:bodyPr wrap="square" lIns="0" tIns="18288" rIns="18288" bIns="18288" anchor="ctr"/>
          <a:lstStyle/>
          <a:p>
            <a:pPr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DCE7F6"/>
                </a:solidFill>
                <a:latin typeface="Calibri"/>
              </a:rPr>
              <a:t>Securities Finance</a:t>
            </a:r>
          </a:p>
        </p:txBody>
      </p:sp>
      <p:sp>
        <p:nvSpPr>
          <p:cNvPr id="36" name="s37"/>
          <p:cNvSpPr/>
          <p:nvPr/>
        </p:nvSpPr>
        <p:spPr>
          <a:xfrm>
            <a:off x="6962764" y="1517904"/>
            <a:ext cx="1496089" cy="512064"/>
          </a:xfrm>
          <a:prstGeom prst="roundRect">
            <a:avLst>
              <a:gd name="adj" fmla="val 16000"/>
            </a:avLst>
          </a:prstGeom>
          <a:solidFill>
            <a:srgbClr val="213A60"/>
          </a:solidFill>
          <a:ln w="12700">
            <a:solidFill>
              <a:srgbClr val="35547F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38" name="s39"/>
          <p:cNvSpPr/>
          <p:nvPr/>
        </p:nvSpPr>
        <p:spPr>
          <a:xfrm>
            <a:off x="7072492" y="1728216"/>
            <a:ext cx="91440" cy="91440"/>
          </a:xfrm>
          <a:prstGeom prst="ellipse">
            <a:avLst/>
          </a:prstGeom>
          <a:solidFill>
            <a:srgbClr val="17A2B8"/>
          </a:solidFill>
        </p:spPr>
        <p:txBody>
          <a:bodyPr anchor="ctr" lIns="0" tIns="0" rIns="0" bIns="0"/>
          <a:lstStyle/>
          <a:p/>
        </p:txBody>
      </p:sp>
      <p:sp>
        <p:nvSpPr>
          <p:cNvPr id="40" name="tx41"/>
          <p:cNvSpPr txBox="1"/>
          <p:nvPr/>
        </p:nvSpPr>
        <p:spPr>
          <a:xfrm>
            <a:off x="7200508" y="1517904"/>
            <a:ext cx="1203481" cy="512064"/>
          </a:xfrm>
          <a:prstGeom prst="rect">
            <a:avLst/>
          </a:prstGeom>
        </p:spPr>
        <p:txBody>
          <a:bodyPr wrap="square" lIns="0" tIns="18288" rIns="18288" bIns="18288" anchor="ctr"/>
          <a:lstStyle/>
          <a:p>
            <a:pPr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DCE7F6"/>
                </a:solidFill>
                <a:latin typeface="Calibri"/>
              </a:rPr>
              <a:t>Wealth Mgmt</a:t>
            </a:r>
          </a:p>
        </p:txBody>
      </p:sp>
      <p:sp>
        <p:nvSpPr>
          <p:cNvPr id="42" name="s43"/>
          <p:cNvSpPr/>
          <p:nvPr/>
        </p:nvSpPr>
        <p:spPr>
          <a:xfrm>
            <a:off x="8577725" y="1517904"/>
            <a:ext cx="1496089" cy="512064"/>
          </a:xfrm>
          <a:prstGeom prst="roundRect">
            <a:avLst>
              <a:gd name="adj" fmla="val 16000"/>
            </a:avLst>
          </a:prstGeom>
          <a:solidFill>
            <a:srgbClr val="213A60"/>
          </a:solidFill>
          <a:ln w="12700">
            <a:solidFill>
              <a:srgbClr val="35547F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44" name="s45"/>
          <p:cNvSpPr/>
          <p:nvPr/>
        </p:nvSpPr>
        <p:spPr>
          <a:xfrm>
            <a:off x="8687453" y="1728216"/>
            <a:ext cx="91440" cy="91440"/>
          </a:xfrm>
          <a:prstGeom prst="ellipse">
            <a:avLst/>
          </a:prstGeom>
          <a:solidFill>
            <a:srgbClr val="17A2B8"/>
          </a:solidFill>
        </p:spPr>
        <p:txBody>
          <a:bodyPr anchor="ctr" lIns="0" tIns="0" rIns="0" bIns="0"/>
          <a:lstStyle/>
          <a:p/>
        </p:txBody>
      </p:sp>
      <p:sp>
        <p:nvSpPr>
          <p:cNvPr id="46" name="tx47"/>
          <p:cNvSpPr txBox="1"/>
          <p:nvPr/>
        </p:nvSpPr>
        <p:spPr>
          <a:xfrm>
            <a:off x="8815469" y="1517904"/>
            <a:ext cx="1203481" cy="512064"/>
          </a:xfrm>
          <a:prstGeom prst="rect">
            <a:avLst/>
          </a:prstGeom>
        </p:spPr>
        <p:txBody>
          <a:bodyPr wrap="square" lIns="0" tIns="18288" rIns="18288" bIns="18288" anchor="ctr"/>
          <a:lstStyle/>
          <a:p>
            <a:pPr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DCE7F6"/>
                </a:solidFill>
                <a:latin typeface="Calibri"/>
              </a:rPr>
              <a:t>Modernization</a:t>
            </a:r>
          </a:p>
        </p:txBody>
      </p:sp>
      <p:sp>
        <p:nvSpPr>
          <p:cNvPr id="48" name="s49"/>
          <p:cNvSpPr/>
          <p:nvPr/>
        </p:nvSpPr>
        <p:spPr>
          <a:xfrm>
            <a:off x="10192686" y="1517904"/>
            <a:ext cx="1496089" cy="512064"/>
          </a:xfrm>
          <a:prstGeom prst="roundRect">
            <a:avLst>
              <a:gd name="adj" fmla="val 16000"/>
            </a:avLst>
          </a:prstGeom>
          <a:solidFill>
            <a:srgbClr val="213A60"/>
          </a:solidFill>
          <a:ln w="12700">
            <a:solidFill>
              <a:srgbClr val="35547F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50" name="s51"/>
          <p:cNvSpPr/>
          <p:nvPr/>
        </p:nvSpPr>
        <p:spPr>
          <a:xfrm>
            <a:off x="10302414" y="1728216"/>
            <a:ext cx="91440" cy="91440"/>
          </a:xfrm>
          <a:prstGeom prst="ellipse">
            <a:avLst/>
          </a:prstGeom>
          <a:solidFill>
            <a:srgbClr val="17A2B8"/>
          </a:solidFill>
        </p:spPr>
        <p:txBody>
          <a:bodyPr anchor="ctr" lIns="0" tIns="0" rIns="0" bIns="0"/>
          <a:lstStyle/>
          <a:p/>
        </p:txBody>
      </p:sp>
      <p:sp>
        <p:nvSpPr>
          <p:cNvPr id="52" name="tx53"/>
          <p:cNvSpPr txBox="1"/>
          <p:nvPr/>
        </p:nvSpPr>
        <p:spPr>
          <a:xfrm>
            <a:off x="10430430" y="1517904"/>
            <a:ext cx="1203481" cy="512064"/>
          </a:xfrm>
          <a:prstGeom prst="rect">
            <a:avLst/>
          </a:prstGeom>
        </p:spPr>
        <p:txBody>
          <a:bodyPr wrap="square" lIns="0" tIns="18288" rIns="18288" bIns="18288" anchor="ctr"/>
          <a:lstStyle/>
          <a:p>
            <a:pPr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DCE7F6"/>
                </a:solidFill>
                <a:latin typeface="Calibri"/>
              </a:rPr>
              <a:t>Reg. Resilience</a:t>
            </a:r>
          </a:p>
        </p:txBody>
      </p:sp>
      <p:sp>
        <p:nvSpPr>
          <p:cNvPr id="54" name="s55"/>
          <p:cNvSpPr/>
          <p:nvPr/>
        </p:nvSpPr>
        <p:spPr>
          <a:xfrm rot="20050000">
            <a:off x="3753612" y="3886200"/>
            <a:ext cx="749808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7A2B8"/>
          </a:solidFill>
        </p:spPr>
        <p:txBody>
          <a:bodyPr anchor="ctr" lIns="0" tIns="0" rIns="0" bIns="0"/>
          <a:lstStyle/>
          <a:p/>
        </p:txBody>
      </p:sp>
      <p:sp>
        <p:nvSpPr>
          <p:cNvPr id="56" name="s57"/>
          <p:cNvSpPr/>
          <p:nvPr/>
        </p:nvSpPr>
        <p:spPr>
          <a:xfrm rot="20050000">
            <a:off x="7712964" y="3374136"/>
            <a:ext cx="749808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7A2B8"/>
          </a:solidFill>
        </p:spPr>
        <p:txBody>
          <a:bodyPr anchor="ctr" lIns="0" tIns="0" rIns="0" bIns="0"/>
          <a:lstStyle/>
          <a:p/>
        </p:txBody>
      </p:sp>
      <p:sp>
        <p:nvSpPr>
          <p:cNvPr id="58" name="s59"/>
          <p:cNvSpPr/>
          <p:nvPr/>
        </p:nvSpPr>
        <p:spPr>
          <a:xfrm>
            <a:off x="548640" y="3127248"/>
            <a:ext cx="3200400" cy="2487168"/>
          </a:xfrm>
          <a:prstGeom prst="roundRect">
            <a:avLst>
              <a:gd name="adj" fmla="val 7000"/>
            </a:avLst>
          </a:prstGeom>
          <a:solidFill>
            <a:srgbClr val="1B3358"/>
          </a:solidFill>
          <a:ln w="15875">
            <a:solidFill>
              <a:srgbClr val="33517E"/>
            </a:solidFill>
          </a:ln>
          <a:effectLst>
            <a:outerShdw blurRad="120000" dist="45000" dir="5400000" rotWithShape="0">
              <a:srgbClr val="000000">
                <a:alpha val="34000"/>
              </a:srgbClr>
            </a:outerShdw>
          </a:effectLst>
        </p:spPr>
        <p:txBody>
          <a:bodyPr anchor="ctr" lIns="0" tIns="0" rIns="0" bIns="0"/>
          <a:lstStyle/>
          <a:p/>
        </p:txBody>
      </p:sp>
      <p:sp>
        <p:nvSpPr>
          <p:cNvPr id="60" name="s61"/>
          <p:cNvSpPr/>
          <p:nvPr/>
        </p:nvSpPr>
        <p:spPr>
          <a:xfrm>
            <a:off x="731520" y="3310128"/>
            <a:ext cx="512064" cy="512064"/>
          </a:xfrm>
          <a:prstGeom prst="ellipse">
            <a:avLst/>
          </a:prstGeom>
          <a:solidFill>
            <a:srgbClr val="45C4D4"/>
          </a:solidFill>
        </p:spPr>
        <p:txBody>
          <a:bodyPr anchor="ctr" lIns="0" tIns="0" rIns="0" bIns="0"/>
          <a:lstStyle/>
          <a:p>
            <a:pPr algn="ctr">
              <a:buNone/>
            </a:pPr>
            <a:r>
              <a:rPr lang="en-US" sz="1500" b="1" dirty="0">
                <a:solidFill>
                  <a:srgbClr val="0E1B33"/>
                </a:solidFill>
                <a:latin typeface="Cambria"/>
              </a:rPr>
              <a:t>01</a:t>
            </a:r>
          </a:p>
        </p:txBody>
      </p:sp>
      <p:sp>
        <p:nvSpPr>
          <p:cNvPr id="62" name="tx63"/>
          <p:cNvSpPr txBox="1"/>
          <p:nvPr/>
        </p:nvSpPr>
        <p:spPr>
          <a:xfrm>
            <a:off x="1335024" y="3328416"/>
            <a:ext cx="2286000" cy="274320"/>
          </a:xfrm>
          <a:prstGeom prst="rect">
            <a:avLst/>
          </a:prstGeom>
        </p:spPr>
        <p:txBody>
          <a:bodyPr wrap="square" lIns="0" tIns="18288" rIns="54864" bIns="18288" anchor="ctr"/>
          <a:lstStyle/>
          <a:p>
            <a:pPr algn="l">
              <a:buNone/>
            </a:pPr>
            <a:r>
              <a:rPr lang="en-US" sz="1200" b="1" spc="40" dirty="0">
                <a:solidFill>
                  <a:srgbClr val="45C4D4"/>
                </a:solidFill>
                <a:latin typeface="Calibri"/>
              </a:rPr>
              <a:t>FY 2027</a:t>
            </a:r>
          </a:p>
        </p:txBody>
      </p:sp>
      <p:sp>
        <p:nvSpPr>
          <p:cNvPr id="64" name="tx65"/>
          <p:cNvSpPr txBox="1"/>
          <p:nvPr/>
        </p:nvSpPr>
        <p:spPr>
          <a:xfrm>
            <a:off x="1335024" y="3602736"/>
            <a:ext cx="2286000" cy="310896"/>
          </a:xfrm>
          <a:prstGeom prst="rect">
            <a:avLst/>
          </a:prstGeom>
        </p:spPr>
        <p:txBody>
          <a:bodyPr wrap="square" lIns="0" tIns="18288" rIns="54864" bIns="18288" anchor="ctr"/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/>
              </a:rPr>
              <a:t>Secure the base</a:t>
            </a:r>
          </a:p>
        </p:txBody>
      </p:sp>
      <p:sp>
        <p:nvSpPr>
          <p:cNvPr id="66" name="tx67"/>
          <p:cNvSpPr txBox="1"/>
          <p:nvPr/>
        </p:nvSpPr>
        <p:spPr>
          <a:xfrm>
            <a:off x="768096" y="4059936"/>
            <a:ext cx="2779776" cy="1444752"/>
          </a:xfrm>
          <a:prstGeom prst="rect">
            <a:avLst/>
          </a:prstGeom>
        </p:spPr>
        <p:txBody>
          <a:bodyPr wrap="square" lIns="0" tIns="18288" rIns="18288" bIns="18288" anchor="t"/>
          <a:lstStyle/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45C4D4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Conclude the 2.11 exit; move to rental licensing</a:t>
            </a:r>
          </a:p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45C4D4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Secure PDD direction on 24×7 architecture</a:t>
            </a:r>
          </a:p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45C4D4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Stabilize &amp; modernize Razor (heat map, CVEs)</a:t>
            </a:r>
          </a:p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45C4D4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Confirm digital-assets path; DORA / RRP resilience</a:t>
            </a:r>
          </a:p>
        </p:txBody>
      </p:sp>
      <p:sp>
        <p:nvSpPr>
          <p:cNvPr id="68" name="s69"/>
          <p:cNvSpPr/>
          <p:nvPr/>
        </p:nvSpPr>
        <p:spPr>
          <a:xfrm>
            <a:off x="4507992" y="2615184"/>
            <a:ext cx="3200400" cy="2487168"/>
          </a:xfrm>
          <a:prstGeom prst="roundRect">
            <a:avLst>
              <a:gd name="adj" fmla="val 7000"/>
            </a:avLst>
          </a:prstGeom>
          <a:solidFill>
            <a:srgbClr val="1B3358"/>
          </a:solidFill>
          <a:ln w="15875">
            <a:solidFill>
              <a:srgbClr val="33517E"/>
            </a:solidFill>
          </a:ln>
          <a:effectLst>
            <a:outerShdw blurRad="120000" dist="45000" dir="5400000" rotWithShape="0">
              <a:srgbClr val="000000">
                <a:alpha val="34000"/>
              </a:srgbClr>
            </a:outerShdw>
          </a:effectLst>
        </p:spPr>
        <p:txBody>
          <a:bodyPr anchor="ctr" lIns="0" tIns="0" rIns="0" bIns="0"/>
          <a:lstStyle/>
          <a:p/>
        </p:txBody>
      </p:sp>
      <p:sp>
        <p:nvSpPr>
          <p:cNvPr id="70" name="s71"/>
          <p:cNvSpPr/>
          <p:nvPr/>
        </p:nvSpPr>
        <p:spPr>
          <a:xfrm>
            <a:off x="4690872" y="2798064"/>
            <a:ext cx="512064" cy="512064"/>
          </a:xfrm>
          <a:prstGeom prst="ellipse">
            <a:avLst/>
          </a:prstGeom>
          <a:solidFill>
            <a:srgbClr val="17A2B8"/>
          </a:solidFill>
        </p:spPr>
        <p:txBody>
          <a:bodyPr anchor="ctr" lIns="0" tIns="0" rIns="0" bIns="0"/>
          <a:lstStyle/>
          <a:p>
            <a:pPr algn="ctr">
              <a:buNone/>
            </a:pPr>
            <a:r>
              <a:rPr lang="en-US" sz="1500" b="1" dirty="0">
                <a:solidFill>
                  <a:srgbClr val="0E1B33"/>
                </a:solidFill>
                <a:latin typeface="Cambria"/>
              </a:rPr>
              <a:t>02</a:t>
            </a:r>
          </a:p>
        </p:txBody>
      </p:sp>
      <p:sp>
        <p:nvSpPr>
          <p:cNvPr id="72" name="tx73"/>
          <p:cNvSpPr txBox="1"/>
          <p:nvPr/>
        </p:nvSpPr>
        <p:spPr>
          <a:xfrm>
            <a:off x="5294376" y="2816352"/>
            <a:ext cx="2286000" cy="274320"/>
          </a:xfrm>
          <a:prstGeom prst="rect">
            <a:avLst/>
          </a:prstGeom>
        </p:spPr>
        <p:txBody>
          <a:bodyPr wrap="square" lIns="0" tIns="18288" rIns="54864" bIns="18288" anchor="ctr"/>
          <a:lstStyle/>
          <a:p>
            <a:pPr algn="l">
              <a:buNone/>
            </a:pPr>
            <a:r>
              <a:rPr lang="en-US" sz="1200" b="1" spc="40" dirty="0">
                <a:solidFill>
                  <a:srgbClr val="17A2B8"/>
                </a:solidFill>
                <a:latin typeface="Calibri"/>
              </a:rPr>
              <a:t>FY 2028–2029</a:t>
            </a:r>
          </a:p>
        </p:txBody>
      </p:sp>
      <p:sp>
        <p:nvSpPr>
          <p:cNvPr id="74" name="tx75"/>
          <p:cNvSpPr txBox="1"/>
          <p:nvPr/>
        </p:nvSpPr>
        <p:spPr>
          <a:xfrm>
            <a:off x="5294376" y="3090672"/>
            <a:ext cx="2286000" cy="310896"/>
          </a:xfrm>
          <a:prstGeom prst="rect">
            <a:avLst/>
          </a:prstGeom>
        </p:spPr>
        <p:txBody>
          <a:bodyPr wrap="square" lIns="0" tIns="18288" rIns="54864" bIns="18288" anchor="ctr"/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/>
              </a:rPr>
              <a:t>Transform &amp; prove</a:t>
            </a:r>
          </a:p>
        </p:txBody>
      </p:sp>
      <p:sp>
        <p:nvSpPr>
          <p:cNvPr id="76" name="tx77"/>
          <p:cNvSpPr txBox="1"/>
          <p:nvPr/>
        </p:nvSpPr>
        <p:spPr>
          <a:xfrm>
            <a:off x="4727448" y="3547872"/>
            <a:ext cx="2779776" cy="1444752"/>
          </a:xfrm>
          <a:prstGeom prst="rect">
            <a:avLst/>
          </a:prstGeom>
        </p:spPr>
        <p:txBody>
          <a:bodyPr wrap="square" lIns="0" tIns="18288" rIns="18288" bIns="18288" anchor="t"/>
          <a:lstStyle/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17A2B8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Pilot 24×7, HA, MxEvolve &amp; cloud dev/test</a:t>
            </a:r>
          </a:p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17A2B8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Move digital assets toward native implementation</a:t>
            </a:r>
          </a:p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17A2B8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Securities Finance discovery &amp; pre-scoping</a:t>
            </a:r>
          </a:p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17A2B8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Prove Wealth use case; define return-to-platform</a:t>
            </a:r>
          </a:p>
        </p:txBody>
      </p:sp>
      <p:sp>
        <p:nvSpPr>
          <p:cNvPr id="78" name="s79"/>
          <p:cNvSpPr/>
          <p:nvPr/>
        </p:nvSpPr>
        <p:spPr>
          <a:xfrm>
            <a:off x="8467344" y="2103120"/>
            <a:ext cx="3200400" cy="2487168"/>
          </a:xfrm>
          <a:prstGeom prst="roundRect">
            <a:avLst>
              <a:gd name="adj" fmla="val 7000"/>
            </a:avLst>
          </a:prstGeom>
          <a:solidFill>
            <a:srgbClr val="1B3358"/>
          </a:solidFill>
          <a:ln w="15875">
            <a:solidFill>
              <a:srgbClr val="33517E"/>
            </a:solidFill>
          </a:ln>
          <a:effectLst>
            <a:outerShdw blurRad="120000" dist="45000" dir="5400000" rotWithShape="0">
              <a:srgbClr val="000000">
                <a:alpha val="34000"/>
              </a:srgbClr>
            </a:outerShdw>
          </a:effectLst>
        </p:spPr>
        <p:txBody>
          <a:bodyPr anchor="ctr" lIns="0" tIns="0" rIns="0" bIns="0"/>
          <a:lstStyle/>
          <a:p/>
        </p:txBody>
      </p:sp>
      <p:sp>
        <p:nvSpPr>
          <p:cNvPr id="80" name="s81"/>
          <p:cNvSpPr/>
          <p:nvPr/>
        </p:nvSpPr>
        <p:spPr>
          <a:xfrm>
            <a:off x="8650224" y="2286000"/>
            <a:ext cx="512064" cy="512064"/>
          </a:xfrm>
          <a:prstGeom prst="ellipse">
            <a:avLst/>
          </a:prstGeom>
          <a:solidFill>
            <a:srgbClr val="E0A93B"/>
          </a:solidFill>
        </p:spPr>
        <p:txBody>
          <a:bodyPr anchor="ctr" lIns="0" tIns="0" rIns="0" bIns="0"/>
          <a:lstStyle/>
          <a:p>
            <a:pPr algn="ctr">
              <a:buNone/>
            </a:pPr>
            <a:r>
              <a:rPr lang="en-US" sz="1500" b="1" dirty="0">
                <a:solidFill>
                  <a:srgbClr val="0E1B33"/>
                </a:solidFill>
                <a:latin typeface="Cambria"/>
              </a:rPr>
              <a:t>03</a:t>
            </a:r>
          </a:p>
        </p:txBody>
      </p:sp>
      <p:sp>
        <p:nvSpPr>
          <p:cNvPr id="82" name="tx83"/>
          <p:cNvSpPr txBox="1"/>
          <p:nvPr/>
        </p:nvSpPr>
        <p:spPr>
          <a:xfrm>
            <a:off x="9253728" y="2304288"/>
            <a:ext cx="2286000" cy="274320"/>
          </a:xfrm>
          <a:prstGeom prst="rect">
            <a:avLst/>
          </a:prstGeom>
        </p:spPr>
        <p:txBody>
          <a:bodyPr wrap="square" lIns="0" tIns="18288" rIns="54864" bIns="18288" anchor="ctr"/>
          <a:lstStyle/>
          <a:p>
            <a:pPr algn="l">
              <a:buNone/>
            </a:pPr>
            <a:r>
              <a:rPr lang="en-US" sz="1200" b="1" spc="40" dirty="0">
                <a:solidFill>
                  <a:srgbClr val="E0A93B"/>
                </a:solidFill>
                <a:latin typeface="Calibri"/>
              </a:rPr>
              <a:t>FY 2030–2031</a:t>
            </a:r>
          </a:p>
        </p:txBody>
      </p:sp>
      <p:sp>
        <p:nvSpPr>
          <p:cNvPr id="84" name="tx85"/>
          <p:cNvSpPr txBox="1"/>
          <p:nvPr/>
        </p:nvSpPr>
        <p:spPr>
          <a:xfrm>
            <a:off x="9253728" y="2578608"/>
            <a:ext cx="2286000" cy="310896"/>
          </a:xfrm>
          <a:prstGeom prst="rect">
            <a:avLst/>
          </a:prstGeom>
        </p:spPr>
        <p:txBody>
          <a:bodyPr wrap="square" lIns="0" tIns="18288" rIns="54864" bIns="18288" anchor="ctr"/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/>
              </a:rPr>
              <a:t>Scale &amp; expand</a:t>
            </a:r>
          </a:p>
        </p:txBody>
      </p:sp>
      <p:sp>
        <p:nvSpPr>
          <p:cNvPr id="86" name="tx87"/>
          <p:cNvSpPr txBox="1"/>
          <p:nvPr/>
        </p:nvSpPr>
        <p:spPr>
          <a:xfrm>
            <a:off x="8686800" y="3035808"/>
            <a:ext cx="2779776" cy="1444752"/>
          </a:xfrm>
          <a:prstGeom prst="rect">
            <a:avLst/>
          </a:prstGeom>
        </p:spPr>
        <p:txBody>
          <a:bodyPr wrap="square" lIns="0" tIns="18288" rIns="18288" bIns="18288" anchor="t"/>
          <a:lstStyle/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E0A93B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Industrialize the 24×7 operating model</a:t>
            </a:r>
          </a:p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E0A93B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Expand tokenized deposits, securities &amp; custody</a:t>
            </a:r>
          </a:p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E0A93B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Establish SecFin &amp; multi-asset collateral footprint</a:t>
            </a:r>
          </a:p>
          <a:p>
            <a:pPr marL="155000" indent="-155000" algn="l">
              <a:lnSpc>
                <a:spcPct val="100000"/>
              </a:lnSpc>
              <a:spcAft>
                <a:spcPts val="500"/>
              </a:spcAft>
              <a:buClr>
                <a:srgbClr val="E0A93B"/>
              </a:buClr>
              <a:buFont typeface="Arial"/>
              <a:buChar char="•"/>
            </a:pPr>
            <a:r>
              <a:rPr lang="en-US" sz="900" dirty="0">
                <a:solidFill>
                  <a:srgbClr val="DCE7F6"/>
                </a:solidFill>
                <a:latin typeface="Calibri"/>
              </a:rPr>
              <a:t>Advance Wealth; embed evergreen modernization</a:t>
            </a:r>
          </a:p>
        </p:txBody>
      </p:sp>
      <p:sp>
        <p:nvSpPr>
          <p:cNvPr id="88" name="s89"/>
          <p:cNvSpPr/>
          <p:nvPr/>
        </p:nvSpPr>
        <p:spPr>
          <a:xfrm>
            <a:off x="685800" y="5870448"/>
            <a:ext cx="10820095" cy="25603"/>
          </a:xfrm>
          <a:prstGeom prst="roundRect">
            <a:avLst>
              <a:gd name="adj" fmla="val 50000"/>
            </a:avLst>
          </a:prstGeom>
          <a:solidFill>
            <a:srgbClr val="33517E"/>
          </a:solidFill>
        </p:spPr>
        <p:txBody>
          <a:bodyPr anchor="ctr" lIns="0" tIns="0" rIns="0" bIns="0"/>
          <a:lstStyle/>
          <a:p/>
        </p:txBody>
      </p:sp>
      <p:sp>
        <p:nvSpPr>
          <p:cNvPr id="90" name="s91"/>
          <p:cNvSpPr/>
          <p:nvPr/>
        </p:nvSpPr>
        <p:spPr>
          <a:xfrm>
            <a:off x="790956" y="5805526"/>
            <a:ext cx="155448" cy="155448"/>
          </a:xfrm>
          <a:prstGeom prst="ellipse">
            <a:avLst/>
          </a:prstGeom>
          <a:solidFill>
            <a:srgbClr val="45C4D4"/>
          </a:solidFill>
          <a:ln w="19050">
            <a:solidFill>
              <a:srgbClr val="0E1B33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92" name="tx93"/>
          <p:cNvSpPr txBox="1"/>
          <p:nvPr/>
        </p:nvSpPr>
        <p:spPr>
          <a:xfrm>
            <a:off x="320040" y="6089904"/>
            <a:ext cx="1097280" cy="310896"/>
          </a:xfrm>
          <a:prstGeom prst="rect">
            <a:avLst/>
          </a:prstGeom>
        </p:spPr>
        <p:txBody>
          <a:bodyPr wrap="square" lIns="0" tIns="18288" rIns="54864" bIns="18288" anchor="t"/>
          <a:lstStyle/>
          <a:p>
            <a:pPr algn="ctr">
              <a:buNone/>
            </a:pPr>
            <a:r>
              <a:rPr lang="en-US" sz="1350" b="1" dirty="0">
                <a:solidFill>
                  <a:srgbClr val="45C4D4"/>
                </a:solidFill>
                <a:latin typeface="Cambria"/>
              </a:rPr>
              <a:t>2027</a:t>
            </a:r>
          </a:p>
        </p:txBody>
      </p:sp>
      <p:sp>
        <p:nvSpPr>
          <p:cNvPr id="94" name="s95"/>
          <p:cNvSpPr/>
          <p:nvPr/>
        </p:nvSpPr>
        <p:spPr>
          <a:xfrm>
            <a:off x="3404540" y="5805526"/>
            <a:ext cx="155448" cy="155448"/>
          </a:xfrm>
          <a:prstGeom prst="ellipse">
            <a:avLst/>
          </a:prstGeom>
          <a:solidFill>
            <a:srgbClr val="17A2B8"/>
          </a:solidFill>
          <a:ln w="19050">
            <a:solidFill>
              <a:srgbClr val="0E1B33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96" name="tx97"/>
          <p:cNvSpPr txBox="1"/>
          <p:nvPr/>
        </p:nvSpPr>
        <p:spPr>
          <a:xfrm>
            <a:off x="2933624" y="6089904"/>
            <a:ext cx="1097280" cy="310896"/>
          </a:xfrm>
          <a:prstGeom prst="rect">
            <a:avLst/>
          </a:prstGeom>
        </p:spPr>
        <p:txBody>
          <a:bodyPr wrap="square" lIns="0" tIns="18288" rIns="54864" bIns="18288" anchor="t"/>
          <a:lstStyle/>
          <a:p>
            <a:pPr algn="ctr">
              <a:buNone/>
            </a:pPr>
            <a:r>
              <a:rPr lang="en-US" sz="1350" b="1" dirty="0">
                <a:solidFill>
                  <a:srgbClr val="17A2B8"/>
                </a:solidFill>
                <a:latin typeface="Cambria"/>
              </a:rPr>
              <a:t>2028</a:t>
            </a:r>
          </a:p>
        </p:txBody>
      </p:sp>
      <p:sp>
        <p:nvSpPr>
          <p:cNvPr id="98" name="s99"/>
          <p:cNvSpPr/>
          <p:nvPr/>
        </p:nvSpPr>
        <p:spPr>
          <a:xfrm>
            <a:off x="6018124" y="5805526"/>
            <a:ext cx="155448" cy="155448"/>
          </a:xfrm>
          <a:prstGeom prst="ellipse">
            <a:avLst/>
          </a:prstGeom>
          <a:solidFill>
            <a:srgbClr val="17A2B8"/>
          </a:solidFill>
          <a:ln w="19050">
            <a:solidFill>
              <a:srgbClr val="0E1B33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100" name="tx101"/>
          <p:cNvSpPr txBox="1"/>
          <p:nvPr/>
        </p:nvSpPr>
        <p:spPr>
          <a:xfrm>
            <a:off x="5547208" y="6089904"/>
            <a:ext cx="1097280" cy="310896"/>
          </a:xfrm>
          <a:prstGeom prst="rect">
            <a:avLst/>
          </a:prstGeom>
        </p:spPr>
        <p:txBody>
          <a:bodyPr wrap="square" lIns="0" tIns="18288" rIns="54864" bIns="18288" anchor="t"/>
          <a:lstStyle/>
          <a:p>
            <a:pPr algn="ctr">
              <a:buNone/>
            </a:pPr>
            <a:r>
              <a:rPr lang="en-US" sz="1350" b="1" dirty="0">
                <a:solidFill>
                  <a:srgbClr val="17A2B8"/>
                </a:solidFill>
                <a:latin typeface="Cambria"/>
              </a:rPr>
              <a:t>2029</a:t>
            </a:r>
          </a:p>
        </p:txBody>
      </p:sp>
      <p:sp>
        <p:nvSpPr>
          <p:cNvPr id="102" name="s103"/>
          <p:cNvSpPr/>
          <p:nvPr/>
        </p:nvSpPr>
        <p:spPr>
          <a:xfrm>
            <a:off x="8631707" y="5805526"/>
            <a:ext cx="155448" cy="155448"/>
          </a:xfrm>
          <a:prstGeom prst="ellipse">
            <a:avLst/>
          </a:prstGeom>
          <a:solidFill>
            <a:srgbClr val="E0A93B"/>
          </a:solidFill>
          <a:ln w="19050">
            <a:solidFill>
              <a:srgbClr val="0E1B33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104" name="tx105"/>
          <p:cNvSpPr txBox="1"/>
          <p:nvPr/>
        </p:nvSpPr>
        <p:spPr>
          <a:xfrm>
            <a:off x="8160791" y="6089904"/>
            <a:ext cx="1097280" cy="310896"/>
          </a:xfrm>
          <a:prstGeom prst="rect">
            <a:avLst/>
          </a:prstGeom>
        </p:spPr>
        <p:txBody>
          <a:bodyPr wrap="square" lIns="0" tIns="18288" rIns="54864" bIns="18288" anchor="t"/>
          <a:lstStyle/>
          <a:p>
            <a:pPr algn="ctr">
              <a:buNone/>
            </a:pPr>
            <a:r>
              <a:rPr lang="en-US" sz="1350" b="1" dirty="0">
                <a:solidFill>
                  <a:srgbClr val="E0A93B"/>
                </a:solidFill>
                <a:latin typeface="Cambria"/>
              </a:rPr>
              <a:t>2030</a:t>
            </a:r>
          </a:p>
        </p:txBody>
      </p:sp>
      <p:sp>
        <p:nvSpPr>
          <p:cNvPr id="106" name="s107"/>
          <p:cNvSpPr/>
          <p:nvPr/>
        </p:nvSpPr>
        <p:spPr>
          <a:xfrm>
            <a:off x="11245291" y="5805526"/>
            <a:ext cx="155448" cy="155448"/>
          </a:xfrm>
          <a:prstGeom prst="ellipse">
            <a:avLst/>
          </a:prstGeom>
          <a:solidFill>
            <a:srgbClr val="E0A93B"/>
          </a:solidFill>
          <a:ln w="19050">
            <a:solidFill>
              <a:srgbClr val="0E1B33"/>
            </a:solidFill>
          </a:ln>
        </p:spPr>
        <p:txBody>
          <a:bodyPr anchor="ctr" lIns="0" tIns="0" rIns="0" bIns="0"/>
          <a:lstStyle/>
          <a:p/>
        </p:txBody>
      </p:sp>
      <p:sp>
        <p:nvSpPr>
          <p:cNvPr id="108" name="tx109"/>
          <p:cNvSpPr txBox="1"/>
          <p:nvPr/>
        </p:nvSpPr>
        <p:spPr>
          <a:xfrm>
            <a:off x="10774375" y="6089904"/>
            <a:ext cx="1097280" cy="310896"/>
          </a:xfrm>
          <a:prstGeom prst="rect">
            <a:avLst/>
          </a:prstGeom>
        </p:spPr>
        <p:txBody>
          <a:bodyPr wrap="square" lIns="0" tIns="18288" rIns="54864" bIns="18288" anchor="t"/>
          <a:lstStyle/>
          <a:p>
            <a:pPr algn="ctr">
              <a:buNone/>
            </a:pPr>
            <a:r>
              <a:rPr lang="en-US" sz="1350" b="1" dirty="0">
                <a:solidFill>
                  <a:srgbClr val="E0A93B"/>
                </a:solidFill>
                <a:latin typeface="Cambria"/>
              </a:rPr>
              <a:t>2031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1B33"/>
      </a:dk2>
      <a:lt2>
        <a:srgbClr val="DCE7F6"/>
      </a:lt2>
      <a:accent1>
        <a:srgbClr val="17A2B8"/>
      </a:accent1>
      <a:accent2>
        <a:srgbClr val="45C4D4"/>
      </a:accent2>
      <a:accent3>
        <a:srgbClr val="E0A93B"/>
      </a:accent3>
      <a:accent4>
        <a:srgbClr val="1B3358"/>
      </a:accent4>
      <a:accent5>
        <a:srgbClr val="9DB2D2"/>
      </a:accent5>
      <a:accent6>
        <a:srgbClr val="33517E"/>
      </a:accent6>
      <a:hlink>
        <a:srgbClr val="45C4D4"/>
      </a:hlink>
      <a:folHlink>
        <a:srgbClr val="9DB2D2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SCB Five-Year Business Plan - Roadmap Flow</dc:title>
</cp:coreProperties>
</file>