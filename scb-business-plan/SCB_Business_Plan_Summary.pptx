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1695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presProps" Target="presProp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400">
          <a:solidFill>
            <a:srgbClr val="16294B"/>
          </a:solidFill>
          <a:latin typeface="Calibri"/>
        </a:defRPr>
      </a:lvl1pPr>
    </p:titleStyle>
    <p:bodyStyle>
      <a:lvl1pPr>
        <a:defRPr sz="1400">
          <a:solidFill>
            <a:srgbClr val="24303F"/>
          </a:solidFill>
          <a:latin typeface="Calibri"/>
        </a:defRPr>
      </a:lvl1pPr>
    </p:bodyStyle>
    <p:otherStyle>
      <a:lvl1pPr>
        <a:defRPr sz="1400">
          <a:latin typeface="Calibri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4" name="tx5"/>
          <p:cNvSpPr txBox="1"/>
          <p:nvPr/>
        </p:nvSpPr>
        <p:spPr>
          <a:xfrm>
            <a:off x="411480" y="274320"/>
            <a:ext cx="11338560" cy="502920"/>
          </a:xfrm>
          <a:prstGeom prst="rect">
            <a:avLst/>
          </a:prstGeom>
        </p:spPr>
        <p:txBody>
          <a:bodyPr wrap="square" lIns="18288" tIns="27432" rIns="54864" bIns="27432" anchor="t"/>
          <a:lstStyle/>
          <a:p>
            <a:pPr algn="l">
              <a:buNone/>
            </a:pPr>
            <a:r>
              <a:rPr lang="en-US" sz="2600" b="1" dirty="0">
                <a:solidFill>
                  <a:srgbClr val="16294B"/>
                </a:solidFill>
                <a:latin typeface="Cambria"/>
              </a:rPr>
              <a:t>SCB — Five-Year Business Plan</a:t>
            </a:r>
          </a:p>
        </p:txBody>
      </p:sp>
      <p:sp>
        <p:nvSpPr>
          <p:cNvPr id="6" name="tx7"/>
          <p:cNvSpPr txBox="1"/>
          <p:nvPr/>
        </p:nvSpPr>
        <p:spPr>
          <a:xfrm>
            <a:off x="429768" y="822960"/>
            <a:ext cx="11338560" cy="310896"/>
          </a:xfrm>
          <a:prstGeom prst="rect">
            <a:avLst/>
          </a:prstGeom>
        </p:spPr>
        <p:txBody>
          <a:bodyPr wrap="square" lIns="18288" tIns="27432" rIns="54864" bIns="27432" anchor="t"/>
          <a:lstStyle/>
          <a:p>
            <a:pPr algn="l">
              <a:buNone/>
            </a:pPr>
            <a:r>
              <a:rPr lang="en-US" sz="1250" dirty="0">
                <a:solidFill>
                  <a:srgbClr val="5B6A7E"/>
                </a:solidFill>
                <a:latin typeface="Calibri"/>
              </a:rPr>
              <a:t>Seven strategic directions delivered across a phased FY2027 – FY2031 roadmap</a:t>
            </a:r>
          </a:p>
        </p:txBody>
      </p:sp>
      <p:sp>
        <p:nvSpPr>
          <p:cNvPr id="8" name="rc9"/>
          <p:cNvSpPr/>
          <p:nvPr/>
        </p:nvSpPr>
        <p:spPr>
          <a:xfrm>
            <a:off x="411480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10" name="cir11"/>
          <p:cNvSpPr/>
          <p:nvPr/>
        </p:nvSpPr>
        <p:spPr>
          <a:xfrm>
            <a:off x="539496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x13"/>
          <p:cNvSpPr txBox="1"/>
          <p:nvPr/>
        </p:nvSpPr>
        <p:spPr>
          <a:xfrm>
            <a:off x="429768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Digital Assets &amp; Crypto</a:t>
            </a:r>
          </a:p>
        </p:txBody>
      </p:sp>
      <p:sp>
        <p:nvSpPr>
          <p:cNvPr id="14" name="tx15"/>
          <p:cNvSpPr txBox="1"/>
          <p:nvPr/>
        </p:nvSpPr>
        <p:spPr>
          <a:xfrm>
            <a:off x="429768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Spot BTC/ETH &amp; crypto NDF live; custody (Anchorage, Zodia), HKDAP stablecoin. Grow into tokenized deposits, securities, treasury &amp; 24×7 custody.</a:t>
            </a:r>
          </a:p>
        </p:txBody>
      </p:sp>
      <p:sp>
        <p:nvSpPr>
          <p:cNvPr id="16" name="rc17"/>
          <p:cNvSpPr/>
          <p:nvPr/>
        </p:nvSpPr>
        <p:spPr>
          <a:xfrm>
            <a:off x="2053873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18" name="cir19"/>
          <p:cNvSpPr/>
          <p:nvPr/>
        </p:nvSpPr>
        <p:spPr>
          <a:xfrm>
            <a:off x="2181889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x21"/>
          <p:cNvSpPr txBox="1"/>
          <p:nvPr/>
        </p:nvSpPr>
        <p:spPr>
          <a:xfrm>
            <a:off x="2072161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24×7 Trading Architecture</a:t>
            </a:r>
          </a:p>
        </p:txBody>
      </p:sp>
      <p:sp>
        <p:nvSpPr>
          <p:cNvPr id="22" name="tx23"/>
          <p:cNvSpPr txBox="1"/>
          <p:nvPr/>
        </p:nvSpPr>
        <p:spPr>
          <a:xfrm>
            <a:off x="2072161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MX.3 next-gen for 24×7 &amp; real-time settlement; cloud-native dev/test, active-active HA, MxEvolve; Razor sustains higher FX volumes.</a:t>
            </a:r>
          </a:p>
        </p:txBody>
      </p:sp>
      <p:sp>
        <p:nvSpPr>
          <p:cNvPr id="24" name="rc25"/>
          <p:cNvSpPr/>
          <p:nvPr/>
        </p:nvSpPr>
        <p:spPr>
          <a:xfrm>
            <a:off x="3696266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cir27"/>
          <p:cNvSpPr/>
          <p:nvPr/>
        </p:nvSpPr>
        <p:spPr>
          <a:xfrm>
            <a:off x="3824282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x29"/>
          <p:cNvSpPr txBox="1"/>
          <p:nvPr/>
        </p:nvSpPr>
        <p:spPr>
          <a:xfrm>
            <a:off x="3714554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Derivatives Strategy</a:t>
            </a:r>
          </a:p>
        </p:txBody>
      </p:sp>
      <p:sp>
        <p:nvSpPr>
          <p:cNvPr id="30" name="tx31"/>
          <p:cNvSpPr txBox="1"/>
          <p:nvPr/>
        </p:nvSpPr>
        <p:spPr>
          <a:xfrm>
            <a:off x="3714554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Conclude 2.11 exit; amortize lost maintenance; shift to rental licensing; phased return-to-platform gated on FMRP delivery.</a:t>
            </a:r>
          </a:p>
        </p:txBody>
      </p:sp>
      <p:sp>
        <p:nvSpPr>
          <p:cNvPr id="32" name="rc33"/>
          <p:cNvSpPr/>
          <p:nvPr/>
        </p:nvSpPr>
        <p:spPr>
          <a:xfrm>
            <a:off x="5338659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34" name="cir35"/>
          <p:cNvSpPr/>
          <p:nvPr/>
        </p:nvSpPr>
        <p:spPr>
          <a:xfrm>
            <a:off x="5466675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x37"/>
          <p:cNvSpPr txBox="1"/>
          <p:nvPr/>
        </p:nvSpPr>
        <p:spPr>
          <a:xfrm>
            <a:off x="5356947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Securities Finance &amp; Repo</a:t>
            </a:r>
          </a:p>
        </p:txBody>
      </p:sp>
      <p:sp>
        <p:nvSpPr>
          <p:cNvPr id="38" name="tx39"/>
          <p:cNvSpPr txBox="1"/>
          <p:nvPr/>
        </p:nvSpPr>
        <p:spPr>
          <a:xfrm>
            <a:off x="5356947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Consolidate systems; challenge APEX / BBG / Broadridge across repo, loan trading, stock borrow-lend &amp; collateral optimization.</a:t>
            </a:r>
          </a:p>
        </p:txBody>
      </p:sp>
      <p:sp>
        <p:nvSpPr>
          <p:cNvPr id="40" name="rc41"/>
          <p:cNvSpPr/>
          <p:nvPr/>
        </p:nvSpPr>
        <p:spPr>
          <a:xfrm>
            <a:off x="6981052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42" name="cir43"/>
          <p:cNvSpPr/>
          <p:nvPr/>
        </p:nvSpPr>
        <p:spPr>
          <a:xfrm>
            <a:off x="7109068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4" name="tx45"/>
          <p:cNvSpPr txBox="1"/>
          <p:nvPr/>
        </p:nvSpPr>
        <p:spPr>
          <a:xfrm>
            <a:off x="6999340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Wealth Management</a:t>
            </a:r>
          </a:p>
        </p:txBody>
      </p:sp>
      <p:sp>
        <p:nvSpPr>
          <p:cNvPr id="46" name="tx47"/>
          <p:cNvSpPr txBox="1"/>
          <p:nvPr/>
        </p:nvSpPr>
        <p:spPr>
          <a:xfrm>
            <a:off x="6999340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Explore a differentiated MX.3 / Razor use case to challenge Temenos — a space outside the FMRP plan.</a:t>
            </a:r>
          </a:p>
        </p:txBody>
      </p:sp>
      <p:sp>
        <p:nvSpPr>
          <p:cNvPr id="48" name="rc49"/>
          <p:cNvSpPr/>
          <p:nvPr/>
        </p:nvSpPr>
        <p:spPr>
          <a:xfrm>
            <a:off x="8623445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50" name="cir51"/>
          <p:cNvSpPr/>
          <p:nvPr/>
        </p:nvSpPr>
        <p:spPr>
          <a:xfrm>
            <a:off x="8751461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2" name="tx53"/>
          <p:cNvSpPr txBox="1"/>
          <p:nvPr/>
        </p:nvSpPr>
        <p:spPr>
          <a:xfrm>
            <a:off x="8641733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Platform Modernization</a:t>
            </a:r>
          </a:p>
        </p:txBody>
      </p:sp>
      <p:sp>
        <p:nvSpPr>
          <p:cNvPr id="54" name="tx55"/>
          <p:cNvSpPr txBox="1"/>
          <p:nvPr/>
        </p:nvSpPr>
        <p:spPr>
          <a:xfrm>
            <a:off x="8641733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Keep Razor top-tier for FX: OSP heat map, more frequent patches, CI/CD alignment and an evergreen upgrade model.</a:t>
            </a:r>
          </a:p>
        </p:txBody>
      </p:sp>
      <p:sp>
        <p:nvSpPr>
          <p:cNvPr id="56" name="rc57"/>
          <p:cNvSpPr/>
          <p:nvPr/>
        </p:nvSpPr>
        <p:spPr>
          <a:xfrm>
            <a:off x="10265838" y="1325880"/>
            <a:ext cx="1514377" cy="212140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D3DCEA"/>
            </a:solidFill>
          </a:ln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58" name="cir59"/>
          <p:cNvSpPr/>
          <p:nvPr/>
        </p:nvSpPr>
        <p:spPr>
          <a:xfrm>
            <a:off x="10393854" y="1472184"/>
            <a:ext cx="402336" cy="402336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0" name="tx61"/>
          <p:cNvSpPr txBox="1"/>
          <p:nvPr/>
        </p:nvSpPr>
        <p:spPr>
          <a:xfrm>
            <a:off x="10284126" y="1929384"/>
            <a:ext cx="1477801" cy="566928"/>
          </a:xfrm>
          <a:prstGeom prst="rect">
            <a:avLst/>
          </a:prstGeom>
        </p:spPr>
        <p:txBody>
          <a:bodyPr wrap="square" lIns="100584" tIns="27432" rIns="54864" bIns="27432" anchor="t"/>
          <a:lstStyle/>
          <a:p>
            <a:pPr algn="l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6294B"/>
                </a:solidFill>
                <a:latin typeface="Calibri"/>
              </a:rPr>
              <a:t>Regulatory Resilience</a:t>
            </a:r>
          </a:p>
        </p:txBody>
      </p:sp>
      <p:sp>
        <p:nvSpPr>
          <p:cNvPr id="62" name="tx63"/>
          <p:cNvSpPr txBox="1"/>
          <p:nvPr/>
        </p:nvSpPr>
        <p:spPr>
          <a:xfrm>
            <a:off x="10284126" y="2459736"/>
            <a:ext cx="1477801" cy="932688"/>
          </a:xfrm>
          <a:prstGeom prst="rect">
            <a:avLst/>
          </a:prstGeom>
        </p:spPr>
        <p:txBody>
          <a:bodyPr wrap="square" lIns="100584" tIns="27432" rIns="73152" bIns="27432" anchor="t"/>
          <a:lstStyle/>
          <a:p>
            <a:pPr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Calibri"/>
              </a:rPr>
              <a:t>Recurring services on DORA, RRP / BRRD, operational resilience, CVE remediation and regulatory reporting.</a:t>
            </a:r>
          </a:p>
        </p:txBody>
      </p:sp>
      <p:sp>
        <p:nvSpPr>
          <p:cNvPr id="64" name="tx65"/>
          <p:cNvSpPr txBox="1"/>
          <p:nvPr/>
        </p:nvSpPr>
        <p:spPr>
          <a:xfrm>
            <a:off x="411480" y="3675888"/>
            <a:ext cx="11338560" cy="292608"/>
          </a:xfrm>
          <a:prstGeom prst="rect">
            <a:avLst/>
          </a:prstGeom>
        </p:spPr>
        <p:txBody>
          <a:bodyPr wrap="square" lIns="18288" tIns="27432" rIns="54864" bIns="27432" anchor="t"/>
          <a:lstStyle/>
          <a:p>
            <a:pPr algn="l">
              <a:buNone/>
            </a:pPr>
            <a:r>
              <a:rPr lang="en-US" sz="1250" b="1" spc="180" dirty="0">
                <a:solidFill>
                  <a:srgbClr val="127B8C"/>
                </a:solidFill>
                <a:latin typeface="Calibri"/>
              </a:rPr>
              <a:t>PHASED ROADMAP</a:t>
            </a:r>
            <a:r>
              <a:rPr lang="en-US" sz="1250" dirty="0">
                <a:solidFill>
                  <a:srgbClr val="5B6A7E"/>
                </a:solidFill>
                <a:latin typeface="Calibri"/>
              </a:rPr>
              <a:t>      FY2027  →  FY2031</a:t>
            </a:r>
          </a:p>
        </p:txBody>
      </p:sp>
      <p:sp>
        <p:nvSpPr>
          <p:cNvPr id="66" name="rc67"/>
          <p:cNvSpPr/>
          <p:nvPr/>
        </p:nvSpPr>
        <p:spPr>
          <a:xfrm>
            <a:off x="411480" y="4041648"/>
            <a:ext cx="3606698" cy="2505456"/>
          </a:xfrm>
          <a:prstGeom prst="roundRect">
            <a:avLst>
              <a:gd name="adj" fmla="val 8000"/>
            </a:avLst>
          </a:prstGeom>
          <a:solidFill>
            <a:srgbClr val="16294B"/>
          </a:solidFill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68" name="cir69"/>
          <p:cNvSpPr/>
          <p:nvPr/>
        </p:nvSpPr>
        <p:spPr>
          <a:xfrm>
            <a:off x="612648" y="4261104"/>
            <a:ext cx="146304" cy="146304"/>
          </a:xfrm>
          <a:prstGeom prst="ellipse">
            <a:avLst/>
          </a:prstGeom>
          <a:solidFill>
            <a:srgbClr val="39A7B2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900" b="1" dirty="0">
                <a:solidFill>
                  <a:srgbClr val="16294B"/>
                </a:solidFill>
                <a:latin typeface="Calibri"/>
              </a:rPr>
              <a:t/>
            </a:r>
          </a:p>
        </p:txBody>
      </p:sp>
      <p:sp>
        <p:nvSpPr>
          <p:cNvPr id="70" name="tx71"/>
          <p:cNvSpPr txBox="1"/>
          <p:nvPr/>
        </p:nvSpPr>
        <p:spPr>
          <a:xfrm>
            <a:off x="813816" y="4178808"/>
            <a:ext cx="3058058" cy="292608"/>
          </a:xfrm>
          <a:prstGeom prst="rect">
            <a:avLst/>
          </a:prstGeom>
        </p:spPr>
        <p:txBody>
          <a:bodyPr wrap="square" lIns="0" tIns="27432" rIns="54864" bIns="27432" anchor="ctr"/>
          <a:lstStyle/>
          <a:p>
            <a:pPr algn="l">
              <a:buNone/>
            </a:pPr>
            <a:r>
              <a:rPr lang="en-US" sz="1200" b="1" spc="60" dirty="0">
                <a:solidFill>
                  <a:srgbClr val="39A7B2"/>
                </a:solidFill>
                <a:latin typeface="Calibri"/>
              </a:rPr>
              <a:t>FY 2027</a:t>
            </a:r>
          </a:p>
        </p:txBody>
      </p:sp>
      <p:sp>
        <p:nvSpPr>
          <p:cNvPr id="72" name="tx73"/>
          <p:cNvSpPr txBox="1"/>
          <p:nvPr/>
        </p:nvSpPr>
        <p:spPr>
          <a:xfrm>
            <a:off x="594360" y="4498848"/>
            <a:ext cx="3240938" cy="384048"/>
          </a:xfrm>
          <a:prstGeom prst="rect">
            <a:avLst/>
          </a:prstGeom>
        </p:spPr>
        <p:txBody>
          <a:bodyPr wrap="square" lIns="0" tIns="27432" rIns="54864" bIns="27432" anchor="t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/>
              </a:rPr>
              <a:t>Secure the base</a:t>
            </a:r>
          </a:p>
        </p:txBody>
      </p:sp>
      <p:sp>
        <p:nvSpPr>
          <p:cNvPr id="74" name="tx75"/>
          <p:cNvSpPr txBox="1"/>
          <p:nvPr/>
        </p:nvSpPr>
        <p:spPr>
          <a:xfrm>
            <a:off x="612648" y="4956048"/>
            <a:ext cx="3222650" cy="1499616"/>
          </a:xfrm>
          <a:prstGeom prst="rect">
            <a:avLst/>
          </a:prstGeom>
        </p:spPr>
        <p:txBody>
          <a:bodyPr wrap="square" lIns="0" tIns="27432" rIns="18288" bIns="27432" anchor="t"/>
          <a:lstStyle/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Conclude 2.11 commercial discussions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Obtain PDD direction on 24×7 architecture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Stabilize &amp; modernize Razor (heat map, CVEs, FX volume)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Confirm digital-assets &amp; stablecoin path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Qualify Securities Finance &amp; Wealth opportunities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Launch upgrade program; DORA / RRP resilience</a:t>
            </a:r>
          </a:p>
        </p:txBody>
      </p:sp>
      <p:sp>
        <p:nvSpPr>
          <p:cNvPr id="76" name="rc77"/>
          <p:cNvSpPr/>
          <p:nvPr/>
        </p:nvSpPr>
        <p:spPr>
          <a:xfrm>
            <a:off x="4292498" y="4041648"/>
            <a:ext cx="3606698" cy="2505456"/>
          </a:xfrm>
          <a:prstGeom prst="roundRect">
            <a:avLst>
              <a:gd name="adj" fmla="val 8000"/>
            </a:avLst>
          </a:prstGeom>
          <a:solidFill>
            <a:srgbClr val="16294B"/>
          </a:solidFill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78" name="cir79"/>
          <p:cNvSpPr/>
          <p:nvPr/>
        </p:nvSpPr>
        <p:spPr>
          <a:xfrm>
            <a:off x="4493666" y="4261104"/>
            <a:ext cx="146304" cy="146304"/>
          </a:xfrm>
          <a:prstGeom prst="ellipse">
            <a:avLst/>
          </a:prstGeom>
          <a:solidFill>
            <a:srgbClr val="127B8C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900" b="1" dirty="0">
                <a:solidFill>
                  <a:srgbClr val="16294B"/>
                </a:solidFill>
                <a:latin typeface="Calibri"/>
              </a:rPr>
              <a:t/>
            </a:r>
          </a:p>
        </p:txBody>
      </p:sp>
      <p:sp>
        <p:nvSpPr>
          <p:cNvPr id="80" name="tx81"/>
          <p:cNvSpPr txBox="1"/>
          <p:nvPr/>
        </p:nvSpPr>
        <p:spPr>
          <a:xfrm>
            <a:off x="4694834" y="4178808"/>
            <a:ext cx="3058058" cy="292608"/>
          </a:xfrm>
          <a:prstGeom prst="rect">
            <a:avLst/>
          </a:prstGeom>
        </p:spPr>
        <p:txBody>
          <a:bodyPr wrap="square" lIns="0" tIns="27432" rIns="54864" bIns="27432" anchor="ctr"/>
          <a:lstStyle/>
          <a:p>
            <a:pPr algn="l">
              <a:buNone/>
            </a:pPr>
            <a:r>
              <a:rPr lang="en-US" sz="1200" b="1" spc="60" dirty="0">
                <a:solidFill>
                  <a:srgbClr val="127B8C"/>
                </a:solidFill>
                <a:latin typeface="Calibri"/>
              </a:rPr>
              <a:t>FY 2028–2029</a:t>
            </a:r>
          </a:p>
        </p:txBody>
      </p:sp>
      <p:sp>
        <p:nvSpPr>
          <p:cNvPr id="82" name="tx83"/>
          <p:cNvSpPr txBox="1"/>
          <p:nvPr/>
        </p:nvSpPr>
        <p:spPr>
          <a:xfrm>
            <a:off x="4475378" y="4498848"/>
            <a:ext cx="3240938" cy="384048"/>
          </a:xfrm>
          <a:prstGeom prst="rect">
            <a:avLst/>
          </a:prstGeom>
        </p:spPr>
        <p:txBody>
          <a:bodyPr wrap="square" lIns="0" tIns="27432" rIns="54864" bIns="27432" anchor="t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/>
              </a:rPr>
              <a:t>Transform &amp; prove</a:t>
            </a:r>
          </a:p>
        </p:txBody>
      </p:sp>
      <p:sp>
        <p:nvSpPr>
          <p:cNvPr id="84" name="tx85"/>
          <p:cNvSpPr txBox="1"/>
          <p:nvPr/>
        </p:nvSpPr>
        <p:spPr>
          <a:xfrm>
            <a:off x="4493666" y="4956048"/>
            <a:ext cx="3222650" cy="1499616"/>
          </a:xfrm>
          <a:prstGeom prst="rect">
            <a:avLst/>
          </a:prstGeom>
        </p:spPr>
        <p:txBody>
          <a:bodyPr wrap="square" lIns="0" tIns="27432" rIns="18288" bIns="27432" anchor="t"/>
          <a:lstStyle/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Pilot 24×7, HA, MxEvolve &amp; cloud dev/test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Move digital assets toward native implementation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Run Securities Finance discovery &amp; pre-scoping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Prove a differentiated Wealth use case on Razor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Define return-to-platform &amp; rental-model options</a:t>
            </a:r>
          </a:p>
        </p:txBody>
      </p:sp>
      <p:sp>
        <p:nvSpPr>
          <p:cNvPr id="86" name="rc87"/>
          <p:cNvSpPr/>
          <p:nvPr/>
        </p:nvSpPr>
        <p:spPr>
          <a:xfrm>
            <a:off x="8173517" y="4041648"/>
            <a:ext cx="3606698" cy="2505456"/>
          </a:xfrm>
          <a:prstGeom prst="roundRect">
            <a:avLst>
              <a:gd name="adj" fmla="val 8000"/>
            </a:avLst>
          </a:prstGeom>
          <a:solidFill>
            <a:srgbClr val="16294B"/>
          </a:solidFill>
          <a:effectLst>
            <a:outerShdw blurRad="90000" dist="38100" dir="5400000" rotWithShape="0">
              <a:srgbClr val="1A2233">
                <a:alpha val="26000"/>
              </a:srgbClr>
            </a:outerShdw>
          </a:effectLst>
        </p:spPr>
        <p:txBody>
          <a:bodyPr/>
          <a:lstStyle/>
          <a:p/>
        </p:txBody>
      </p:sp>
      <p:sp>
        <p:nvSpPr>
          <p:cNvPr id="88" name="cir89"/>
          <p:cNvSpPr/>
          <p:nvPr/>
        </p:nvSpPr>
        <p:spPr>
          <a:xfrm>
            <a:off x="8374685" y="4261104"/>
            <a:ext cx="146304" cy="146304"/>
          </a:xfrm>
          <a:prstGeom prst="ellipse">
            <a:avLst/>
          </a:prstGeom>
          <a:solidFill>
            <a:srgbClr val="C79236"/>
          </a:solidFill>
        </p:spPr>
        <p:txBody>
          <a:bodyPr anchor="ctr" lIns="0" tIns="0" rIns="0" bIns="0"/>
          <a:lstStyle/>
          <a:p>
            <a:pPr algn="ctr">
              <a:buNone/>
            </a:pPr>
            <a:r>
              <a:rPr lang="en-US" sz="900" b="1" dirty="0">
                <a:solidFill>
                  <a:srgbClr val="16294B"/>
                </a:solidFill>
                <a:latin typeface="Calibri"/>
              </a:rPr>
              <a:t/>
            </a:r>
          </a:p>
        </p:txBody>
      </p:sp>
      <p:sp>
        <p:nvSpPr>
          <p:cNvPr id="90" name="tx91"/>
          <p:cNvSpPr txBox="1"/>
          <p:nvPr/>
        </p:nvSpPr>
        <p:spPr>
          <a:xfrm>
            <a:off x="8575853" y="4178808"/>
            <a:ext cx="3058058" cy="292608"/>
          </a:xfrm>
          <a:prstGeom prst="rect">
            <a:avLst/>
          </a:prstGeom>
        </p:spPr>
        <p:txBody>
          <a:bodyPr wrap="square" lIns="0" tIns="27432" rIns="54864" bIns="27432" anchor="ctr"/>
          <a:lstStyle/>
          <a:p>
            <a:pPr algn="l">
              <a:buNone/>
            </a:pPr>
            <a:r>
              <a:rPr lang="en-US" sz="1200" b="1" spc="60" dirty="0">
                <a:solidFill>
                  <a:srgbClr val="C79236"/>
                </a:solidFill>
                <a:latin typeface="Calibri"/>
              </a:rPr>
              <a:t>FY 2030–2031</a:t>
            </a:r>
          </a:p>
        </p:txBody>
      </p:sp>
      <p:sp>
        <p:nvSpPr>
          <p:cNvPr id="92" name="tx93"/>
          <p:cNvSpPr txBox="1"/>
          <p:nvPr/>
        </p:nvSpPr>
        <p:spPr>
          <a:xfrm>
            <a:off x="8356397" y="4498848"/>
            <a:ext cx="3240938" cy="384048"/>
          </a:xfrm>
          <a:prstGeom prst="rect">
            <a:avLst/>
          </a:prstGeom>
        </p:spPr>
        <p:txBody>
          <a:bodyPr wrap="square" lIns="0" tIns="27432" rIns="54864" bIns="27432" anchor="t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/>
              </a:rPr>
              <a:t>Scale &amp; expand</a:t>
            </a:r>
          </a:p>
        </p:txBody>
      </p:sp>
      <p:sp>
        <p:nvSpPr>
          <p:cNvPr id="94" name="tx95"/>
          <p:cNvSpPr txBox="1"/>
          <p:nvPr/>
        </p:nvSpPr>
        <p:spPr>
          <a:xfrm>
            <a:off x="8374685" y="4956048"/>
            <a:ext cx="3222650" cy="1499616"/>
          </a:xfrm>
          <a:prstGeom prst="rect">
            <a:avLst/>
          </a:prstGeom>
        </p:spPr>
        <p:txBody>
          <a:bodyPr wrap="square" lIns="0" tIns="27432" rIns="18288" bIns="27432" anchor="t"/>
          <a:lstStyle/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Industrialize the 24×7 operating model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Expand tokenized deposits, securities, custody, treasury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Establish SecFin &amp; multi-asset collateral footprint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Progress Wealth Management platform positioning</a:t>
            </a:r>
          </a:p>
          <a:p>
            <a:pPr marL="164000" indent="-164000" algn="l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900" dirty="0">
                <a:solidFill>
                  <a:srgbClr val="DCE4F0"/>
                </a:solidFill>
                <a:latin typeface="Calibri"/>
              </a:rPr>
              <a:t>Embed evergreen modernization &amp; resilience services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6294B"/>
      </a:dk2>
      <a:lt2>
        <a:srgbClr val="EEF2F8"/>
      </a:lt2>
      <a:accent1>
        <a:srgbClr val="127B8C"/>
      </a:accent1>
      <a:accent2>
        <a:srgbClr val="39A7B2"/>
      </a:accent2>
      <a:accent3>
        <a:srgbClr val="C79236"/>
      </a:accent3>
      <a:accent4>
        <a:srgbClr val="20406F"/>
      </a:accent4>
      <a:accent5>
        <a:srgbClr val="5B6A7E"/>
      </a:accent5>
      <a:accent6>
        <a:srgbClr val="D3DCEA"/>
      </a:accent6>
      <a:hlink>
        <a:srgbClr val="127B8C"/>
      </a:hlink>
      <a:folHlink>
        <a:srgbClr val="20406F"/>
      </a:folHlink>
    </a:clrScheme>
    <a:fontScheme name="Office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SCB Five-Year Business Plan - Strategic Directions</dc:title>
</cp:coreProperties>
</file>